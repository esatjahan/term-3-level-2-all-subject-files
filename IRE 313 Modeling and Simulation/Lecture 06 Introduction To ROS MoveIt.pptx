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3"/>
    <p:sldMasterId id="2147483659" r:id="rId4"/>
    <p:sldMasterId id="2147483661" r:id="rId5"/>
    <p:sldMasterId id="2147483663" r:id="rId6"/>
    <p:sldMasterId id="2147483667" r:id="rId7"/>
    <p:sldMasterId id="2147483669" r:id="rId8"/>
    <p:sldMasterId id="2147483671" r:id="rId9"/>
    <p:sldMasterId id="2147483676" r:id="rId10"/>
    <p:sldMasterId id="2147483677" r:id="rId11"/>
    <p:sldMasterId id="2147483683" r:id="rId12"/>
    <p:sldMasterId id="2147483685" r:id="rId13"/>
  </p:sldMasterIdLst>
  <p:notesMasterIdLst>
    <p:notesMasterId r:id="rId16"/>
  </p:notesMasterIdLst>
  <p:sldIdLst>
    <p:sldId id="256" r:id="rId14"/>
    <p:sldId id="10060" r:id="rId15"/>
    <p:sldId id="12540756" r:id="rId17"/>
    <p:sldId id="12540582" r:id="rId18"/>
    <p:sldId id="12540794" r:id="rId19"/>
    <p:sldId id="12540925" r:id="rId20"/>
    <p:sldId id="12540930" r:id="rId21"/>
    <p:sldId id="12540905" r:id="rId22"/>
    <p:sldId id="12540906" r:id="rId23"/>
    <p:sldId id="12540907" r:id="rId24"/>
    <p:sldId id="12540908" r:id="rId25"/>
    <p:sldId id="12540860" r:id="rId26"/>
    <p:sldId id="12540909" r:id="rId27"/>
    <p:sldId id="12540888" r:id="rId28"/>
    <p:sldId id="12540926" r:id="rId29"/>
    <p:sldId id="12540927" r:id="rId30"/>
    <p:sldId id="12540757" r:id="rId31"/>
    <p:sldId id="12540928" r:id="rId32"/>
    <p:sldId id="12540889" r:id="rId33"/>
    <p:sldId id="12540890" r:id="rId34"/>
    <p:sldId id="12540891" r:id="rId35"/>
    <p:sldId id="12540892" r:id="rId36"/>
    <p:sldId id="12540893" r:id="rId37"/>
    <p:sldId id="12540894" r:id="rId38"/>
    <p:sldId id="12540594" r:id="rId39"/>
    <p:sldId id="12540858" r:id="rId40"/>
    <p:sldId id="12540758" r:id="rId41"/>
    <p:sldId id="12540895" r:id="rId42"/>
    <p:sldId id="12540896" r:id="rId43"/>
    <p:sldId id="12540897" r:id="rId44"/>
    <p:sldId id="12540898" r:id="rId45"/>
    <p:sldId id="12540899" r:id="rId46"/>
    <p:sldId id="12540861" r:id="rId47"/>
    <p:sldId id="12540932" r:id="rId48"/>
    <p:sldId id="12540933" r:id="rId49"/>
    <p:sldId id="12540934" r:id="rId50"/>
    <p:sldId id="12540931" r:id="rId51"/>
    <p:sldId id="12540929" r:id="rId52"/>
    <p:sldId id="12540862" r:id="rId53"/>
    <p:sldId id="12540863" r:id="rId54"/>
    <p:sldId id="12540900" r:id="rId55"/>
    <p:sldId id="12540901" r:id="rId56"/>
    <p:sldId id="12540902" r:id="rId57"/>
    <p:sldId id="12540864" r:id="rId58"/>
    <p:sldId id="12540903" r:id="rId59"/>
    <p:sldId id="12540755" r:id="rId60"/>
    <p:sldId id="12540904" r:id="rId61"/>
    <p:sldId id="12540759" r:id="rId62"/>
    <p:sldId id="12540910" r:id="rId63"/>
    <p:sldId id="12540911" r:id="rId64"/>
    <p:sldId id="12540912" r:id="rId65"/>
    <p:sldId id="12540913" r:id="rId66"/>
    <p:sldId id="12540914" r:id="rId67"/>
    <p:sldId id="12540915" r:id="rId68"/>
    <p:sldId id="12540916" r:id="rId69"/>
    <p:sldId id="12540917" r:id="rId70"/>
    <p:sldId id="12540918" r:id="rId71"/>
    <p:sldId id="12540919" r:id="rId72"/>
    <p:sldId id="12540920" r:id="rId73"/>
    <p:sldId id="12540921" r:id="rId74"/>
    <p:sldId id="12540922" r:id="rId75"/>
    <p:sldId id="12540923" r:id="rId76"/>
    <p:sldId id="12540924" r:id="rId77"/>
    <p:sldId id="1743" r:id="rId78"/>
    <p:sldId id="272" r:id="rId79"/>
  </p:sldIdLst>
  <p:sldSz cx="12192000" cy="6858000"/>
  <p:notesSz cx="6858000" cy="20288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F4F631-6D1D-4531-A072-AFF164A6F012}">
          <p14:sldIdLst>
            <p14:sldId id="256"/>
            <p14:sldId id="10060"/>
            <p14:sldId id="12540756"/>
            <p14:sldId id="12540582"/>
            <p14:sldId id="12540794"/>
            <p14:sldId id="12540925"/>
            <p14:sldId id="12540930"/>
            <p14:sldId id="12540905"/>
            <p14:sldId id="12540906"/>
            <p14:sldId id="12540907"/>
            <p14:sldId id="12540908"/>
            <p14:sldId id="12540860"/>
            <p14:sldId id="12540909"/>
            <p14:sldId id="12540888"/>
            <p14:sldId id="12540926"/>
            <p14:sldId id="12540927"/>
            <p14:sldId id="12540757"/>
            <p14:sldId id="12540928"/>
            <p14:sldId id="12540889"/>
            <p14:sldId id="12540890"/>
            <p14:sldId id="12540891"/>
            <p14:sldId id="12540892"/>
            <p14:sldId id="12540893"/>
            <p14:sldId id="12540894"/>
            <p14:sldId id="12540594"/>
            <p14:sldId id="12540858"/>
            <p14:sldId id="12540758"/>
            <p14:sldId id="12540895"/>
            <p14:sldId id="12540896"/>
            <p14:sldId id="12540897"/>
            <p14:sldId id="12540898"/>
            <p14:sldId id="12540899"/>
            <p14:sldId id="12540861"/>
            <p14:sldId id="12540932"/>
            <p14:sldId id="12540933"/>
            <p14:sldId id="12540934"/>
            <p14:sldId id="12540931"/>
            <p14:sldId id="12540929"/>
            <p14:sldId id="12540862"/>
            <p14:sldId id="12540863"/>
            <p14:sldId id="12540900"/>
            <p14:sldId id="12540901"/>
            <p14:sldId id="12540902"/>
            <p14:sldId id="12540864"/>
            <p14:sldId id="12540903"/>
            <p14:sldId id="12540755"/>
            <p14:sldId id="12540904"/>
            <p14:sldId id="12540759"/>
            <p14:sldId id="12540910"/>
            <p14:sldId id="12540911"/>
            <p14:sldId id="12540912"/>
            <p14:sldId id="12540913"/>
            <p14:sldId id="12540914"/>
            <p14:sldId id="12540915"/>
            <p14:sldId id="12540916"/>
            <p14:sldId id="12540917"/>
            <p14:sldId id="12540918"/>
            <p14:sldId id="12540919"/>
            <p14:sldId id="12540920"/>
            <p14:sldId id="12540921"/>
            <p14:sldId id="12540922"/>
            <p14:sldId id="12540923"/>
            <p14:sldId id="12540924"/>
            <p14:sldId id="1743"/>
            <p14:sldId id="272"/>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101E15-A0E8-0839-CF7F-F3DDA90D8C55}" name="Daniel Yu" initials="DY" userId="S::danyu@microsoft.com::70713aae-e0c9-4fb9-a921-35886e61657a" providerId="AD"/>
  <p188:author id="{7FE73871-2BF5-4BE5-1D8D-D627EB8623EE}" name="Priyanka Langade" initials="PL" userId="S::prlangad@microsoft.com::d328fd0b-45fd-4b02-aa85-16714cd493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3FF"/>
    <a:srgbClr val="FF3399"/>
    <a:srgbClr val="E9FAFF"/>
    <a:srgbClr val="303030"/>
    <a:srgbClr val="F3F3F3"/>
    <a:srgbClr val="F5F5F5"/>
    <a:srgbClr val="F8F8F8"/>
    <a:srgbClr val="FFFFFF"/>
    <a:srgbClr val="78909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98" autoAdjust="0"/>
    <p:restoredTop sz="96076" autoAdjust="0"/>
  </p:normalViewPr>
  <p:slideViewPr>
    <p:cSldViewPr snapToGrid="0">
      <p:cViewPr varScale="1">
        <p:scale>
          <a:sx n="115" d="100"/>
          <a:sy n="115" d="100"/>
        </p:scale>
        <p:origin x="272" y="184"/>
      </p:cViewPr>
      <p:guideLst/>
    </p:cSldViewPr>
  </p:slideViewPr>
  <p:outlineViewPr>
    <p:cViewPr>
      <p:scale>
        <a:sx n="33" d="100"/>
        <a:sy n="33" d="100"/>
      </p:scale>
      <p:origin x="0" y="0"/>
    </p:cViewPr>
  </p:outlineViewPr>
  <p:notesTextViewPr>
    <p:cViewPr>
      <p:scale>
        <a:sx n="1" d="1"/>
        <a:sy n="1" d="1"/>
      </p:scale>
      <p:origin x="0" y="-96"/>
    </p:cViewPr>
  </p:notesTextViewPr>
  <p:sorterViewPr>
    <p:cViewPr>
      <p:scale>
        <a:sx n="150" d="100"/>
        <a:sy n="15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9" Type="http://schemas.openxmlformats.org/officeDocument/2006/relationships/customXml" Target="../customXml/item6.xml"/><Relationship Id="rId88" Type="http://schemas.openxmlformats.org/officeDocument/2006/relationships/customXml" Target="../customXml/item5.xml"/><Relationship Id="rId87" Type="http://schemas.openxmlformats.org/officeDocument/2006/relationships/customXml" Target="../customXml/item4.xml"/><Relationship Id="rId86" Type="http://schemas.openxmlformats.org/officeDocument/2006/relationships/customXml" Target="../customXml/item3.xml"/><Relationship Id="rId85" Type="http://schemas.openxmlformats.org/officeDocument/2006/relationships/customXml" Target="../customXml/item2.xml"/><Relationship Id="rId84" Type="http://schemas.openxmlformats.org/officeDocument/2006/relationships/customXml" Target="../customXml/item1.xml"/><Relationship Id="rId83" Type="http://schemas.microsoft.com/office/2018/10/relationships/authors" Target="authors.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Master" Target="slideMasters/slideMaster7.xml"/><Relationship Id="rId79" Type="http://schemas.openxmlformats.org/officeDocument/2006/relationships/slide" Target="slides/slide65.xml"/><Relationship Id="rId78" Type="http://schemas.openxmlformats.org/officeDocument/2006/relationships/slide" Target="slides/slide64.xml"/><Relationship Id="rId77" Type="http://schemas.openxmlformats.org/officeDocument/2006/relationships/slide" Target="slides/slide63.xml"/><Relationship Id="rId76" Type="http://schemas.openxmlformats.org/officeDocument/2006/relationships/slide" Target="slides/slide62.xml"/><Relationship Id="rId75" Type="http://schemas.openxmlformats.org/officeDocument/2006/relationships/slide" Target="slides/slide61.xml"/><Relationship Id="rId74" Type="http://schemas.openxmlformats.org/officeDocument/2006/relationships/slide" Target="slides/slide60.xml"/><Relationship Id="rId73" Type="http://schemas.openxmlformats.org/officeDocument/2006/relationships/slide" Target="slides/slide59.xml"/><Relationship Id="rId72" Type="http://schemas.openxmlformats.org/officeDocument/2006/relationships/slide" Target="slides/slide58.xml"/><Relationship Id="rId71" Type="http://schemas.openxmlformats.org/officeDocument/2006/relationships/slide" Target="slides/slide57.xml"/><Relationship Id="rId70" Type="http://schemas.openxmlformats.org/officeDocument/2006/relationships/slide" Target="slides/slide56.xml"/><Relationship Id="rId7" Type="http://schemas.openxmlformats.org/officeDocument/2006/relationships/slideMaster" Target="slideMasters/slideMaster6.xml"/><Relationship Id="rId69" Type="http://schemas.openxmlformats.org/officeDocument/2006/relationships/slide" Target="slides/slide55.xml"/><Relationship Id="rId68" Type="http://schemas.openxmlformats.org/officeDocument/2006/relationships/slide" Target="slides/slide54.xml"/><Relationship Id="rId67" Type="http://schemas.openxmlformats.org/officeDocument/2006/relationships/slide" Target="slides/slide53.xml"/><Relationship Id="rId66" Type="http://schemas.openxmlformats.org/officeDocument/2006/relationships/slide" Target="slides/slide52.xml"/><Relationship Id="rId65" Type="http://schemas.openxmlformats.org/officeDocument/2006/relationships/slide" Target="slides/slide51.xml"/><Relationship Id="rId64" Type="http://schemas.openxmlformats.org/officeDocument/2006/relationships/slide" Target="slides/slide50.xml"/><Relationship Id="rId63" Type="http://schemas.openxmlformats.org/officeDocument/2006/relationships/slide" Target="slides/slide49.xml"/><Relationship Id="rId62" Type="http://schemas.openxmlformats.org/officeDocument/2006/relationships/slide" Target="slides/slide48.xml"/><Relationship Id="rId61" Type="http://schemas.openxmlformats.org/officeDocument/2006/relationships/slide" Target="slides/slide47.xml"/><Relationship Id="rId60" Type="http://schemas.openxmlformats.org/officeDocument/2006/relationships/slide" Target="slides/slide46.xml"/><Relationship Id="rId6" Type="http://schemas.openxmlformats.org/officeDocument/2006/relationships/slideMaster" Target="slideMasters/slideMaster5.xml"/><Relationship Id="rId59" Type="http://schemas.openxmlformats.org/officeDocument/2006/relationships/slide" Target="slides/slide45.xml"/><Relationship Id="rId58" Type="http://schemas.openxmlformats.org/officeDocument/2006/relationships/slide" Target="slides/slide44.xml"/><Relationship Id="rId57" Type="http://schemas.openxmlformats.org/officeDocument/2006/relationships/slide" Target="slides/slide43.xml"/><Relationship Id="rId56" Type="http://schemas.openxmlformats.org/officeDocument/2006/relationships/slide" Target="slides/slide42.xml"/><Relationship Id="rId55" Type="http://schemas.openxmlformats.org/officeDocument/2006/relationships/slide" Target="slides/slide41.xml"/><Relationship Id="rId54" Type="http://schemas.openxmlformats.org/officeDocument/2006/relationships/slide" Target="slides/slide40.xml"/><Relationship Id="rId53" Type="http://schemas.openxmlformats.org/officeDocument/2006/relationships/slide" Target="slides/slide39.xml"/><Relationship Id="rId52" Type="http://schemas.openxmlformats.org/officeDocument/2006/relationships/slide" Target="slides/slide38.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notesMaster" Target="notesMasters/notesMaster1.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5E0459-DD41-411E-A6E5-13FFBC9A1DD0}"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65352-95B5-4433-84FB-24BF035F4B4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5" Type="http://schemas.openxmlformats.org/officeDocument/2006/relationships/hyperlink" Target="https://arxiv.org/html/2502.04873v1" TargetMode="External"/><Relationship Id="rId4" Type="http://schemas.openxmlformats.org/officeDocument/2006/relationships/hyperlink" Target="https://ieeexplore.ieee.org/abstract/document/9010919/" TargetMode="External"/><Relationship Id="rId3" Type="http://schemas.openxmlformats.org/officeDocument/2006/relationships/hyperlink" Target="https://graspgen.github.io/" TargetMode="External"/><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BSD license is </a:t>
            </a:r>
            <a:r>
              <a:rPr lang="en-US" dirty="0"/>
              <a:t>a family of permissive free software licenses that place very few limits on how people can use, change, and share code</a:t>
            </a:r>
            <a:r>
              <a:rPr lang="en-US" sz="1200" b="0" i="0" u="none" strike="noStrike" kern="1200" dirty="0">
                <a:solidFill>
                  <a:schemeClr val="tx1"/>
                </a:solidFill>
                <a:effectLst/>
                <a:latin typeface="+mn-lt"/>
                <a:ea typeface="+mn-ea"/>
                <a:cs typeface="+mn-cs"/>
              </a:rPr>
              <a:t>. The main rules are that you must keep the copyright notice, the list of conditions, and the disclaimer of duty</a:t>
            </a:r>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Grasp generation is the computational process of calculating stable 3-dimensional positions and orientations (poses) for a robot hand or gripper to securely hold an object. Key methodologies include </a:t>
            </a:r>
            <a:r>
              <a:rPr lang="en-US" sz="1200" b="0" i="0" u="none" strike="noStrike" kern="1200" dirty="0">
                <a:solidFill>
                  <a:schemeClr val="tx1"/>
                </a:solidFill>
                <a:effectLst/>
                <a:latin typeface="+mn-lt"/>
                <a:ea typeface="+mn-ea"/>
                <a:cs typeface="+mn-cs"/>
                <a:hlinkClick r:id="rId3"/>
              </a:rPr>
              <a:t>Diffusion Models</a:t>
            </a:r>
            <a:r>
              <a:rPr lang="en-US" sz="1200" b="0" i="0" u="none" strike="noStrike"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Variational Autoencoders</a:t>
            </a:r>
            <a:r>
              <a:rPr lang="en-US" sz="1200" b="0" i="0" u="none" strike="noStrike"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5"/>
              </a:rPr>
              <a:t>Vision-Language </a:t>
            </a:r>
            <a:r>
              <a:rPr lang="en-US" sz="1200" b="0" i="0" u="none" strike="noStrike" kern="1200">
                <a:solidFill>
                  <a:schemeClr val="tx1"/>
                </a:solidFill>
                <a:effectLst/>
                <a:latin typeface="+mn-lt"/>
                <a:ea typeface="+mn-ea"/>
                <a:cs typeface="+mn-cs"/>
                <a:hlinkClick r:id="rId5"/>
              </a:rPr>
              <a:t>Models</a:t>
            </a:r>
            <a:r>
              <a:rPr lang="en-US" sz="1200" b="0" i="0" u="none" strike="noStrike" kern="1200">
                <a:solidFill>
                  <a:schemeClr val="tx1"/>
                </a:solidFill>
                <a:effectLst/>
                <a:latin typeface="+mn-lt"/>
                <a:ea typeface="+mn-ea"/>
                <a:cs typeface="+mn-cs"/>
              </a:rPr>
              <a:t>.</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err="1">
                <a:solidFill>
                  <a:schemeClr val="tx1"/>
                </a:solidFill>
                <a:effectLst/>
                <a:latin typeface="+mn-lt"/>
                <a:ea typeface="+mn-ea"/>
                <a:cs typeface="+mn-cs"/>
              </a:rPr>
              <a:t>OctoMap</a:t>
            </a:r>
            <a:r>
              <a:rPr lang="en-US" sz="1200" b="0" i="0" u="none" strike="noStrike" kern="1200" dirty="0">
                <a:solidFill>
                  <a:schemeClr val="tx1"/>
                </a:solidFill>
                <a:effectLst/>
                <a:latin typeface="+mn-lt"/>
                <a:ea typeface="+mn-ea"/>
                <a:cs typeface="+mn-cs"/>
              </a:rPr>
              <a:t> is </a:t>
            </a:r>
            <a:r>
              <a:rPr lang="en-US" dirty="0"/>
              <a:t>an efficient 3D occupancy grid mapping framework based on octrees</a:t>
            </a:r>
            <a:r>
              <a:rPr lang="en-US" sz="1200" b="0" i="0" u="none" strike="noStrike" kern="1200" dirty="0">
                <a:solidFill>
                  <a:schemeClr val="tx1"/>
                </a:solidFill>
                <a:effectLst/>
                <a:latin typeface="+mn-lt"/>
                <a:ea typeface="+mn-ea"/>
                <a:cs typeface="+mn-cs"/>
              </a:rPr>
              <a:t>, featuring a full 3D model, continuous probabilistic updates, and compact memory usage. It is widely used in mobile robotics and drone navigation to track occupied, free, and unknown areas.</a:t>
            </a:r>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05510" rtl="0" eaLnBrk="1" fontAlgn="auto" latinLnBrk="0" hangingPunct="1">
              <a:lnSpc>
                <a:spcPct val="100000"/>
              </a:lnSpc>
              <a:spcBef>
                <a:spcPts val="0"/>
              </a:spcBef>
              <a:spcAft>
                <a:spcPts val="0"/>
              </a:spcAft>
              <a:buClrTx/>
              <a:buSzTx/>
              <a:buFontTx/>
              <a:buNone/>
              <a:defRPr/>
            </a:pPr>
            <a:fld id="{DDD65AC4-17B0-4E19-8496-B264E70A18D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0.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Presentation title slide blue">
    <p:bg>
      <p:bgPr>
        <a:solidFill>
          <a:schemeClr val="tx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34805" y="2540313"/>
            <a:ext cx="9401560" cy="1793104"/>
          </a:xfrm>
          <a:noFill/>
        </p:spPr>
        <p:txBody>
          <a:bodyPr lIns="0" tIns="0" rIns="0" bIns="182880" anchor="b" anchorCtr="0"/>
          <a:lstStyle>
            <a:lvl1pPr>
              <a:defRPr sz="5400" strike="noStrike" spc="-147" baseline="0">
                <a:solidFill>
                  <a:schemeClr val="bg2"/>
                </a:solidFill>
                <a:latin typeface="+mj-lt"/>
              </a:defRPr>
            </a:lvl1pPr>
          </a:lstStyle>
          <a:p>
            <a:r>
              <a:rPr lang="en-US"/>
              <a:t>Azure presentation</a:t>
            </a:r>
            <a:br>
              <a:rPr lang="en-US"/>
            </a:br>
            <a:r>
              <a:rPr lang="en-US"/>
              <a:t>title or event name</a:t>
            </a:r>
            <a:endParaRPr lang="en-US"/>
          </a:p>
        </p:txBody>
      </p:sp>
      <p:sp>
        <p:nvSpPr>
          <p:cNvPr id="6" name="Text Placeholder 4"/>
          <p:cNvSpPr>
            <a:spLocks noGrp="1"/>
          </p:cNvSpPr>
          <p:nvPr>
            <p:ph type="body" sz="quarter" idx="12" hasCustomPrompt="1"/>
          </p:nvPr>
        </p:nvSpPr>
        <p:spPr>
          <a:xfrm>
            <a:off x="434805" y="4342825"/>
            <a:ext cx="9401560" cy="945435"/>
          </a:xfrm>
          <a:noFill/>
        </p:spPr>
        <p:txBody>
          <a:bodyPr lIns="0" tIns="0" rIns="0" bIns="0">
            <a:noAutofit/>
          </a:bodyPr>
          <a:lstStyle>
            <a:lvl1pPr marL="0" indent="0">
              <a:lnSpc>
                <a:spcPct val="100000"/>
              </a:lnSpc>
              <a:spcBef>
                <a:spcPts val="0"/>
              </a:spcBef>
              <a:spcAft>
                <a:spcPts val="0"/>
              </a:spcAft>
              <a:buNone/>
              <a:defRPr sz="1765" spc="0" baseline="0">
                <a:solidFill>
                  <a:schemeClr val="bg2"/>
                </a:solidFill>
                <a:latin typeface="+mn-lt"/>
              </a:defRPr>
            </a:lvl1pPr>
          </a:lstStyle>
          <a:p>
            <a:pPr lvl="0"/>
            <a:r>
              <a:rPr lang="en-US"/>
              <a:t>Author name</a:t>
            </a:r>
            <a:endParaRPr lang="en-US"/>
          </a:p>
          <a:p>
            <a:pPr lvl="0"/>
            <a:r>
              <a:rPr lang="en-US"/>
              <a:t>Date</a:t>
            </a:r>
            <a:endParaRPr lang="en-US"/>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1" r="37064"/>
          <a:stretch>
            <a:fillRect/>
          </a:stretch>
        </p:blipFill>
        <p:spPr>
          <a:xfrm>
            <a:off x="70310" y="1"/>
            <a:ext cx="2059942" cy="1082742"/>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p:cNvSpPr>
            <a:spLocks noGrp="1"/>
          </p:cNvSpPr>
          <p:nvPr>
            <p:ph type="body" sz="quarter" idx="10" hasCustomPrompt="1"/>
          </p:nvPr>
        </p:nvSpPr>
        <p:spPr>
          <a:xfrm>
            <a:off x="426424" y="1120573"/>
            <a:ext cx="11339774" cy="947824"/>
          </a:xfrm>
        </p:spPr>
        <p:txBody>
          <a:bodyPr wrap="square" lIns="0" tIns="0" rIns="0" bIns="0">
            <a:spAutoFit/>
          </a:bodyPr>
          <a:lstStyle>
            <a:lvl1pPr marL="0" marR="0" indent="0" algn="l" defTabSz="914400" rtl="0" eaLnBrk="1" fontAlgn="auto" latinLnBrk="0" hangingPunct="1">
              <a:lnSpc>
                <a:spcPct val="110000"/>
              </a:lnSpc>
              <a:spcBef>
                <a:spcPts val="0"/>
              </a:spcBef>
              <a:spcAft>
                <a:spcPts val="600"/>
              </a:spcAft>
              <a:buClrTx/>
              <a:buSzPct val="90000"/>
              <a:buFont typeface="Wingdings" panose="05000000000000000000" pitchFamily="2" charset="2"/>
              <a:buNone/>
              <a:defRPr lang="en-US" sz="1800" b="0" i="0" kern="1200" spc="0" baseline="0" dirty="0">
                <a:solidFill>
                  <a:srgbClr val="000000"/>
                </a:solidFill>
                <a:latin typeface="+mj-lt"/>
                <a:ea typeface="+mn-ea"/>
                <a:cs typeface="+mn-cs"/>
              </a:defRPr>
            </a:lvl1pPr>
            <a:lvl2pPr marL="0" indent="0">
              <a:lnSpc>
                <a:spcPct val="110000"/>
              </a:lnSpc>
              <a:spcBef>
                <a:spcPts val="0"/>
              </a:spcBef>
              <a:spcAft>
                <a:spcPts val="600"/>
              </a:spcAft>
              <a:buNone/>
              <a:defRPr sz="1600">
                <a:solidFill>
                  <a:srgbClr val="000000"/>
                </a:solidFill>
              </a:defRPr>
            </a:lvl2pPr>
            <a:lvl3pPr marL="0" indent="0">
              <a:lnSpc>
                <a:spcPct val="110000"/>
              </a:lnSpc>
              <a:spcBef>
                <a:spcPts val="0"/>
              </a:spcBef>
              <a:spcAft>
                <a:spcPts val="600"/>
              </a:spcAft>
              <a:buNone/>
              <a:defRPr sz="1400">
                <a:solidFill>
                  <a:srgbClr val="000000"/>
                </a:solidFill>
                <a:latin typeface="+mn-lt"/>
              </a:defRPr>
            </a:lvl3pPr>
            <a:lvl4pPr marL="672465" indent="0">
              <a:spcBef>
                <a:spcPts val="0"/>
              </a:spcBef>
              <a:spcAft>
                <a:spcPts val="1275"/>
              </a:spcAft>
              <a:buNone/>
              <a:defRPr sz="1960"/>
            </a:lvl4pPr>
            <a:lvl5pPr marL="895985" indent="0">
              <a:buNone/>
              <a:defRPr/>
            </a:lvl5pPr>
          </a:lstStyle>
          <a:p>
            <a:pPr lvl="0"/>
            <a:r>
              <a:rPr lang="en-US"/>
              <a:t>First level Segoe UI </a:t>
            </a:r>
            <a:r>
              <a:rPr lang="en-US" err="1"/>
              <a:t>Semibold</a:t>
            </a:r>
            <a:r>
              <a:rPr lang="en-US"/>
              <a:t> 18pt</a:t>
            </a:r>
            <a:endParaRPr lang="en-US"/>
          </a:p>
          <a:p>
            <a:pPr lvl="1"/>
            <a:r>
              <a:rPr lang="en-US"/>
              <a:t>Second level Segoe UI 16pt</a:t>
            </a:r>
            <a:endParaRPr lang="en-US"/>
          </a:p>
          <a:p>
            <a:pPr lvl="2"/>
            <a:r>
              <a:rPr lang="en-US"/>
              <a:t>Third level Segoe UI 14pt</a:t>
            </a:r>
            <a:endParaRPr lang="en-US"/>
          </a:p>
        </p:txBody>
      </p:sp>
      <p:sp>
        <p:nvSpPr>
          <p:cNvPr id="14" name="Title Placeholder 1"/>
          <p:cNvSpPr>
            <a:spLocks noGrp="1"/>
          </p:cNvSpPr>
          <p:nvPr>
            <p:ph type="title" hasCustomPrompt="1"/>
          </p:nvPr>
        </p:nvSpPr>
        <p:spPr>
          <a:xfrm>
            <a:off x="426424" y="222584"/>
            <a:ext cx="11336039" cy="739343"/>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34pt</a:t>
            </a:r>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a:xfrm>
            <a:off x="426424" y="222583"/>
            <a:ext cx="11336039" cy="758022"/>
          </a:xfrm>
          <a:prstGeom prst="rect">
            <a:avLst/>
          </a:prstGeom>
        </p:spPr>
        <p:txBody>
          <a:bodyPr vert="horz" wrap="square" lIns="0" tIns="164592" rIns="0" bIns="0" rtlCol="0" anchor="t">
            <a:noAutofit/>
          </a:bodyPr>
          <a:lstStyle>
            <a:lvl1pPr>
              <a:defRPr sz="3400">
                <a:solidFill>
                  <a:schemeClr val="tx2"/>
                </a:solidFill>
              </a:defRPr>
            </a:lvl1pPr>
          </a:lstStyle>
          <a:p>
            <a:r>
              <a:rPr lang="en-US"/>
              <a:t>Title</a:t>
            </a:r>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209611" y="0"/>
            <a:ext cx="5982390" cy="6858000"/>
          </a:xfrm>
          <a:blipFill dpi="0" rotWithShape="1">
            <a:blip r:embed="rId2" cstate="screen"/>
            <a:srcRect/>
            <a:stretch>
              <a:fillRect/>
            </a:stretch>
          </a:blipFill>
        </p:spPr>
        <p:txBody>
          <a:bodyPr anchor="ctr">
            <a:noAutofit/>
          </a:bodyPr>
          <a:lstStyle>
            <a:lvl1pPr marL="0" indent="0" algn="ctr">
              <a:buNone/>
              <a:defRPr sz="1960">
                <a:solidFill>
                  <a:schemeClr val="bg2"/>
                </a:solidFill>
                <a:latin typeface="+mj-lt"/>
              </a:defRPr>
            </a:lvl1pPr>
          </a:lstStyle>
          <a:p>
            <a:r>
              <a:rPr lang="en-US"/>
              <a:t>Drop photo here</a:t>
            </a:r>
            <a:endParaRPr lang="en-US"/>
          </a:p>
        </p:txBody>
      </p:sp>
      <p:sp>
        <p:nvSpPr>
          <p:cNvPr id="5" name="Title Placeholder 1"/>
          <p:cNvSpPr>
            <a:spLocks noGrp="1"/>
          </p:cNvSpPr>
          <p:nvPr>
            <p:ph type="title"/>
          </p:nvPr>
        </p:nvSpPr>
        <p:spPr>
          <a:xfrm>
            <a:off x="426426" y="222583"/>
            <a:ext cx="5555966" cy="758022"/>
          </a:xfrm>
          <a:prstGeom prst="rect">
            <a:avLst/>
          </a:prstGeom>
        </p:spPr>
        <p:txBody>
          <a:bodyPr vert="horz" wrap="square" lIns="0" tIns="164592" rIns="0" bIns="0" rtlCol="0" anchor="t">
            <a:noAutofit/>
          </a:bodyPr>
          <a:lstStyle>
            <a:lvl1pPr>
              <a:defRPr sz="3400"/>
            </a:lvl1pPr>
          </a:lstStyle>
          <a:p>
            <a:endParaRPr lang="en-US"/>
          </a:p>
        </p:txBody>
      </p:sp>
      <p:sp>
        <p:nvSpPr>
          <p:cNvPr id="6" name="Text Placeholder 3"/>
          <p:cNvSpPr>
            <a:spLocks noGrp="1"/>
          </p:cNvSpPr>
          <p:nvPr>
            <p:ph type="body" sz="quarter" idx="11" hasCustomPrompt="1"/>
          </p:nvPr>
        </p:nvSpPr>
        <p:spPr>
          <a:xfrm>
            <a:off x="426424" y="1129914"/>
            <a:ext cx="5555965" cy="2573509"/>
          </a:xfrm>
        </p:spPr>
        <p:txBody>
          <a:bodyPr wrap="square" lIns="0" tIns="0" rIns="0" bIns="0">
            <a:noAutofit/>
          </a:bodyPr>
          <a:lstStyle>
            <a:lvl1pPr marL="0" marR="0" indent="0" algn="l" defTabSz="914400" rtl="0" eaLnBrk="1" fontAlgn="auto" latinLnBrk="0" hangingPunct="1">
              <a:lnSpc>
                <a:spcPct val="90000"/>
              </a:lnSpc>
              <a:spcBef>
                <a:spcPts val="0"/>
              </a:spcBef>
              <a:spcAft>
                <a:spcPts val="2550"/>
              </a:spcAft>
              <a:buClrTx/>
              <a:buSzPct val="90000"/>
              <a:buFont typeface="Wingdings" panose="05000000000000000000" pitchFamily="2" charset="2"/>
              <a:buNone/>
              <a:defRPr sz="2400" b="0" i="0">
                <a:solidFill>
                  <a:srgbClr val="000000"/>
                </a:solidFill>
                <a:latin typeface="+mn-lt"/>
              </a:defRPr>
            </a:lvl1pPr>
            <a:lvl2pPr marL="224155" marR="0" indent="0" algn="l" defTabSz="914400" rtl="0" eaLnBrk="1" fontAlgn="auto" latinLnBrk="0" hangingPunct="1">
              <a:lnSpc>
                <a:spcPct val="90000"/>
              </a:lnSpc>
              <a:spcBef>
                <a:spcPct val="20000"/>
              </a:spcBef>
              <a:spcAft>
                <a:spcPts val="0"/>
              </a:spcAft>
              <a:buClrTx/>
              <a:buSzPct val="90000"/>
              <a:buFont typeface="Wingdings" panose="05000000000000000000" pitchFamily="2" charset="2"/>
              <a:buNone/>
              <a:defRPr/>
            </a:lvl2pPr>
            <a:lvl3pPr marL="448310" indent="0">
              <a:buNone/>
              <a:defRPr/>
            </a:lvl3pPr>
            <a:lvl4pPr marL="672465" indent="0">
              <a:buNone/>
              <a:defRPr/>
            </a:lvl4pPr>
            <a:lvl5pPr marL="895985" indent="0">
              <a:buNone/>
              <a:defRPr/>
            </a:lvl5pPr>
          </a:lstStyle>
          <a:p>
            <a:pPr lvl="0"/>
            <a:r>
              <a:rPr lang="pt-BR"/>
              <a:t>Subhead Segoe UI 24pt</a:t>
            </a:r>
            <a:endParaRPr lang="pt-BR"/>
          </a:p>
          <a:p>
            <a:pPr lvl="0"/>
            <a:r>
              <a:rPr lang="pt-BR"/>
              <a:t>Subhead Segoe UI 24pt</a:t>
            </a:r>
            <a:endParaRPr lang="pt-BR"/>
          </a:p>
          <a:p>
            <a:pPr lvl="0"/>
            <a:r>
              <a:rPr lang="pt-BR"/>
              <a:t>Subhead Segoe UI 24pt</a:t>
            </a:r>
            <a:endParaRPr lang="pt-B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One u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6993" y="583916"/>
            <a:ext cx="11308283" cy="818705"/>
          </a:xfrm>
          <a:prstGeom prst="rect">
            <a:avLst/>
          </a:prstGeom>
        </p:spPr>
        <p:txBody>
          <a:bodyPr anchor="t"/>
          <a:lstStyle>
            <a:lvl1pPr>
              <a:defRPr sz="4800" b="1" i="0">
                <a:latin typeface="Segoe UI Semibold" panose="020B0702040204020203" pitchFamily="34" charset="0"/>
                <a:cs typeface="Segoe UI Semibold" panose="020B0702040204020203" pitchFamily="34" charset="0"/>
              </a:defRPr>
            </a:lvl1pPr>
          </a:lstStyle>
          <a:p>
            <a:r>
              <a:rPr lang="en-US"/>
              <a:t>Slide Title Here</a:t>
            </a:r>
            <a:endParaRPr lang="en-US"/>
          </a:p>
        </p:txBody>
      </p:sp>
      <p:sp>
        <p:nvSpPr>
          <p:cNvPr id="10" name="Text Placeholder 6"/>
          <p:cNvSpPr>
            <a:spLocks noGrp="1"/>
          </p:cNvSpPr>
          <p:nvPr>
            <p:ph type="body" sz="quarter" idx="21" hasCustomPrompt="1"/>
          </p:nvPr>
        </p:nvSpPr>
        <p:spPr>
          <a:xfrm>
            <a:off x="416992" y="3436267"/>
            <a:ext cx="11308283" cy="2679240"/>
          </a:xfrm>
          <a:prstGeom prst="rect">
            <a:avLst/>
          </a:prstGeom>
        </p:spPr>
        <p:txBody>
          <a:bodyPr/>
          <a:lstStyle>
            <a:lvl1pPr marL="0" indent="0" algn="l" defTabSz="1219200" rtl="0" eaLnBrk="1" latinLnBrk="0" hangingPunct="1">
              <a:lnSpc>
                <a:spcPct val="100000"/>
              </a:lnSpc>
              <a:spcBef>
                <a:spcPct val="20000"/>
              </a:spcBef>
              <a:spcAft>
                <a:spcPts val="0"/>
              </a:spcAft>
              <a:buClr>
                <a:schemeClr val="accent3"/>
              </a:buClr>
              <a:buFont typeface="Arial" panose="020B0604020202020204"/>
              <a:buNone/>
              <a:defRPr lang="en-US" sz="3200" b="0" i="0" kern="1200" dirty="0">
                <a:solidFill>
                  <a:schemeClr val="tx1"/>
                </a:solidFill>
                <a:latin typeface="+mn-lt"/>
                <a:ea typeface="Segoe UI Semibold" panose="020B0702040204020203" pitchFamily="34" charset="0"/>
                <a:cs typeface="Segoe UI Semibold" panose="020B0702040204020203" pitchFamily="34" charset="0"/>
              </a:defRPr>
            </a:lvl1pPr>
          </a:lstStyle>
          <a:p>
            <a:pPr marL="0" lvl="0" indent="0" algn="l" defTabSz="1219200" rtl="0" eaLnBrk="1" latinLnBrk="0" hangingPunct="1">
              <a:spcBef>
                <a:spcPct val="20000"/>
              </a:spcBef>
              <a:buClr>
                <a:schemeClr val="accent3"/>
              </a:buClr>
              <a:buFont typeface="Arial" panose="020B0604020202020204"/>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convallis in </a:t>
            </a:r>
            <a:r>
              <a:rPr lang="en-US" err="1"/>
              <a:t>enim</a:t>
            </a:r>
            <a:r>
              <a:rPr lang="en-US"/>
              <a:t> non </a:t>
            </a:r>
            <a:r>
              <a:rPr lang="en-US" err="1"/>
              <a:t>consectetur</a:t>
            </a:r>
            <a:r>
              <a:rPr lang="en-US"/>
              <a:t>. </a:t>
            </a:r>
            <a:endParaRPr lang="en-US"/>
          </a:p>
        </p:txBody>
      </p:sp>
      <p:sp>
        <p:nvSpPr>
          <p:cNvPr id="5" name="Text Placeholder 30"/>
          <p:cNvSpPr>
            <a:spLocks noGrp="1"/>
          </p:cNvSpPr>
          <p:nvPr>
            <p:ph type="body" sz="quarter" idx="10" hasCustomPrompt="1"/>
          </p:nvPr>
        </p:nvSpPr>
        <p:spPr>
          <a:xfrm>
            <a:off x="416993" y="2784227"/>
            <a:ext cx="11308281" cy="520700"/>
          </a:xfrm>
          <a:prstGeom prst="rect">
            <a:avLst/>
          </a:prstGeom>
        </p:spPr>
        <p:txBody>
          <a:bodyPr anchor="t">
            <a:noAutofit/>
          </a:bodyPr>
          <a:lstStyle>
            <a:lvl1pPr marL="0" indent="0" algn="l" defTabSz="1219200" rtl="0" eaLnBrk="1" latinLnBrk="0" hangingPunct="1">
              <a:spcBef>
                <a:spcPct val="20000"/>
              </a:spcBef>
              <a:buClr>
                <a:schemeClr val="accent3"/>
              </a:buClr>
              <a:buFont typeface="Arial" panose="020B0604020202020204"/>
              <a:buNone/>
              <a:defRPr lang="en-US" sz="3200" b="1" i="0" kern="1200" dirty="0">
                <a:solidFill>
                  <a:schemeClr val="accent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lvl="0" indent="0" algn="l" defTabSz="1219200" rtl="0" eaLnBrk="1" latinLnBrk="0" hangingPunct="1">
              <a:spcBef>
                <a:spcPct val="20000"/>
              </a:spcBef>
              <a:buClr>
                <a:schemeClr val="accent3"/>
              </a:buClr>
              <a:buFont typeface="Arial" panose="020B0604020202020204"/>
              <a:buNone/>
            </a:pPr>
            <a:r>
              <a:rPr lang="en-US"/>
              <a:t>Heading</a:t>
            </a:r>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D83B01"/>
                </a:solidFill>
                <a:latin typeface="+mj-lt"/>
                <a:cs typeface="Segoe UI" panose="020B0502040204020203" pitchFamily="34" charset="0"/>
              </a:defRPr>
            </a:lvl1pPr>
          </a:lstStyle>
          <a:p>
            <a:r>
              <a:rPr lang="en-US" dirty="0"/>
              <a:t>Event name or presentation title </a:t>
            </a:r>
            <a:endParaRPr lang="en-US" dirty="0"/>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endParaRPr lang="en-US" dirty="0"/>
          </a:p>
        </p:txBody>
      </p:sp>
      <p:pic>
        <p:nvPicPr>
          <p:cNvPr id="6" name="MS logo gray - EMF" descr="Microsoft logo, gray text vers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584200" y="585788"/>
            <a:ext cx="1366440" cy="292608"/>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8263" y="585788"/>
            <a:ext cx="3182027" cy="5683250"/>
          </a:xfrm>
        </p:spPr>
        <p:txBody>
          <a:bodyPr anchor="ctr"/>
          <a:lstStyle>
            <a:lvl1pPr>
              <a:defRPr/>
            </a:lvl1pPr>
          </a:lstStyle>
          <a:p>
            <a:r>
              <a:rPr lang="en-US" dirty="0"/>
              <a:t>Title</a:t>
            </a:r>
            <a:endParaRPr lang="en-US" dirty="0"/>
          </a:p>
        </p:txBody>
      </p:sp>
      <p:sp>
        <p:nvSpPr>
          <p:cNvPr id="3" name="Text Placeholder 2"/>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endParaRPr lang="en-US"/>
          </a:p>
        </p:txBody>
      </p:sp>
      <p:cxnSp>
        <p:nvCxnSpPr>
          <p:cNvPr id="5" name="Straight Connector 4"/>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Section Title">
    <p:bg>
      <p:bgPr>
        <a:solidFill>
          <a:schemeClr val="tx2"/>
        </a:solidFill>
        <a:effectLst/>
      </p:bgPr>
    </p:bg>
    <p:spTree>
      <p:nvGrpSpPr>
        <p:cNvPr id="1" name=""/>
        <p:cNvGrpSpPr/>
        <p:nvPr/>
      </p:nvGrpSpPr>
      <p:grpSpPr>
        <a:xfrm>
          <a:off x="0" y="0"/>
          <a:ext cx="0" cy="0"/>
          <a:chOff x="0" y="0"/>
          <a:chExt cx="0" cy="0"/>
        </a:xfrm>
      </p:grpSpPr>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Presentation title slide blue">
    <p:bg>
      <p:bgPr>
        <a:solidFill>
          <a:schemeClr val="tx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34805" y="2540313"/>
            <a:ext cx="9401560" cy="1793104"/>
          </a:xfrm>
          <a:noFill/>
        </p:spPr>
        <p:txBody>
          <a:bodyPr lIns="0" tIns="0" rIns="0" bIns="182880" anchor="b" anchorCtr="0"/>
          <a:lstStyle>
            <a:lvl1pPr>
              <a:defRPr sz="5400" strike="noStrike" spc="-147" baseline="0">
                <a:solidFill>
                  <a:schemeClr val="bg2"/>
                </a:solidFill>
                <a:latin typeface="+mj-lt"/>
              </a:defRPr>
            </a:lvl1pPr>
          </a:lstStyle>
          <a:p>
            <a:r>
              <a:rPr lang="en-US"/>
              <a:t>Azure presentation</a:t>
            </a:r>
            <a:br>
              <a:rPr lang="en-US"/>
            </a:br>
            <a:r>
              <a:rPr lang="en-US"/>
              <a:t>title or event name</a:t>
            </a:r>
            <a:endParaRPr lang="en-US"/>
          </a:p>
        </p:txBody>
      </p:sp>
      <p:sp>
        <p:nvSpPr>
          <p:cNvPr id="6" name="Text Placeholder 4"/>
          <p:cNvSpPr>
            <a:spLocks noGrp="1"/>
          </p:cNvSpPr>
          <p:nvPr>
            <p:ph type="body" sz="quarter" idx="12" hasCustomPrompt="1"/>
          </p:nvPr>
        </p:nvSpPr>
        <p:spPr>
          <a:xfrm>
            <a:off x="434805" y="4342825"/>
            <a:ext cx="9401560" cy="945435"/>
          </a:xfrm>
          <a:noFill/>
        </p:spPr>
        <p:txBody>
          <a:bodyPr lIns="0" tIns="0" rIns="0" bIns="0">
            <a:noAutofit/>
          </a:bodyPr>
          <a:lstStyle>
            <a:lvl1pPr marL="0" indent="0">
              <a:lnSpc>
                <a:spcPct val="100000"/>
              </a:lnSpc>
              <a:spcBef>
                <a:spcPts val="0"/>
              </a:spcBef>
              <a:spcAft>
                <a:spcPts val="0"/>
              </a:spcAft>
              <a:buNone/>
              <a:defRPr sz="1765" spc="0" baseline="0">
                <a:solidFill>
                  <a:schemeClr val="bg2"/>
                </a:solidFill>
                <a:latin typeface="+mn-lt"/>
              </a:defRPr>
            </a:lvl1pPr>
          </a:lstStyle>
          <a:p>
            <a:pPr lvl="0"/>
            <a:r>
              <a:rPr lang="en-US"/>
              <a:t>Author name</a:t>
            </a:r>
            <a:endParaRPr lang="en-US"/>
          </a:p>
          <a:p>
            <a:pPr lvl="0"/>
            <a:r>
              <a:rPr lang="en-US"/>
              <a:t>Date</a:t>
            </a:r>
            <a:endParaRPr lang="en-US"/>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1" r="37064"/>
          <a:stretch>
            <a:fillRect/>
          </a:stretch>
        </p:blipFill>
        <p:spPr>
          <a:xfrm>
            <a:off x="70310" y="1"/>
            <a:ext cx="2059942" cy="1082742"/>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209611" y="0"/>
            <a:ext cx="5982390" cy="6858000"/>
          </a:xfrm>
          <a:blipFill dpi="0" rotWithShape="1">
            <a:blip r:embed="rId2" cstate="screen"/>
            <a:srcRect/>
            <a:stretch>
              <a:fillRect/>
            </a:stretch>
          </a:blipFill>
        </p:spPr>
        <p:txBody>
          <a:bodyPr anchor="ctr">
            <a:noAutofit/>
          </a:bodyPr>
          <a:lstStyle>
            <a:lvl1pPr marL="0" indent="0" algn="ctr">
              <a:buNone/>
              <a:defRPr sz="1960">
                <a:solidFill>
                  <a:schemeClr val="bg2"/>
                </a:solidFill>
                <a:latin typeface="+mj-lt"/>
              </a:defRPr>
            </a:lvl1pPr>
          </a:lstStyle>
          <a:p>
            <a:r>
              <a:rPr lang="en-US"/>
              <a:t>Drop photo here</a:t>
            </a:r>
            <a:endParaRPr lang="en-US"/>
          </a:p>
        </p:txBody>
      </p:sp>
      <p:sp>
        <p:nvSpPr>
          <p:cNvPr id="5" name="Title Placeholder 1"/>
          <p:cNvSpPr>
            <a:spLocks noGrp="1"/>
          </p:cNvSpPr>
          <p:nvPr>
            <p:ph type="title"/>
          </p:nvPr>
        </p:nvSpPr>
        <p:spPr>
          <a:xfrm>
            <a:off x="426426" y="222583"/>
            <a:ext cx="5555966" cy="758022"/>
          </a:xfrm>
          <a:prstGeom prst="rect">
            <a:avLst/>
          </a:prstGeom>
        </p:spPr>
        <p:txBody>
          <a:bodyPr vert="horz" wrap="square" lIns="0" tIns="164592" rIns="0" bIns="0" rtlCol="0" anchor="t">
            <a:noAutofit/>
          </a:bodyPr>
          <a:lstStyle>
            <a:lvl1pPr>
              <a:defRPr sz="3400"/>
            </a:lvl1pPr>
          </a:lstStyle>
          <a:p>
            <a:endParaRPr lang="en-US"/>
          </a:p>
        </p:txBody>
      </p:sp>
      <p:sp>
        <p:nvSpPr>
          <p:cNvPr id="6" name="Text Placeholder 3"/>
          <p:cNvSpPr>
            <a:spLocks noGrp="1"/>
          </p:cNvSpPr>
          <p:nvPr>
            <p:ph type="body" sz="quarter" idx="11" hasCustomPrompt="1"/>
          </p:nvPr>
        </p:nvSpPr>
        <p:spPr>
          <a:xfrm>
            <a:off x="426424" y="1129914"/>
            <a:ext cx="5555965" cy="2573509"/>
          </a:xfrm>
        </p:spPr>
        <p:txBody>
          <a:bodyPr wrap="square" lIns="0" tIns="0" rIns="0" bIns="0">
            <a:noAutofit/>
          </a:bodyPr>
          <a:lstStyle>
            <a:lvl1pPr marL="0" marR="0" indent="0" algn="l" defTabSz="914400" rtl="0" eaLnBrk="1" fontAlgn="auto" latinLnBrk="0" hangingPunct="1">
              <a:lnSpc>
                <a:spcPct val="90000"/>
              </a:lnSpc>
              <a:spcBef>
                <a:spcPts val="0"/>
              </a:spcBef>
              <a:spcAft>
                <a:spcPts val="2550"/>
              </a:spcAft>
              <a:buClrTx/>
              <a:buSzPct val="90000"/>
              <a:buFont typeface="Wingdings" panose="05000000000000000000" pitchFamily="2" charset="2"/>
              <a:buNone/>
              <a:defRPr sz="2400" b="0" i="0">
                <a:solidFill>
                  <a:srgbClr val="000000"/>
                </a:solidFill>
                <a:latin typeface="+mn-lt"/>
              </a:defRPr>
            </a:lvl1pPr>
            <a:lvl2pPr marL="224155" marR="0" indent="0" algn="l" defTabSz="914400" rtl="0" eaLnBrk="1" fontAlgn="auto" latinLnBrk="0" hangingPunct="1">
              <a:lnSpc>
                <a:spcPct val="90000"/>
              </a:lnSpc>
              <a:spcBef>
                <a:spcPct val="20000"/>
              </a:spcBef>
              <a:spcAft>
                <a:spcPts val="0"/>
              </a:spcAft>
              <a:buClrTx/>
              <a:buSzPct val="90000"/>
              <a:buFont typeface="Wingdings" panose="05000000000000000000" pitchFamily="2" charset="2"/>
              <a:buNone/>
              <a:defRPr/>
            </a:lvl2pPr>
            <a:lvl3pPr marL="448310" indent="0">
              <a:buNone/>
              <a:defRPr/>
            </a:lvl3pPr>
            <a:lvl4pPr marL="672465" indent="0">
              <a:buNone/>
              <a:defRPr/>
            </a:lvl4pPr>
            <a:lvl5pPr marL="895985" indent="0">
              <a:buNone/>
              <a:defRPr/>
            </a:lvl5pPr>
          </a:lstStyle>
          <a:p>
            <a:pPr lvl="0"/>
            <a:r>
              <a:rPr lang="pt-BR"/>
              <a:t>Subhead Segoe UI 24pt</a:t>
            </a:r>
            <a:endParaRPr lang="pt-BR"/>
          </a:p>
          <a:p>
            <a:pPr lvl="0"/>
            <a:r>
              <a:rPr lang="pt-BR"/>
              <a:t>Subhead Segoe UI 24pt</a:t>
            </a:r>
            <a:endParaRPr lang="pt-BR"/>
          </a:p>
          <a:p>
            <a:pPr lvl="0"/>
            <a:r>
              <a:rPr lang="pt-BR"/>
              <a:t>Subhead Segoe UI 24pt</a:t>
            </a:r>
            <a:endParaRPr lang="pt-B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lang="en-US"/>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4" name="Content Placeholder 3"/>
          <p:cNvSpPr>
            <a:spLocks noGrp="1"/>
          </p:cNvSpPr>
          <p:nvPr>
            <p:ph sz="quarter" idx="10"/>
          </p:nvPr>
        </p:nvSpPr>
        <p:spPr>
          <a:xfrm>
            <a:off x="584200" y="1435100"/>
            <a:ext cx="11018838" cy="48339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amp; body with bullets slide">
    <p:spTree>
      <p:nvGrpSpPr>
        <p:cNvPr id="1" name=""/>
        <p:cNvGrpSpPr/>
        <p:nvPr/>
      </p:nvGrpSpPr>
      <p:grpSpPr>
        <a:xfrm>
          <a:off x="0" y="0"/>
          <a:ext cx="0" cy="0"/>
          <a:chOff x="0" y="0"/>
          <a:chExt cx="0" cy="0"/>
        </a:xfrm>
      </p:grpSpPr>
      <p:sp>
        <p:nvSpPr>
          <p:cNvPr id="4" name="Title 3"/>
          <p:cNvSpPr>
            <a:spLocks noGrp="1"/>
          </p:cNvSpPr>
          <p:nvPr>
            <p:ph type="title"/>
          </p:nvPr>
        </p:nvSpPr>
        <p:spPr>
          <a:xfrm>
            <a:off x="426425" y="1632912"/>
            <a:ext cx="4849473" cy="744014"/>
          </a:xfrm>
        </p:spPr>
        <p:txBody>
          <a:bodyPr anchor="b"/>
          <a:lstStyle>
            <a:lvl1pPr algn="l">
              <a:defRPr/>
            </a:lvl1pPr>
          </a:lstStyle>
          <a:p>
            <a:r>
              <a:rPr lang="en-US"/>
              <a:t>Click to edit Master title style</a:t>
            </a:r>
            <a:endParaRPr lang="en-US"/>
          </a:p>
        </p:txBody>
      </p:sp>
      <p:sp>
        <p:nvSpPr>
          <p:cNvPr id="5" name="Text Placeholder 4"/>
          <p:cNvSpPr>
            <a:spLocks noGrp="1"/>
          </p:cNvSpPr>
          <p:nvPr>
            <p:ph type="body" sz="quarter" idx="12"/>
          </p:nvPr>
        </p:nvSpPr>
        <p:spPr>
          <a:xfrm>
            <a:off x="427038" y="2520564"/>
            <a:ext cx="4848969" cy="276999"/>
          </a:xfrm>
        </p:spPr>
        <p:txBody>
          <a:bodyPr/>
          <a:lstStyle>
            <a:lvl1pPr marL="0" indent="0">
              <a:buNone/>
              <a:defRPr sz="1800"/>
            </a:lvl1pPr>
          </a:lstStyle>
          <a:p>
            <a:pPr lvl="0"/>
            <a:r>
              <a:rPr lang="en-US"/>
              <a:t>Click to edit Master text styles</a:t>
            </a:r>
            <a:endParaRPr lang="en-US"/>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8263" y="585788"/>
            <a:ext cx="3182027" cy="5683250"/>
          </a:xfrm>
        </p:spPr>
        <p:txBody>
          <a:bodyPr anchor="ctr"/>
          <a:lstStyle>
            <a:lvl1pPr>
              <a:defRPr/>
            </a:lvl1pPr>
          </a:lstStyle>
          <a:p>
            <a:r>
              <a:rPr lang="en-US"/>
              <a:t>Title</a:t>
            </a:r>
            <a:endParaRPr lang="en-US"/>
          </a:p>
        </p:txBody>
      </p:sp>
      <p:sp>
        <p:nvSpPr>
          <p:cNvPr id="3" name="Text Placeholder 2"/>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endParaRPr lang="en-US"/>
          </a:p>
        </p:txBody>
      </p:sp>
      <p:cxnSp>
        <p:nvCxnSpPr>
          <p:cNvPr id="5" name="Straight Connector 4"/>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p:cNvSpPr>
            <a:spLocks noGrp="1"/>
          </p:cNvSpPr>
          <p:nvPr>
            <p:ph type="body" sz="quarter" idx="10" hasCustomPrompt="1"/>
          </p:nvPr>
        </p:nvSpPr>
        <p:spPr>
          <a:xfrm>
            <a:off x="426424" y="1120573"/>
            <a:ext cx="11339774" cy="947824"/>
          </a:xfrm>
        </p:spPr>
        <p:txBody>
          <a:bodyPr wrap="square" lIns="0" tIns="0" rIns="0" bIns="0">
            <a:spAutoFit/>
          </a:bodyPr>
          <a:lstStyle>
            <a:lvl1pPr marL="0" marR="0" indent="0" algn="l" defTabSz="914400" rtl="0" eaLnBrk="1" fontAlgn="auto" latinLnBrk="0" hangingPunct="1">
              <a:lnSpc>
                <a:spcPct val="110000"/>
              </a:lnSpc>
              <a:spcBef>
                <a:spcPts val="0"/>
              </a:spcBef>
              <a:spcAft>
                <a:spcPts val="600"/>
              </a:spcAft>
              <a:buClrTx/>
              <a:buSzPct val="90000"/>
              <a:buFont typeface="Wingdings" panose="05000000000000000000" pitchFamily="2" charset="2"/>
              <a:buNone/>
              <a:defRPr lang="en-US" sz="1800" b="0" i="0" kern="1200" spc="0" baseline="0" dirty="0">
                <a:solidFill>
                  <a:srgbClr val="000000"/>
                </a:solidFill>
                <a:latin typeface="+mj-lt"/>
                <a:ea typeface="+mn-ea"/>
                <a:cs typeface="+mn-cs"/>
              </a:defRPr>
            </a:lvl1pPr>
            <a:lvl2pPr marL="0" indent="0">
              <a:lnSpc>
                <a:spcPct val="110000"/>
              </a:lnSpc>
              <a:spcBef>
                <a:spcPts val="0"/>
              </a:spcBef>
              <a:spcAft>
                <a:spcPts val="600"/>
              </a:spcAft>
              <a:buNone/>
              <a:defRPr sz="1600">
                <a:solidFill>
                  <a:srgbClr val="000000"/>
                </a:solidFill>
              </a:defRPr>
            </a:lvl2pPr>
            <a:lvl3pPr marL="0" indent="0">
              <a:lnSpc>
                <a:spcPct val="110000"/>
              </a:lnSpc>
              <a:spcBef>
                <a:spcPts val="0"/>
              </a:spcBef>
              <a:spcAft>
                <a:spcPts val="600"/>
              </a:spcAft>
              <a:buNone/>
              <a:defRPr sz="1400">
                <a:solidFill>
                  <a:srgbClr val="000000"/>
                </a:solidFill>
                <a:latin typeface="+mn-lt"/>
              </a:defRPr>
            </a:lvl3pPr>
            <a:lvl4pPr marL="672465" indent="0">
              <a:spcBef>
                <a:spcPts val="0"/>
              </a:spcBef>
              <a:spcAft>
                <a:spcPts val="1275"/>
              </a:spcAft>
              <a:buNone/>
              <a:defRPr sz="1960"/>
            </a:lvl4pPr>
            <a:lvl5pPr marL="895985" indent="0">
              <a:buNone/>
              <a:defRPr/>
            </a:lvl5pPr>
          </a:lstStyle>
          <a:p>
            <a:pPr lvl="0"/>
            <a:r>
              <a:rPr lang="en-US"/>
              <a:t>First level Segoe UI </a:t>
            </a:r>
            <a:r>
              <a:rPr lang="en-US" err="1"/>
              <a:t>Semibold</a:t>
            </a:r>
            <a:r>
              <a:rPr lang="en-US"/>
              <a:t> 18pt</a:t>
            </a:r>
            <a:endParaRPr lang="en-US"/>
          </a:p>
          <a:p>
            <a:pPr lvl="1"/>
            <a:r>
              <a:rPr lang="en-US"/>
              <a:t>Second level Segoe UI 16pt</a:t>
            </a:r>
            <a:endParaRPr lang="en-US"/>
          </a:p>
          <a:p>
            <a:pPr lvl="2"/>
            <a:r>
              <a:rPr lang="en-US"/>
              <a:t>Third level Segoe UI 14pt</a:t>
            </a:r>
            <a:endParaRPr lang="en-US"/>
          </a:p>
        </p:txBody>
      </p:sp>
      <p:sp>
        <p:nvSpPr>
          <p:cNvPr id="14" name="Title Placeholder 1"/>
          <p:cNvSpPr>
            <a:spLocks noGrp="1"/>
          </p:cNvSpPr>
          <p:nvPr>
            <p:ph type="title" hasCustomPrompt="1"/>
          </p:nvPr>
        </p:nvSpPr>
        <p:spPr>
          <a:xfrm>
            <a:off x="426424" y="222584"/>
            <a:ext cx="11336039" cy="739343"/>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34pt</a:t>
            </a:r>
            <a:endParaRPr lang="en-US"/>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a:xfrm>
            <a:off x="426424" y="222583"/>
            <a:ext cx="11336039" cy="758022"/>
          </a:xfrm>
          <a:prstGeom prst="rect">
            <a:avLst/>
          </a:prstGeom>
        </p:spPr>
        <p:txBody>
          <a:bodyPr vert="horz" wrap="square" lIns="0" tIns="164592" rIns="0" bIns="0" rtlCol="0" anchor="t">
            <a:noAutofit/>
          </a:bodyPr>
          <a:lstStyle>
            <a:lvl1pPr>
              <a:defRPr sz="3400">
                <a:solidFill>
                  <a:schemeClr val="tx2"/>
                </a:solidFill>
              </a:defRPr>
            </a:lvl1pPr>
          </a:lstStyle>
          <a:p>
            <a:r>
              <a:rPr lang="en-US"/>
              <a:t>Title</a:t>
            </a:r>
            <a:endParaRPr lang="en-US"/>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209611" y="0"/>
            <a:ext cx="5982390" cy="6858000"/>
          </a:xfrm>
          <a:blipFill dpi="0" rotWithShape="1">
            <a:blip r:embed="rId2" cstate="screen"/>
            <a:srcRect/>
            <a:stretch>
              <a:fillRect/>
            </a:stretch>
          </a:blipFill>
        </p:spPr>
        <p:txBody>
          <a:bodyPr anchor="ctr">
            <a:noAutofit/>
          </a:bodyPr>
          <a:lstStyle>
            <a:lvl1pPr marL="0" indent="0" algn="ctr">
              <a:buNone/>
              <a:defRPr sz="1960">
                <a:solidFill>
                  <a:schemeClr val="bg2"/>
                </a:solidFill>
                <a:latin typeface="+mj-lt"/>
              </a:defRPr>
            </a:lvl1pPr>
          </a:lstStyle>
          <a:p>
            <a:r>
              <a:rPr lang="en-US"/>
              <a:t>Drop photo here</a:t>
            </a:r>
            <a:endParaRPr lang="en-US"/>
          </a:p>
        </p:txBody>
      </p:sp>
      <p:sp>
        <p:nvSpPr>
          <p:cNvPr id="5" name="Title Placeholder 1"/>
          <p:cNvSpPr>
            <a:spLocks noGrp="1"/>
          </p:cNvSpPr>
          <p:nvPr>
            <p:ph type="title"/>
          </p:nvPr>
        </p:nvSpPr>
        <p:spPr>
          <a:xfrm>
            <a:off x="426426" y="222583"/>
            <a:ext cx="5555966" cy="758022"/>
          </a:xfrm>
          <a:prstGeom prst="rect">
            <a:avLst/>
          </a:prstGeom>
        </p:spPr>
        <p:txBody>
          <a:bodyPr vert="horz" wrap="square" lIns="0" tIns="164592" rIns="0" bIns="0" rtlCol="0" anchor="t">
            <a:noAutofit/>
          </a:bodyPr>
          <a:lstStyle>
            <a:lvl1pPr>
              <a:defRPr sz="3400"/>
            </a:lvl1pPr>
          </a:lstStyle>
          <a:p>
            <a:endParaRPr lang="en-US"/>
          </a:p>
        </p:txBody>
      </p:sp>
      <p:sp>
        <p:nvSpPr>
          <p:cNvPr id="6" name="Text Placeholder 3"/>
          <p:cNvSpPr>
            <a:spLocks noGrp="1"/>
          </p:cNvSpPr>
          <p:nvPr>
            <p:ph type="body" sz="quarter" idx="11" hasCustomPrompt="1"/>
          </p:nvPr>
        </p:nvSpPr>
        <p:spPr>
          <a:xfrm>
            <a:off x="426424" y="1129914"/>
            <a:ext cx="5555965" cy="2573509"/>
          </a:xfrm>
        </p:spPr>
        <p:txBody>
          <a:bodyPr wrap="square" lIns="0" tIns="0" rIns="0" bIns="0">
            <a:noAutofit/>
          </a:bodyPr>
          <a:lstStyle>
            <a:lvl1pPr marL="0" marR="0" indent="0" algn="l" defTabSz="914400" rtl="0" eaLnBrk="1" fontAlgn="auto" latinLnBrk="0" hangingPunct="1">
              <a:lnSpc>
                <a:spcPct val="90000"/>
              </a:lnSpc>
              <a:spcBef>
                <a:spcPts val="0"/>
              </a:spcBef>
              <a:spcAft>
                <a:spcPts val="2550"/>
              </a:spcAft>
              <a:buClrTx/>
              <a:buSzPct val="90000"/>
              <a:buFont typeface="Wingdings" panose="05000000000000000000" pitchFamily="2" charset="2"/>
              <a:buNone/>
              <a:defRPr sz="2400" b="0" i="0">
                <a:solidFill>
                  <a:srgbClr val="000000"/>
                </a:solidFill>
                <a:latin typeface="+mn-lt"/>
              </a:defRPr>
            </a:lvl1pPr>
            <a:lvl2pPr marL="224155" marR="0" indent="0" algn="l" defTabSz="914400" rtl="0" eaLnBrk="1" fontAlgn="auto" latinLnBrk="0" hangingPunct="1">
              <a:lnSpc>
                <a:spcPct val="90000"/>
              </a:lnSpc>
              <a:spcBef>
                <a:spcPct val="20000"/>
              </a:spcBef>
              <a:spcAft>
                <a:spcPts val="0"/>
              </a:spcAft>
              <a:buClrTx/>
              <a:buSzPct val="90000"/>
              <a:buFont typeface="Wingdings" panose="05000000000000000000" pitchFamily="2" charset="2"/>
              <a:buNone/>
              <a:defRPr/>
            </a:lvl2pPr>
            <a:lvl3pPr marL="448310" indent="0">
              <a:buNone/>
              <a:defRPr/>
            </a:lvl3pPr>
            <a:lvl4pPr marL="672465" indent="0">
              <a:buNone/>
              <a:defRPr/>
            </a:lvl4pPr>
            <a:lvl5pPr marL="895985" indent="0">
              <a:buNone/>
              <a:defRPr/>
            </a:lvl5pPr>
          </a:lstStyle>
          <a:p>
            <a:pPr lvl="0"/>
            <a:r>
              <a:rPr lang="pt-BR"/>
              <a:t>Subhead Segoe UI 24pt</a:t>
            </a:r>
            <a:endParaRPr lang="pt-BR"/>
          </a:p>
          <a:p>
            <a:pPr lvl="0"/>
            <a:r>
              <a:rPr lang="pt-BR"/>
              <a:t>Subhead Segoe UI 24pt</a:t>
            </a:r>
            <a:endParaRPr lang="pt-BR"/>
          </a:p>
          <a:p>
            <a:pPr lvl="0"/>
            <a:r>
              <a:rPr lang="pt-BR"/>
              <a:t>Subhead Segoe UI 24pt</a:t>
            </a:r>
            <a:endParaRPr lang="pt-BR"/>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title blue">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26425" y="1184320"/>
            <a:ext cx="7477989" cy="3535032"/>
          </a:xfrm>
          <a:noFill/>
        </p:spPr>
        <p:txBody>
          <a:bodyPr vert="horz" wrap="square" lIns="0" tIns="0" rIns="0" bIns="0" rtlCol="0" anchor="t" anchorCtr="0">
            <a:noAutofit/>
          </a:bodyPr>
          <a:lstStyle>
            <a:lvl1pPr>
              <a:lnSpc>
                <a:spcPct val="90000"/>
              </a:lnSpc>
              <a:defRPr lang="en-US" sz="5400" b="0" kern="1200" cap="none" spc="-147" baseline="0" dirty="0">
                <a:ln w="3175">
                  <a:noFill/>
                </a:ln>
                <a:solidFill>
                  <a:schemeClr val="tx1"/>
                </a:solidFill>
                <a:effectLst/>
                <a:latin typeface="+mj-lt"/>
                <a:ea typeface="+mn-ea"/>
                <a:cs typeface="Segoe UI" panose="020B0502040204020203" pitchFamily="34" charset="0"/>
              </a:defRPr>
            </a:lvl1pPr>
          </a:lstStyle>
          <a:p>
            <a:pPr marL="0" lvl="0" algn="l" defTabSz="914400" rtl="0" eaLnBrk="1" latinLnBrk="0" hangingPunct="1">
              <a:lnSpc>
                <a:spcPts val="5490"/>
              </a:lnSpc>
              <a:spcBef>
                <a:spcPct val="0"/>
              </a:spcBef>
              <a:buNone/>
            </a:pPr>
            <a:r>
              <a:rPr lang="en-US"/>
              <a:t>Section title</a:t>
            </a:r>
            <a:endParaRPr lang="en-US"/>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Presentation title slide blue">
    <p:bg>
      <p:bgPr>
        <a:solidFill>
          <a:schemeClr val="tx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34805" y="2540313"/>
            <a:ext cx="9401560" cy="1793104"/>
          </a:xfrm>
          <a:noFill/>
        </p:spPr>
        <p:txBody>
          <a:bodyPr lIns="0" tIns="0" rIns="0" bIns="182880" anchor="b" anchorCtr="0"/>
          <a:lstStyle>
            <a:lvl1pPr>
              <a:defRPr sz="5400" strike="noStrike" spc="-147" baseline="0">
                <a:solidFill>
                  <a:schemeClr val="bg2"/>
                </a:solidFill>
                <a:latin typeface="+mj-lt"/>
              </a:defRPr>
            </a:lvl1pPr>
          </a:lstStyle>
          <a:p>
            <a:r>
              <a:rPr lang="en-US"/>
              <a:t>Azure presentation</a:t>
            </a:r>
            <a:br>
              <a:rPr lang="en-US"/>
            </a:br>
            <a:r>
              <a:rPr lang="en-US"/>
              <a:t>title or event name</a:t>
            </a:r>
            <a:endParaRPr lang="en-US"/>
          </a:p>
        </p:txBody>
      </p:sp>
      <p:sp>
        <p:nvSpPr>
          <p:cNvPr id="6" name="Text Placeholder 4"/>
          <p:cNvSpPr>
            <a:spLocks noGrp="1"/>
          </p:cNvSpPr>
          <p:nvPr>
            <p:ph type="body" sz="quarter" idx="12" hasCustomPrompt="1"/>
          </p:nvPr>
        </p:nvSpPr>
        <p:spPr>
          <a:xfrm>
            <a:off x="434805" y="4342825"/>
            <a:ext cx="9401560" cy="945435"/>
          </a:xfrm>
          <a:noFill/>
        </p:spPr>
        <p:txBody>
          <a:bodyPr lIns="0" tIns="0" rIns="0" bIns="0">
            <a:noAutofit/>
          </a:bodyPr>
          <a:lstStyle>
            <a:lvl1pPr marL="0" indent="0">
              <a:lnSpc>
                <a:spcPct val="100000"/>
              </a:lnSpc>
              <a:spcBef>
                <a:spcPts val="0"/>
              </a:spcBef>
              <a:spcAft>
                <a:spcPts val="0"/>
              </a:spcAft>
              <a:buNone/>
              <a:defRPr sz="1765" spc="0" baseline="0">
                <a:solidFill>
                  <a:schemeClr val="bg2"/>
                </a:solidFill>
                <a:latin typeface="+mn-lt"/>
              </a:defRPr>
            </a:lvl1pPr>
          </a:lstStyle>
          <a:p>
            <a:pPr lvl="0"/>
            <a:r>
              <a:rPr lang="en-US"/>
              <a:t>Author name</a:t>
            </a:r>
            <a:endParaRPr lang="en-US"/>
          </a:p>
          <a:p>
            <a:pPr lvl="0"/>
            <a:r>
              <a:rPr lang="en-US"/>
              <a:t>Date</a:t>
            </a:r>
            <a:endParaRPr lang="en-US"/>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1" r="37064"/>
          <a:stretch>
            <a:fillRect/>
          </a:stretch>
        </p:blipFill>
        <p:spPr>
          <a:xfrm>
            <a:off x="70310" y="1"/>
            <a:ext cx="2059942" cy="1082742"/>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p:cNvSpPr>
            <a:spLocks noGrp="1"/>
          </p:cNvSpPr>
          <p:nvPr>
            <p:ph type="body" sz="quarter" idx="10" hasCustomPrompt="1"/>
          </p:nvPr>
        </p:nvSpPr>
        <p:spPr>
          <a:xfrm>
            <a:off x="426424" y="1120573"/>
            <a:ext cx="11339774" cy="947824"/>
          </a:xfrm>
        </p:spPr>
        <p:txBody>
          <a:bodyPr wrap="square" lIns="0" tIns="0" rIns="0" bIns="0">
            <a:spAutoFit/>
          </a:bodyPr>
          <a:lstStyle>
            <a:lvl1pPr marL="0" marR="0" indent="0" algn="l" defTabSz="914400" rtl="0" eaLnBrk="1" fontAlgn="auto" latinLnBrk="0" hangingPunct="1">
              <a:lnSpc>
                <a:spcPct val="110000"/>
              </a:lnSpc>
              <a:spcBef>
                <a:spcPts val="0"/>
              </a:spcBef>
              <a:spcAft>
                <a:spcPts val="600"/>
              </a:spcAft>
              <a:buClrTx/>
              <a:buSzPct val="90000"/>
              <a:buFont typeface="Wingdings" panose="05000000000000000000" pitchFamily="2" charset="2"/>
              <a:buNone/>
              <a:defRPr lang="en-US" sz="1800" b="0" i="0" kern="1200" spc="0" baseline="0" dirty="0">
                <a:solidFill>
                  <a:srgbClr val="000000"/>
                </a:solidFill>
                <a:latin typeface="+mj-lt"/>
                <a:ea typeface="+mn-ea"/>
                <a:cs typeface="+mn-cs"/>
              </a:defRPr>
            </a:lvl1pPr>
            <a:lvl2pPr marL="0" indent="0">
              <a:lnSpc>
                <a:spcPct val="110000"/>
              </a:lnSpc>
              <a:spcBef>
                <a:spcPts val="0"/>
              </a:spcBef>
              <a:spcAft>
                <a:spcPts val="600"/>
              </a:spcAft>
              <a:buNone/>
              <a:defRPr sz="1600">
                <a:solidFill>
                  <a:srgbClr val="000000"/>
                </a:solidFill>
              </a:defRPr>
            </a:lvl2pPr>
            <a:lvl3pPr marL="0" indent="0">
              <a:lnSpc>
                <a:spcPct val="110000"/>
              </a:lnSpc>
              <a:spcBef>
                <a:spcPts val="0"/>
              </a:spcBef>
              <a:spcAft>
                <a:spcPts val="600"/>
              </a:spcAft>
              <a:buNone/>
              <a:defRPr sz="1400">
                <a:solidFill>
                  <a:srgbClr val="000000"/>
                </a:solidFill>
                <a:latin typeface="+mn-lt"/>
              </a:defRPr>
            </a:lvl3pPr>
            <a:lvl4pPr marL="672465" indent="0">
              <a:spcBef>
                <a:spcPts val="0"/>
              </a:spcBef>
              <a:spcAft>
                <a:spcPts val="1275"/>
              </a:spcAft>
              <a:buNone/>
              <a:defRPr sz="1960"/>
            </a:lvl4pPr>
            <a:lvl5pPr marL="895985" indent="0">
              <a:buNone/>
              <a:defRPr/>
            </a:lvl5pPr>
          </a:lstStyle>
          <a:p>
            <a:pPr lvl="0"/>
            <a:r>
              <a:rPr lang="en-US"/>
              <a:t>First level Segoe UI </a:t>
            </a:r>
            <a:r>
              <a:rPr lang="en-US" err="1"/>
              <a:t>Semibold</a:t>
            </a:r>
            <a:r>
              <a:rPr lang="en-US"/>
              <a:t> 18pt</a:t>
            </a:r>
            <a:endParaRPr lang="en-US"/>
          </a:p>
          <a:p>
            <a:pPr lvl="1"/>
            <a:r>
              <a:rPr lang="en-US"/>
              <a:t>Second level Segoe UI 16pt</a:t>
            </a:r>
            <a:endParaRPr lang="en-US"/>
          </a:p>
          <a:p>
            <a:pPr lvl="2"/>
            <a:r>
              <a:rPr lang="en-US"/>
              <a:t>Third level Segoe UI 14pt</a:t>
            </a:r>
            <a:endParaRPr lang="en-US"/>
          </a:p>
        </p:txBody>
      </p:sp>
      <p:sp>
        <p:nvSpPr>
          <p:cNvPr id="14" name="Title Placeholder 1"/>
          <p:cNvSpPr>
            <a:spLocks noGrp="1"/>
          </p:cNvSpPr>
          <p:nvPr>
            <p:ph type="title" hasCustomPrompt="1"/>
          </p:nvPr>
        </p:nvSpPr>
        <p:spPr>
          <a:xfrm>
            <a:off x="426424" y="222584"/>
            <a:ext cx="11336039" cy="739343"/>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34pt</a:t>
            </a:r>
            <a:endParaRPr lang="en-US"/>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a:xfrm>
            <a:off x="426424" y="222583"/>
            <a:ext cx="11336039" cy="758022"/>
          </a:xfrm>
          <a:prstGeom prst="rect">
            <a:avLst/>
          </a:prstGeom>
        </p:spPr>
        <p:txBody>
          <a:bodyPr vert="horz" wrap="square" lIns="0" tIns="164592" rIns="0" bIns="0" rtlCol="0" anchor="t">
            <a:noAutofit/>
          </a:bodyPr>
          <a:lstStyle>
            <a:lvl1pPr>
              <a:defRPr sz="3400">
                <a:solidFill>
                  <a:schemeClr val="tx2"/>
                </a:solidFill>
              </a:defRPr>
            </a:lvl1pPr>
          </a:lstStyle>
          <a:p>
            <a:r>
              <a:rPr lang="en-US"/>
              <a:t>Title</a:t>
            </a:r>
            <a:endParaRPr lang="en-US"/>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209611" y="0"/>
            <a:ext cx="5982390" cy="6858000"/>
          </a:xfrm>
          <a:blipFill dpi="0" rotWithShape="1">
            <a:blip r:embed="rId2" cstate="screen"/>
            <a:srcRect/>
            <a:stretch>
              <a:fillRect/>
            </a:stretch>
          </a:blipFill>
        </p:spPr>
        <p:txBody>
          <a:bodyPr anchor="ctr">
            <a:noAutofit/>
          </a:bodyPr>
          <a:lstStyle>
            <a:lvl1pPr marL="0" indent="0" algn="ctr">
              <a:buNone/>
              <a:defRPr sz="1960">
                <a:solidFill>
                  <a:schemeClr val="bg2"/>
                </a:solidFill>
                <a:latin typeface="+mj-lt"/>
              </a:defRPr>
            </a:lvl1pPr>
          </a:lstStyle>
          <a:p>
            <a:r>
              <a:rPr lang="en-US"/>
              <a:t>Drop photo here</a:t>
            </a:r>
            <a:endParaRPr lang="en-US"/>
          </a:p>
        </p:txBody>
      </p:sp>
      <p:sp>
        <p:nvSpPr>
          <p:cNvPr id="5" name="Title Placeholder 1"/>
          <p:cNvSpPr>
            <a:spLocks noGrp="1"/>
          </p:cNvSpPr>
          <p:nvPr>
            <p:ph type="title"/>
          </p:nvPr>
        </p:nvSpPr>
        <p:spPr>
          <a:xfrm>
            <a:off x="426426" y="222583"/>
            <a:ext cx="5555966" cy="758022"/>
          </a:xfrm>
          <a:prstGeom prst="rect">
            <a:avLst/>
          </a:prstGeom>
        </p:spPr>
        <p:txBody>
          <a:bodyPr vert="horz" wrap="square" lIns="0" tIns="164592" rIns="0" bIns="0" rtlCol="0" anchor="t">
            <a:noAutofit/>
          </a:bodyPr>
          <a:lstStyle>
            <a:lvl1pPr>
              <a:defRPr sz="3400"/>
            </a:lvl1pPr>
          </a:lstStyle>
          <a:p>
            <a:endParaRPr lang="en-US"/>
          </a:p>
        </p:txBody>
      </p:sp>
      <p:sp>
        <p:nvSpPr>
          <p:cNvPr id="6" name="Text Placeholder 3"/>
          <p:cNvSpPr>
            <a:spLocks noGrp="1"/>
          </p:cNvSpPr>
          <p:nvPr>
            <p:ph type="body" sz="quarter" idx="11" hasCustomPrompt="1"/>
          </p:nvPr>
        </p:nvSpPr>
        <p:spPr>
          <a:xfrm>
            <a:off x="426424" y="1129914"/>
            <a:ext cx="5555965" cy="2573509"/>
          </a:xfrm>
        </p:spPr>
        <p:txBody>
          <a:bodyPr wrap="square" lIns="0" tIns="0" rIns="0" bIns="0">
            <a:noAutofit/>
          </a:bodyPr>
          <a:lstStyle>
            <a:lvl1pPr marL="0" marR="0" indent="0" algn="l" defTabSz="914400" rtl="0" eaLnBrk="1" fontAlgn="auto" latinLnBrk="0" hangingPunct="1">
              <a:lnSpc>
                <a:spcPct val="90000"/>
              </a:lnSpc>
              <a:spcBef>
                <a:spcPts val="0"/>
              </a:spcBef>
              <a:spcAft>
                <a:spcPts val="2550"/>
              </a:spcAft>
              <a:buClrTx/>
              <a:buSzPct val="90000"/>
              <a:buFont typeface="Wingdings" panose="05000000000000000000" pitchFamily="2" charset="2"/>
              <a:buNone/>
              <a:defRPr sz="2400" b="0" i="0">
                <a:solidFill>
                  <a:srgbClr val="000000"/>
                </a:solidFill>
                <a:latin typeface="+mn-lt"/>
              </a:defRPr>
            </a:lvl1pPr>
            <a:lvl2pPr marL="224155" marR="0" indent="0" algn="l" defTabSz="914400" rtl="0" eaLnBrk="1" fontAlgn="auto" latinLnBrk="0" hangingPunct="1">
              <a:lnSpc>
                <a:spcPct val="90000"/>
              </a:lnSpc>
              <a:spcBef>
                <a:spcPct val="20000"/>
              </a:spcBef>
              <a:spcAft>
                <a:spcPts val="0"/>
              </a:spcAft>
              <a:buClrTx/>
              <a:buSzPct val="90000"/>
              <a:buFont typeface="Wingdings" panose="05000000000000000000" pitchFamily="2" charset="2"/>
              <a:buNone/>
              <a:defRPr/>
            </a:lvl2pPr>
            <a:lvl3pPr marL="448310" indent="0">
              <a:buNone/>
              <a:defRPr/>
            </a:lvl3pPr>
            <a:lvl4pPr marL="672465" indent="0">
              <a:buNone/>
              <a:defRPr/>
            </a:lvl4pPr>
            <a:lvl5pPr marL="895985" indent="0">
              <a:buNone/>
              <a:defRPr/>
            </a:lvl5pPr>
          </a:lstStyle>
          <a:p>
            <a:pPr lvl="0"/>
            <a:r>
              <a:rPr lang="pt-BR"/>
              <a:t>Subhead Segoe UI 24pt</a:t>
            </a:r>
            <a:endParaRPr lang="pt-BR"/>
          </a:p>
          <a:p>
            <a:pPr lvl="0"/>
            <a:r>
              <a:rPr lang="pt-BR"/>
              <a:t>Subhead Segoe UI 24pt</a:t>
            </a:r>
            <a:endParaRPr lang="pt-BR"/>
          </a:p>
          <a:p>
            <a:pPr lvl="0"/>
            <a:r>
              <a:rPr lang="pt-BR"/>
              <a:t>Subhead Segoe UI 24pt</a:t>
            </a:r>
            <a:endParaRPr lang="pt-BR"/>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One u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6993" y="583916"/>
            <a:ext cx="11308283" cy="818705"/>
          </a:xfrm>
          <a:prstGeom prst="rect">
            <a:avLst/>
          </a:prstGeom>
        </p:spPr>
        <p:txBody>
          <a:bodyPr anchor="t"/>
          <a:lstStyle>
            <a:lvl1pPr>
              <a:defRPr sz="4800" b="1" i="0">
                <a:latin typeface="Segoe UI Semibold" panose="020B0702040204020203" pitchFamily="34" charset="0"/>
                <a:cs typeface="Segoe UI Semibold" panose="020B0702040204020203" pitchFamily="34" charset="0"/>
              </a:defRPr>
            </a:lvl1pPr>
          </a:lstStyle>
          <a:p>
            <a:r>
              <a:rPr lang="en-US"/>
              <a:t>Slide Title Here</a:t>
            </a:r>
            <a:endParaRPr lang="en-US"/>
          </a:p>
        </p:txBody>
      </p:sp>
      <p:sp>
        <p:nvSpPr>
          <p:cNvPr id="10" name="Text Placeholder 6"/>
          <p:cNvSpPr>
            <a:spLocks noGrp="1"/>
          </p:cNvSpPr>
          <p:nvPr>
            <p:ph type="body" sz="quarter" idx="21" hasCustomPrompt="1"/>
          </p:nvPr>
        </p:nvSpPr>
        <p:spPr>
          <a:xfrm>
            <a:off x="416992" y="3436267"/>
            <a:ext cx="11308283" cy="2679240"/>
          </a:xfrm>
          <a:prstGeom prst="rect">
            <a:avLst/>
          </a:prstGeom>
        </p:spPr>
        <p:txBody>
          <a:bodyPr/>
          <a:lstStyle>
            <a:lvl1pPr marL="0" indent="0" algn="l" defTabSz="1219200" rtl="0" eaLnBrk="1" latinLnBrk="0" hangingPunct="1">
              <a:lnSpc>
                <a:spcPct val="100000"/>
              </a:lnSpc>
              <a:spcBef>
                <a:spcPct val="20000"/>
              </a:spcBef>
              <a:spcAft>
                <a:spcPts val="0"/>
              </a:spcAft>
              <a:buClr>
                <a:schemeClr val="accent3"/>
              </a:buClr>
              <a:buFont typeface="Arial" panose="020B0604020202020204"/>
              <a:buNone/>
              <a:defRPr lang="en-US" sz="3200" b="0" i="0" kern="1200" dirty="0">
                <a:solidFill>
                  <a:schemeClr val="tx1"/>
                </a:solidFill>
                <a:latin typeface="+mn-lt"/>
                <a:ea typeface="Segoe UI Semibold" panose="020B0702040204020203" pitchFamily="34" charset="0"/>
                <a:cs typeface="Segoe UI Semibold" panose="020B0702040204020203" pitchFamily="34" charset="0"/>
              </a:defRPr>
            </a:lvl1pPr>
          </a:lstStyle>
          <a:p>
            <a:pPr marL="0" lvl="0" indent="0" algn="l" defTabSz="1219200" rtl="0" eaLnBrk="1" latinLnBrk="0" hangingPunct="1">
              <a:spcBef>
                <a:spcPct val="20000"/>
              </a:spcBef>
              <a:buClr>
                <a:schemeClr val="accent3"/>
              </a:buClr>
              <a:buFont typeface="Arial" panose="020B0604020202020204"/>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convallis in </a:t>
            </a:r>
            <a:r>
              <a:rPr lang="en-US" err="1"/>
              <a:t>enim</a:t>
            </a:r>
            <a:r>
              <a:rPr lang="en-US"/>
              <a:t> non </a:t>
            </a:r>
            <a:r>
              <a:rPr lang="en-US" err="1"/>
              <a:t>consectetur</a:t>
            </a:r>
            <a:r>
              <a:rPr lang="en-US"/>
              <a:t>. </a:t>
            </a:r>
            <a:endParaRPr lang="en-US"/>
          </a:p>
        </p:txBody>
      </p:sp>
      <p:sp>
        <p:nvSpPr>
          <p:cNvPr id="5" name="Text Placeholder 30"/>
          <p:cNvSpPr>
            <a:spLocks noGrp="1"/>
          </p:cNvSpPr>
          <p:nvPr>
            <p:ph type="body" sz="quarter" idx="10" hasCustomPrompt="1"/>
          </p:nvPr>
        </p:nvSpPr>
        <p:spPr>
          <a:xfrm>
            <a:off x="416993" y="2784227"/>
            <a:ext cx="11308281" cy="520700"/>
          </a:xfrm>
          <a:prstGeom prst="rect">
            <a:avLst/>
          </a:prstGeom>
        </p:spPr>
        <p:txBody>
          <a:bodyPr anchor="t">
            <a:noAutofit/>
          </a:bodyPr>
          <a:lstStyle>
            <a:lvl1pPr marL="0" indent="0" algn="l" defTabSz="1219200" rtl="0" eaLnBrk="1" latinLnBrk="0" hangingPunct="1">
              <a:spcBef>
                <a:spcPct val="20000"/>
              </a:spcBef>
              <a:buClr>
                <a:schemeClr val="accent3"/>
              </a:buClr>
              <a:buFont typeface="Arial" panose="020B0604020202020204"/>
              <a:buNone/>
              <a:defRPr lang="en-US" sz="3200" b="1" i="0" kern="1200" dirty="0">
                <a:solidFill>
                  <a:schemeClr val="accent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lvl="0" indent="0" algn="l" defTabSz="1219200" rtl="0" eaLnBrk="1" latinLnBrk="0" hangingPunct="1">
              <a:spcBef>
                <a:spcPct val="20000"/>
              </a:spcBef>
              <a:buClr>
                <a:schemeClr val="accent3"/>
              </a:buClr>
              <a:buFont typeface="Arial" panose="020B0604020202020204"/>
              <a:buNone/>
            </a:pPr>
            <a:r>
              <a:rPr lang="en-US"/>
              <a:t>Heading</a:t>
            </a:r>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4.emf"/><Relationship Id="rId7" Type="http://schemas.openxmlformats.org/officeDocument/2006/relationships/image" Target="../media/image3.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image" Target="../media/image6.emf"/><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6.emf"/><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7.png"/><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6" Type="http://schemas.openxmlformats.org/officeDocument/2006/relationships/theme" Target="../theme/theme5.xml"/><Relationship Id="rId5" Type="http://schemas.openxmlformats.org/officeDocument/2006/relationships/image" Target="../media/image4.emf"/><Relationship Id="rId4" Type="http://schemas.openxmlformats.org/officeDocument/2006/relationships/image" Target="../media/image3.png"/><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image" Target="../media/image6.emf"/><Relationship Id="rId1" Type="http://schemas.openxmlformats.org/officeDocument/2006/relationships/slideLayout" Target="../slideLayouts/slideLayout1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6.emf"/><Relationship Id="rId1" Type="http://schemas.openxmlformats.org/officeDocument/2006/relationships/slideLayout" Target="../slideLayouts/slideLayout16.xml"/></Relationships>
</file>

<file path=ppt/slideMasters/_rels/slideMaster8.xml.rels><?xml version="1.0" encoding="UTF-8" standalone="yes"?>
<Relationships xmlns="http://schemas.openxmlformats.org/package/2006/relationships"><Relationship Id="rId6" Type="http://schemas.openxmlformats.org/officeDocument/2006/relationships/theme" Target="../theme/theme8.xml"/><Relationship Id="rId5" Type="http://schemas.openxmlformats.org/officeDocument/2006/relationships/image" Target="../media/image6.emf"/><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image" Target="../media/image6.emf"/></Relationships>
</file>

<file path=ppt/slideMasters/_rels/slideMaster10.xml.rels><?xml version="1.0" encoding="UTF-8" standalone="yes"?>
<Relationships xmlns="http://schemas.openxmlformats.org/package/2006/relationships"><Relationship Id="rId8" Type="http://schemas.openxmlformats.org/officeDocument/2006/relationships/theme" Target="../theme/theme10.xml"/><Relationship Id="rId7" Type="http://schemas.openxmlformats.org/officeDocument/2006/relationships/image" Target="../media/image4.emf"/><Relationship Id="rId6" Type="http://schemas.openxmlformats.org/officeDocument/2006/relationships/image" Target="../media/image3.png"/><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image" Target="../media/image9.emf"/><Relationship Id="rId1" Type="http://schemas.openxmlformats.org/officeDocument/2006/relationships/slideLayout" Target="../slideLayouts/slideLayout26.xml"/></Relationships>
</file>

<file path=ppt/slideMasters/_rels/slideMaster12.xml.rels><?xml version="1.0" encoding="UTF-8" standalone="yes"?>
<Relationships xmlns="http://schemas.openxmlformats.org/package/2006/relationships"><Relationship Id="rId9" Type="http://schemas.openxmlformats.org/officeDocument/2006/relationships/theme" Target="../theme/theme12.xml"/><Relationship Id="rId8" Type="http://schemas.openxmlformats.org/officeDocument/2006/relationships/image" Target="../media/image4.emf"/><Relationship Id="rId7" Type="http://schemas.openxmlformats.org/officeDocument/2006/relationships/image" Target="../media/image3.png"/><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7"/>
          <a:stretch>
            <a:fillRect/>
          </a:stretch>
        </p:blipFill>
        <p:spPr>
          <a:xfrm rot="5400000">
            <a:off x="9044630" y="3216843"/>
            <a:ext cx="6858000" cy="424314"/>
          </a:xfrm>
          <a:prstGeom prst="rect">
            <a:avLst/>
          </a:prstGeom>
        </p:spPr>
      </p:pic>
      <p:sp>
        <p:nvSpPr>
          <p:cNvPr id="2" name="Title Placeholder 1"/>
          <p:cNvSpPr>
            <a:spLocks noGrp="1"/>
          </p:cNvSpPr>
          <p:nvPr>
            <p:ph type="title"/>
          </p:nvPr>
        </p:nvSpPr>
        <p:spPr>
          <a:xfrm>
            <a:off x="426424" y="224113"/>
            <a:ext cx="11336039" cy="744014"/>
          </a:xfrm>
          <a:prstGeom prst="rect">
            <a:avLst/>
          </a:prstGeom>
        </p:spPr>
        <p:txBody>
          <a:bodyPr vert="horz" wrap="square" lIns="0" tIns="164592" rIns="0" bIns="0" rtlCol="0" anchor="t">
            <a:noAutofit/>
          </a:bodyPr>
          <a:lstStyle/>
          <a:p>
            <a:r>
              <a:rPr lang="en-US"/>
              <a:t>Click to edit Master title style</a:t>
            </a:r>
            <a:endParaRPr lang="en-US"/>
          </a:p>
        </p:txBody>
      </p:sp>
      <p:sp>
        <p:nvSpPr>
          <p:cNvPr id="4" name="Text Placeholder 3"/>
          <p:cNvSpPr>
            <a:spLocks noGrp="1"/>
          </p:cNvSpPr>
          <p:nvPr>
            <p:ph type="body" idx="1"/>
          </p:nvPr>
        </p:nvSpPr>
        <p:spPr>
          <a:xfrm>
            <a:off x="437320" y="1110106"/>
            <a:ext cx="11336039" cy="2148280"/>
          </a:xfrm>
          <a:prstGeom prst="rect">
            <a:avLst/>
          </a:prstGeom>
        </p:spPr>
        <p:txBody>
          <a:bodyPr vert="horz" wrap="square" lIns="0" tIns="0" rIns="0" bIns="0" rtlCol="0">
            <a:sp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pic>
        <p:nvPicPr>
          <p:cNvPr id="5" name="Picture 4"/>
          <p:cNvPicPr>
            <a:picLocks noChangeAspect="1"/>
          </p:cNvPicPr>
          <p:nvPr userDrawn="1"/>
        </p:nvPicPr>
        <p:blipFill>
          <a:blip r:embed="rId8" cstate="screen"/>
          <a:stretch>
            <a:fillRect/>
          </a:stretch>
        </p:blipFill>
        <p:spPr>
          <a:xfrm rot="5400000">
            <a:off x="9755483" y="3012080"/>
            <a:ext cx="6858623" cy="83321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fade/>
  </p:transition>
  <p:hf sldNum="0" hdr="0" dt="0"/>
  <p:txStyles>
    <p:titleStyle>
      <a:lvl1pPr algn="l" defTabSz="914400" rtl="0" eaLnBrk="1" latinLnBrk="0" hangingPunct="1">
        <a:lnSpc>
          <a:spcPct val="90000"/>
        </a:lnSpc>
        <a:spcBef>
          <a:spcPct val="0"/>
        </a:spcBef>
        <a:buNone/>
        <a:defRPr lang="en-US" sz="3400" b="0" kern="1200" cap="none" spc="-147" baseline="0" dirty="0" smtClean="0">
          <a:ln w="3175">
            <a:noFill/>
          </a:ln>
          <a:solidFill>
            <a:schemeClr val="tx2"/>
          </a:solidFill>
          <a:effectLst/>
          <a:latin typeface="+mj-lt"/>
          <a:ea typeface="+mn-ea"/>
          <a:cs typeface="Segoe UI" panose="020B0502040204020203" pitchFamily="34" charset="0"/>
        </a:defRPr>
      </a:lvl1pPr>
    </p:titleStyle>
    <p:bodyStyle>
      <a:lvl1pPr marL="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800" kern="1200" spc="0" baseline="0">
          <a:solidFill>
            <a:srgbClr val="000000"/>
          </a:solidFill>
          <a:latin typeface="+mn-lt"/>
          <a:ea typeface="+mn-ea"/>
          <a:cs typeface="+mn-cs"/>
        </a:defRPr>
      </a:lvl1pPr>
      <a:lvl2pPr marL="22415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400" kern="1200" spc="0" baseline="0">
          <a:solidFill>
            <a:srgbClr val="000000"/>
          </a:solidFill>
          <a:latin typeface="+mn-lt"/>
          <a:ea typeface="+mn-ea"/>
          <a:cs typeface="+mn-cs"/>
        </a:defRPr>
      </a:lvl2pPr>
      <a:lvl3pPr marL="44831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800" kern="1200" spc="0" baseline="0">
          <a:solidFill>
            <a:srgbClr val="000000"/>
          </a:solidFill>
          <a:latin typeface="+mj-lt"/>
          <a:ea typeface="+mn-ea"/>
          <a:cs typeface="+mn-cs"/>
        </a:defRPr>
      </a:lvl3pPr>
      <a:lvl4pPr marL="672465" marR="0" indent="0" algn="l" defTabSz="914400" rtl="0" eaLnBrk="1" fontAlgn="auto" latinLnBrk="0" hangingPunct="1">
        <a:lnSpc>
          <a:spcPct val="110000"/>
        </a:lnSpc>
        <a:spcBef>
          <a:spcPts val="0"/>
        </a:spcBef>
        <a:spcAft>
          <a:spcPts val="1200"/>
        </a:spcAft>
        <a:buClrTx/>
        <a:buSzPct val="90000"/>
        <a:buFont typeface="Wingdings" panose="05000000000000000000" pitchFamily="2" charset="2"/>
        <a:buNone/>
        <a:defRPr sz="1600" kern="1200" spc="0" baseline="0">
          <a:solidFill>
            <a:srgbClr val="000000"/>
          </a:solidFill>
          <a:latin typeface="+mn-lt"/>
          <a:ea typeface="+mn-ea"/>
          <a:cs typeface="+mn-cs"/>
        </a:defRPr>
      </a:lvl4pPr>
      <a:lvl5pPr marL="89598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200" kern="1200" spc="0" baseline="0">
          <a:solidFill>
            <a:srgbClr val="000000"/>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9pPr>
    </p:bodyStyle>
    <p:other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165" algn="l" defTabSz="914400" rtl="0" eaLnBrk="1" latinLnBrk="0" hangingPunct="1">
        <a:defRPr sz="1765" kern="1200">
          <a:solidFill>
            <a:schemeClr val="tx1"/>
          </a:solidFill>
          <a:latin typeface="+mn-lt"/>
          <a:ea typeface="+mn-ea"/>
          <a:cs typeface="+mn-cs"/>
        </a:defRPr>
      </a:lvl5pPr>
      <a:lvl6pPr marL="2285365" algn="l" defTabSz="914400" rtl="0" eaLnBrk="1" latinLnBrk="0" hangingPunct="1">
        <a:defRPr sz="1765" kern="1200">
          <a:solidFill>
            <a:schemeClr val="tx1"/>
          </a:solidFill>
          <a:latin typeface="+mn-lt"/>
          <a:ea typeface="+mn-ea"/>
          <a:cs typeface="+mn-cs"/>
        </a:defRPr>
      </a:lvl6pPr>
      <a:lvl7pPr marL="2742565" algn="l" defTabSz="914400" rtl="0" eaLnBrk="1" latinLnBrk="0" hangingPunct="1">
        <a:defRPr sz="1765" kern="1200">
          <a:solidFill>
            <a:schemeClr val="tx1"/>
          </a:solidFill>
          <a:latin typeface="+mn-lt"/>
          <a:ea typeface="+mn-ea"/>
          <a:cs typeface="+mn-cs"/>
        </a:defRPr>
      </a:lvl7pPr>
      <a:lvl8pPr marL="3199765" algn="l" defTabSz="914400" rtl="0" eaLnBrk="1" latinLnBrk="0" hangingPunct="1">
        <a:defRPr sz="1765" kern="1200">
          <a:solidFill>
            <a:schemeClr val="tx1"/>
          </a:solidFill>
          <a:latin typeface="+mn-lt"/>
          <a:ea typeface="+mn-ea"/>
          <a:cs typeface="+mn-cs"/>
        </a:defRPr>
      </a:lvl8pPr>
      <a:lvl9pPr marL="3656965" algn="l" defTabSz="914400" rtl="0" eaLnBrk="1" latinLnBrk="0" hangingPunct="1">
        <a:defRPr sz="176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grpSp>
        <p:nvGrpSpPr>
          <p:cNvPr id="47" name="GRID" hidden="1"/>
          <p:cNvGrpSpPr/>
          <p:nvPr/>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p:nvPicPr>
        <p:blipFill rotWithShape="1">
          <a:blip r:embed="rId4" cstate="print">
            <a:extLst>
              <a:ext uri="{28A0092B-C50C-407E-A947-70E740481C1C}">
                <a14:useLocalDpi xmlns:a14="http://schemas.microsoft.com/office/drawing/2010/main" val="0"/>
              </a:ext>
            </a:extLst>
          </a:blip>
          <a:srcRect l="762"/>
          <a:stretch>
            <a:fillRect/>
          </a:stretch>
        </p:blipFill>
        <p:spPr>
          <a:xfrm rot="5400000">
            <a:off x="9464500" y="2843773"/>
            <a:ext cx="6858000" cy="1170455"/>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Lst>
  <p:transition>
    <p:fade/>
  </p:transition>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userDrawn="1"/>
        </p:nvPicPr>
        <p:blipFill rotWithShape="1">
          <a:blip r:embed="rId2"/>
          <a:srcRect l="762"/>
          <a:stretch>
            <a:fillRect/>
          </a:stretch>
        </p:blipFill>
        <p:spPr>
          <a:xfrm rot="5400000">
            <a:off x="9464500" y="2843773"/>
            <a:ext cx="6858000" cy="1170455"/>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285516" y="6400944"/>
            <a:ext cx="295607" cy="467427"/>
          </a:xfrm>
          <a:prstGeom prst="rect">
            <a:avLst/>
          </a:prstGeom>
          <a:solidFill>
            <a:srgbClr val="F8982D"/>
          </a:solidFill>
        </p:spPr>
        <p:txBody>
          <a:bodyPr vert="horz" wrap="none" lIns="91440" tIns="0" rIns="91440" bIns="45720" rtlCol="0" anchor="ctr"/>
          <a:lstStyle>
            <a:lvl1pPr algn="ctr">
              <a:defRPr sz="1065" b="0">
                <a:solidFill>
                  <a:schemeClr val="bg1"/>
                </a:solidFill>
              </a:defRPr>
            </a:lvl1pPr>
          </a:lstStyle>
          <a:p>
            <a:fld id="{D372AB51-BDCC-4F95-83CF-1CBB2D34E9E5}" type="slidenum">
              <a:rPr lang="en-US" smtClean="0"/>
            </a:fld>
            <a:endParaRPr lang="en-US" dirty="0"/>
          </a:p>
        </p:txBody>
      </p:sp>
      <p:sp>
        <p:nvSpPr>
          <p:cNvPr id="4" name="TextBox 3"/>
          <p:cNvSpPr txBox="1"/>
          <p:nvPr/>
        </p:nvSpPr>
        <p:spPr>
          <a:xfrm>
            <a:off x="11978905" y="5821365"/>
            <a:ext cx="184731" cy="461665"/>
          </a:xfrm>
          <a:prstGeom prst="rect">
            <a:avLst/>
          </a:prstGeom>
          <a:noFill/>
        </p:spPr>
        <p:txBody>
          <a:bodyPr wrap="none" rtlCol="0">
            <a:spAutoFit/>
          </a:bodyPr>
          <a:lstStyle/>
          <a:p>
            <a:endParaRPr lang="en-US" sz="2400" dirty="0"/>
          </a:p>
        </p:txBody>
      </p:sp>
      <p:sp>
        <p:nvSpPr>
          <p:cNvPr id="9" name="Title Placeholder 8"/>
          <p:cNvSpPr>
            <a:spLocks noGrp="1"/>
          </p:cNvSpPr>
          <p:nvPr>
            <p:ph type="title"/>
          </p:nvPr>
        </p:nvSpPr>
        <p:spPr>
          <a:xfrm>
            <a:off x="609600" y="274639"/>
            <a:ext cx="10972801" cy="1143000"/>
          </a:xfrm>
          <a:prstGeom prst="rect">
            <a:avLst/>
          </a:prstGeom>
        </p:spPr>
        <p:txBody>
          <a:bodyPr vert="horz" lIns="91440" tIns="45720" rIns="91440" bIns="45720" rtlCol="0" anchor="t">
            <a:noAutofit/>
          </a:bodyPr>
          <a:lstStyle/>
          <a:p>
            <a:r>
              <a:rPr lang="en-US" dirty="0"/>
              <a:t>Title Styling</a:t>
            </a:r>
            <a:endParaRPr lang="en-US" dirty="0"/>
          </a:p>
        </p:txBody>
      </p:sp>
      <p:sp>
        <p:nvSpPr>
          <p:cNvPr id="10" name="Text Placeholder 9"/>
          <p:cNvSpPr>
            <a:spLocks noGrp="1"/>
          </p:cNvSpPr>
          <p:nvPr>
            <p:ph type="body" idx="1"/>
          </p:nvPr>
        </p:nvSpPr>
        <p:spPr>
          <a:xfrm>
            <a:off x="609600" y="1600202"/>
            <a:ext cx="10972801" cy="4525963"/>
          </a:xfrm>
          <a:prstGeom prst="rect">
            <a:avLst/>
          </a:prstGeom>
        </p:spPr>
        <p:txBody>
          <a:bodyPr vert="horz" lIns="91440" tIns="45720" rIns="91440" bIns="45720" rtlCol="0">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98289" y="6392061"/>
            <a:ext cx="371032" cy="296879"/>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Lst>
  <p:hf hdr="0" ftr="0" dt="0"/>
  <p:txStyles>
    <p:titleStyle>
      <a:lvl1pPr marL="0" marR="0" indent="0" algn="l" defTabSz="609600" rtl="0" eaLnBrk="1" fontAlgn="auto" latinLnBrk="0" hangingPunct="1">
        <a:lnSpc>
          <a:spcPts val="4665"/>
        </a:lnSpc>
        <a:spcBef>
          <a:spcPct val="0"/>
        </a:spcBef>
        <a:spcAft>
          <a:spcPts val="0"/>
        </a:spcAft>
        <a:buClrTx/>
        <a:buSzTx/>
        <a:buFontTx/>
        <a:buNone/>
        <a:defRPr kumimoji="0" lang="en-US" sz="4800" b="0" i="0" u="none" strike="noStrike" kern="1200" cap="none" spc="0" normalizeH="0" baseline="0">
          <a:ln>
            <a:noFill/>
          </a:ln>
          <a:solidFill>
            <a:schemeClr val="tx2"/>
          </a:solidFill>
          <a:effectLst/>
          <a:uLnTx/>
          <a:uFillTx/>
          <a:latin typeface="+mj-lt"/>
          <a:ea typeface="+mj-ea"/>
          <a:cs typeface="Segoe light"/>
        </a:defRPr>
      </a:lvl1pPr>
    </p:titleStyle>
    <p:bodyStyle>
      <a:lvl1pPr marL="0" indent="0" algn="l" defTabSz="1218565" rtl="0" eaLnBrk="1" latinLnBrk="0" hangingPunct="1">
        <a:spcBef>
          <a:spcPct val="20000"/>
        </a:spcBef>
        <a:buFont typeface="Arial" panose="020B0604020202020204"/>
        <a:buNone/>
        <a:defRPr sz="3200" kern="1200">
          <a:solidFill>
            <a:srgbClr val="404040"/>
          </a:solidFill>
          <a:latin typeface="+mj-lt"/>
          <a:ea typeface="+mn-ea"/>
          <a:cs typeface="+mn-cs"/>
        </a:defRPr>
      </a:lvl1pPr>
      <a:lvl2pPr marL="457200" indent="-457200" algn="l" defTabSz="1218565" rtl="0" eaLnBrk="1" latinLnBrk="0" hangingPunct="1">
        <a:spcBef>
          <a:spcPct val="20000"/>
        </a:spcBef>
        <a:buClr>
          <a:schemeClr val="accent4"/>
        </a:buClr>
        <a:buFont typeface="Arial" panose="020B0604020202020204"/>
        <a:buChar char="•"/>
        <a:defRPr lang="en-US" sz="2665" kern="1200" dirty="0" smtClean="0">
          <a:solidFill>
            <a:srgbClr val="404040"/>
          </a:solidFill>
          <a:latin typeface="+mj-lt"/>
          <a:ea typeface="+mn-ea"/>
          <a:cs typeface="+mn-cs"/>
        </a:defRPr>
      </a:lvl2pPr>
      <a:lvl3pPr marL="850900" indent="-457200" algn="l" defTabSz="1218565" rtl="0" eaLnBrk="1" latinLnBrk="0" hangingPunct="1">
        <a:spcBef>
          <a:spcPct val="20000"/>
        </a:spcBef>
        <a:buClr>
          <a:schemeClr val="accent4"/>
        </a:buClr>
        <a:buFont typeface="Arial" panose="020B0604020202020204"/>
        <a:buChar char="•"/>
        <a:defRPr lang="en-US" sz="2400" kern="1200" dirty="0" smtClean="0">
          <a:solidFill>
            <a:srgbClr val="404040"/>
          </a:solidFill>
          <a:latin typeface="+mj-lt"/>
          <a:ea typeface="+mn-ea"/>
          <a:cs typeface="+mn-cs"/>
        </a:defRPr>
      </a:lvl3pPr>
      <a:lvl4pPr marL="1229360" indent="-457200" algn="l" defTabSz="1218565" rtl="0" eaLnBrk="1" latinLnBrk="0" hangingPunct="1">
        <a:spcBef>
          <a:spcPct val="20000"/>
        </a:spcBef>
        <a:buClr>
          <a:schemeClr val="accent4"/>
        </a:buClr>
        <a:buFont typeface="Arial" panose="020B0604020202020204"/>
        <a:buChar char="•"/>
        <a:defRPr lang="en-US" sz="2400" kern="1200" dirty="0" smtClean="0">
          <a:solidFill>
            <a:srgbClr val="404040"/>
          </a:solidFill>
          <a:latin typeface="+mj-lt"/>
          <a:ea typeface="+mn-ea"/>
          <a:cs typeface="+mn-cs"/>
        </a:defRPr>
      </a:lvl4pPr>
      <a:lvl5pPr marL="1584960" indent="-457200" algn="l" defTabSz="1218565" rtl="0" eaLnBrk="1" latinLnBrk="0" hangingPunct="1">
        <a:spcBef>
          <a:spcPct val="20000"/>
        </a:spcBef>
        <a:buClr>
          <a:schemeClr val="accent4"/>
        </a:buClr>
        <a:buFont typeface="Arial" panose="020B0604020202020204"/>
        <a:buChar char="•"/>
        <a:defRPr lang="en-US" sz="2400" kern="1200" dirty="0">
          <a:solidFill>
            <a:srgbClr val="404040"/>
          </a:solidFill>
          <a:latin typeface="+mj-lt"/>
          <a:ea typeface="+mn-ea"/>
          <a:cs typeface="+mn-cs"/>
        </a:defRPr>
      </a:lvl5pPr>
      <a:lvl6pPr marL="33521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3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7365"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4"/>
          <a:stretch>
            <a:fillRect/>
          </a:stretch>
        </p:blipFill>
        <p:spPr>
          <a:xfrm rot="5400000">
            <a:off x="9044630" y="3216843"/>
            <a:ext cx="6858000" cy="424314"/>
          </a:xfrm>
          <a:prstGeom prst="rect">
            <a:avLst/>
          </a:prstGeom>
        </p:spPr>
      </p:pic>
      <p:sp>
        <p:nvSpPr>
          <p:cNvPr id="2" name="Title Placeholder 1"/>
          <p:cNvSpPr>
            <a:spLocks noGrp="1"/>
          </p:cNvSpPr>
          <p:nvPr>
            <p:ph type="title"/>
          </p:nvPr>
        </p:nvSpPr>
        <p:spPr>
          <a:xfrm>
            <a:off x="426424" y="224113"/>
            <a:ext cx="11336039" cy="744014"/>
          </a:xfrm>
          <a:prstGeom prst="rect">
            <a:avLst/>
          </a:prstGeom>
        </p:spPr>
        <p:txBody>
          <a:bodyPr vert="horz" wrap="square" lIns="0" tIns="164592" rIns="0" bIns="0" rtlCol="0" anchor="t">
            <a:noAutofit/>
          </a:bodyPr>
          <a:lstStyle/>
          <a:p>
            <a:r>
              <a:rPr lang="en-US"/>
              <a:t>Click to edit Master title style</a:t>
            </a:r>
            <a:endParaRPr lang="en-US"/>
          </a:p>
        </p:txBody>
      </p:sp>
      <p:sp>
        <p:nvSpPr>
          <p:cNvPr id="4" name="Text Placeholder 3"/>
          <p:cNvSpPr>
            <a:spLocks noGrp="1"/>
          </p:cNvSpPr>
          <p:nvPr>
            <p:ph type="body" idx="1"/>
          </p:nvPr>
        </p:nvSpPr>
        <p:spPr>
          <a:xfrm>
            <a:off x="437320" y="1110106"/>
            <a:ext cx="11336039" cy="2148280"/>
          </a:xfrm>
          <a:prstGeom prst="rect">
            <a:avLst/>
          </a:prstGeom>
        </p:spPr>
        <p:txBody>
          <a:bodyPr vert="horz" wrap="square" lIns="0" tIns="0" rIns="0" bIns="0" rtlCol="0">
            <a:sp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pic>
        <p:nvPicPr>
          <p:cNvPr id="5" name="Picture 4"/>
          <p:cNvPicPr>
            <a:picLocks noChangeAspect="1"/>
          </p:cNvPicPr>
          <p:nvPr userDrawn="1"/>
        </p:nvPicPr>
        <p:blipFill>
          <a:blip r:embed="rId5" cstate="screen"/>
          <a:stretch>
            <a:fillRect/>
          </a:stretch>
        </p:blipFill>
        <p:spPr>
          <a:xfrm rot="5400000">
            <a:off x="9755483" y="3012080"/>
            <a:ext cx="6858623" cy="833218"/>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p:transition>
    <p:fade/>
  </p:transition>
  <p:hf sldNum="0" hdr="0" dt="0"/>
  <p:txStyles>
    <p:titleStyle>
      <a:lvl1pPr algn="l" defTabSz="914400" rtl="0" eaLnBrk="1" latinLnBrk="0" hangingPunct="1">
        <a:lnSpc>
          <a:spcPct val="90000"/>
        </a:lnSpc>
        <a:spcBef>
          <a:spcPct val="0"/>
        </a:spcBef>
        <a:buNone/>
        <a:defRPr lang="en-US" sz="3400" b="0" kern="1200" cap="none" spc="-147" baseline="0" dirty="0" smtClean="0">
          <a:ln w="3175">
            <a:noFill/>
          </a:ln>
          <a:solidFill>
            <a:schemeClr val="tx2"/>
          </a:solidFill>
          <a:effectLst/>
          <a:latin typeface="+mj-lt"/>
          <a:ea typeface="+mn-ea"/>
          <a:cs typeface="Segoe UI" panose="020B0502040204020203" pitchFamily="34" charset="0"/>
        </a:defRPr>
      </a:lvl1pPr>
    </p:titleStyle>
    <p:bodyStyle>
      <a:lvl1pPr marL="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800" kern="1200" spc="0" baseline="0">
          <a:solidFill>
            <a:srgbClr val="000000"/>
          </a:solidFill>
          <a:latin typeface="+mn-lt"/>
          <a:ea typeface="+mn-ea"/>
          <a:cs typeface="+mn-cs"/>
        </a:defRPr>
      </a:lvl1pPr>
      <a:lvl2pPr marL="22415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400" kern="1200" spc="0" baseline="0">
          <a:solidFill>
            <a:srgbClr val="000000"/>
          </a:solidFill>
          <a:latin typeface="+mn-lt"/>
          <a:ea typeface="+mn-ea"/>
          <a:cs typeface="+mn-cs"/>
        </a:defRPr>
      </a:lvl2pPr>
      <a:lvl3pPr marL="44831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800" kern="1200" spc="0" baseline="0">
          <a:solidFill>
            <a:srgbClr val="000000"/>
          </a:solidFill>
          <a:latin typeface="+mj-lt"/>
          <a:ea typeface="+mn-ea"/>
          <a:cs typeface="+mn-cs"/>
        </a:defRPr>
      </a:lvl3pPr>
      <a:lvl4pPr marL="672465" marR="0" indent="0" algn="l" defTabSz="914400" rtl="0" eaLnBrk="1" fontAlgn="auto" latinLnBrk="0" hangingPunct="1">
        <a:lnSpc>
          <a:spcPct val="110000"/>
        </a:lnSpc>
        <a:spcBef>
          <a:spcPts val="0"/>
        </a:spcBef>
        <a:spcAft>
          <a:spcPts val="1200"/>
        </a:spcAft>
        <a:buClrTx/>
        <a:buSzPct val="90000"/>
        <a:buFont typeface="Wingdings" panose="05000000000000000000" pitchFamily="2" charset="2"/>
        <a:buNone/>
        <a:defRPr sz="1600" kern="1200" spc="0" baseline="0">
          <a:solidFill>
            <a:srgbClr val="000000"/>
          </a:solidFill>
          <a:latin typeface="+mn-lt"/>
          <a:ea typeface="+mn-ea"/>
          <a:cs typeface="+mn-cs"/>
        </a:defRPr>
      </a:lvl4pPr>
      <a:lvl5pPr marL="89598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200" kern="1200" spc="0" baseline="0">
          <a:solidFill>
            <a:srgbClr val="000000"/>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9pPr>
    </p:bodyStyle>
    <p:other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165" algn="l" defTabSz="914400" rtl="0" eaLnBrk="1" latinLnBrk="0" hangingPunct="1">
        <a:defRPr sz="1765" kern="1200">
          <a:solidFill>
            <a:schemeClr val="tx1"/>
          </a:solidFill>
          <a:latin typeface="+mn-lt"/>
          <a:ea typeface="+mn-ea"/>
          <a:cs typeface="+mn-cs"/>
        </a:defRPr>
      </a:lvl5pPr>
      <a:lvl6pPr marL="2285365" algn="l" defTabSz="914400" rtl="0" eaLnBrk="1" latinLnBrk="0" hangingPunct="1">
        <a:defRPr sz="1765" kern="1200">
          <a:solidFill>
            <a:schemeClr val="tx1"/>
          </a:solidFill>
          <a:latin typeface="+mn-lt"/>
          <a:ea typeface="+mn-ea"/>
          <a:cs typeface="+mn-cs"/>
        </a:defRPr>
      </a:lvl6pPr>
      <a:lvl7pPr marL="2742565" algn="l" defTabSz="914400" rtl="0" eaLnBrk="1" latinLnBrk="0" hangingPunct="1">
        <a:defRPr sz="1765" kern="1200">
          <a:solidFill>
            <a:schemeClr val="tx1"/>
          </a:solidFill>
          <a:latin typeface="+mn-lt"/>
          <a:ea typeface="+mn-ea"/>
          <a:cs typeface="+mn-cs"/>
        </a:defRPr>
      </a:lvl7pPr>
      <a:lvl8pPr marL="3199765" algn="l" defTabSz="914400" rtl="0" eaLnBrk="1" latinLnBrk="0" hangingPunct="1">
        <a:defRPr sz="1765" kern="1200">
          <a:solidFill>
            <a:schemeClr val="tx1"/>
          </a:solidFill>
          <a:latin typeface="+mn-lt"/>
          <a:ea typeface="+mn-ea"/>
          <a:cs typeface="+mn-cs"/>
        </a:defRPr>
      </a:lvl8pPr>
      <a:lvl9pPr marL="3656965" algn="l" defTabSz="914400" rtl="0" eaLnBrk="1" latinLnBrk="0" hangingPunct="1">
        <a:defRPr sz="176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userDrawn="1"/>
        </p:nvPicPr>
        <p:blipFill rotWithShape="1">
          <a:blip r:embed="rId2"/>
          <a:srcRect l="762"/>
          <a:stretch>
            <a:fillRect/>
          </a:stretch>
        </p:blipFill>
        <p:spPr>
          <a:xfrm rot="5400000">
            <a:off x="9464500" y="2843773"/>
            <a:ext cx="6858000" cy="1170455"/>
          </a:xfrm>
          <a:prstGeom prst="rect">
            <a:avLst/>
          </a:prstGeom>
        </p:spPr>
      </p:pic>
    </p:spTree>
  </p:cSld>
  <p:clrMap bg1="lt1" tx1="dk1" bg2="lt2" tx2="dk2" accent1="accent1" accent2="accent2" accent3="accent3" accent4="accent4" accent5="accent5" accent6="accent6" hlink="hlink" folHlink="folHlink"/>
  <p:sldLayoutIdLst>
    <p:sldLayoutId id="2147483668" r:id="rId1"/>
  </p:sldLayoutIdLst>
  <p:transition>
    <p:fade/>
  </p:transition>
  <p:hf sldNum="0" hd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userDrawn="1"/>
        </p:nvPicPr>
        <p:blipFill rotWithShape="1">
          <a:blip r:embed="rId2"/>
          <a:srcRect l="762"/>
          <a:stretch>
            <a:fillRect/>
          </a:stretch>
        </p:blipFill>
        <p:spPr>
          <a:xfrm rot="5400000">
            <a:off x="9464500" y="2843773"/>
            <a:ext cx="6858000" cy="1170455"/>
          </a:xfrm>
          <a:prstGeom prst="rect">
            <a:avLst/>
          </a:prstGeom>
        </p:spPr>
      </p:pic>
    </p:spTree>
  </p:cSld>
  <p:clrMap bg1="lt1" tx1="dk1" bg2="lt2" tx2="dk2" accent1="accent1" accent2="accent2" accent3="accent3" accent4="accent4" accent5="accent5" accent6="accent6" hlink="hlink" folHlink="folHlink"/>
  <p:sldLayoutIdLst>
    <p:sldLayoutId id="2147483670" r:id="rId1"/>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userDrawn="1"/>
        </p:nvPicPr>
        <p:blipFill rotWithShape="1">
          <a:blip r:embed="rId5"/>
          <a:srcRect l="762"/>
          <a:stretch>
            <a:fillRect/>
          </a:stretch>
        </p:blipFill>
        <p:spPr>
          <a:xfrm rot="5400000">
            <a:off x="9464500" y="2843773"/>
            <a:ext cx="6858000" cy="1170455"/>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userDrawn="1"/>
        </p:nvPicPr>
        <p:blipFill rotWithShape="1">
          <a:blip r:embed="rId1"/>
          <a:srcRect l="762"/>
          <a:stretch>
            <a:fillRect/>
          </a:stretch>
        </p:blipFill>
        <p:spPr>
          <a:xfrm rot="5400000">
            <a:off x="9464500" y="2843773"/>
            <a:ext cx="6858000" cy="1170455"/>
          </a:xfrm>
          <a:prstGeom prst="rect">
            <a:avLst/>
          </a:prstGeom>
        </p:spPr>
      </p:pic>
    </p:spTree>
  </p:cSld>
  <p:clrMap bg1="lt1" tx1="dk1" bg2="lt2" tx2="dk2" accent1="accent1" accent2="accent2" accent3="accent3" accent4="accent4" accent5="accent5" accent6="accent6" hlink="hlink" folHlink="folHlink"/>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6"/>
          <a:stretch>
            <a:fillRect/>
          </a:stretch>
        </p:blipFill>
        <p:spPr>
          <a:xfrm rot="5400000">
            <a:off x="9044630" y="3216843"/>
            <a:ext cx="6858000" cy="424314"/>
          </a:xfrm>
          <a:prstGeom prst="rect">
            <a:avLst/>
          </a:prstGeom>
        </p:spPr>
      </p:pic>
      <p:sp>
        <p:nvSpPr>
          <p:cNvPr id="2" name="Title Placeholder 1"/>
          <p:cNvSpPr>
            <a:spLocks noGrp="1"/>
          </p:cNvSpPr>
          <p:nvPr>
            <p:ph type="title"/>
          </p:nvPr>
        </p:nvSpPr>
        <p:spPr>
          <a:xfrm>
            <a:off x="426424" y="224113"/>
            <a:ext cx="11336039" cy="744014"/>
          </a:xfrm>
          <a:prstGeom prst="rect">
            <a:avLst/>
          </a:prstGeom>
        </p:spPr>
        <p:txBody>
          <a:bodyPr vert="horz" wrap="square" lIns="0" tIns="164592" rIns="0" bIns="0" rtlCol="0" anchor="t">
            <a:noAutofit/>
          </a:bodyPr>
          <a:lstStyle/>
          <a:p>
            <a:r>
              <a:rPr lang="en-US"/>
              <a:t>Click to edit Master title style</a:t>
            </a:r>
            <a:endParaRPr lang="en-US"/>
          </a:p>
        </p:txBody>
      </p:sp>
      <p:sp>
        <p:nvSpPr>
          <p:cNvPr id="4" name="Text Placeholder 3"/>
          <p:cNvSpPr>
            <a:spLocks noGrp="1"/>
          </p:cNvSpPr>
          <p:nvPr>
            <p:ph type="body" idx="1"/>
          </p:nvPr>
        </p:nvSpPr>
        <p:spPr>
          <a:xfrm>
            <a:off x="437320" y="1110106"/>
            <a:ext cx="11336039" cy="2148280"/>
          </a:xfrm>
          <a:prstGeom prst="rect">
            <a:avLst/>
          </a:prstGeom>
        </p:spPr>
        <p:txBody>
          <a:bodyPr vert="horz" wrap="square" lIns="0" tIns="0" rIns="0" bIns="0" rtlCol="0">
            <a:sp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pic>
        <p:nvPicPr>
          <p:cNvPr id="5" name="Picture 4"/>
          <p:cNvPicPr>
            <a:picLocks noChangeAspect="1"/>
          </p:cNvPicPr>
          <p:nvPr userDrawn="1"/>
        </p:nvPicPr>
        <p:blipFill>
          <a:blip r:embed="rId7" cstate="screen"/>
          <a:stretch>
            <a:fillRect/>
          </a:stretch>
        </p:blipFill>
        <p:spPr>
          <a:xfrm rot="5400000">
            <a:off x="9755483" y="3012080"/>
            <a:ext cx="6858623" cy="833218"/>
          </a:xfrm>
          <a:prstGeom prst="rect">
            <a:avLst/>
          </a:prstGeom>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Lst>
  <p:transition>
    <p:fade/>
  </p:transition>
  <p:hf sldNum="0" hdr="0" dt="0"/>
  <p:txStyles>
    <p:titleStyle>
      <a:lvl1pPr algn="l" defTabSz="914400" rtl="0" eaLnBrk="1" latinLnBrk="0" hangingPunct="1">
        <a:lnSpc>
          <a:spcPct val="90000"/>
        </a:lnSpc>
        <a:spcBef>
          <a:spcPct val="0"/>
        </a:spcBef>
        <a:buNone/>
        <a:defRPr lang="en-US" sz="3400" b="0" kern="1200" cap="none" spc="-147" baseline="0" dirty="0" smtClean="0">
          <a:ln w="3175">
            <a:noFill/>
          </a:ln>
          <a:solidFill>
            <a:schemeClr val="tx2"/>
          </a:solidFill>
          <a:effectLst/>
          <a:latin typeface="+mj-lt"/>
          <a:ea typeface="+mn-ea"/>
          <a:cs typeface="Segoe UI" panose="020B0502040204020203" pitchFamily="34" charset="0"/>
        </a:defRPr>
      </a:lvl1pPr>
    </p:titleStyle>
    <p:bodyStyle>
      <a:lvl1pPr marL="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800" kern="1200" spc="0" baseline="0">
          <a:solidFill>
            <a:srgbClr val="000000"/>
          </a:solidFill>
          <a:latin typeface="+mn-lt"/>
          <a:ea typeface="+mn-ea"/>
          <a:cs typeface="+mn-cs"/>
        </a:defRPr>
      </a:lvl1pPr>
      <a:lvl2pPr marL="22415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400" kern="1200" spc="0" baseline="0">
          <a:solidFill>
            <a:srgbClr val="000000"/>
          </a:solidFill>
          <a:latin typeface="+mn-lt"/>
          <a:ea typeface="+mn-ea"/>
          <a:cs typeface="+mn-cs"/>
        </a:defRPr>
      </a:lvl2pPr>
      <a:lvl3pPr marL="44831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800" kern="1200" spc="0" baseline="0">
          <a:solidFill>
            <a:srgbClr val="000000"/>
          </a:solidFill>
          <a:latin typeface="+mj-lt"/>
          <a:ea typeface="+mn-ea"/>
          <a:cs typeface="+mn-cs"/>
        </a:defRPr>
      </a:lvl3pPr>
      <a:lvl4pPr marL="672465" marR="0" indent="0" algn="l" defTabSz="914400" rtl="0" eaLnBrk="1" fontAlgn="auto" latinLnBrk="0" hangingPunct="1">
        <a:lnSpc>
          <a:spcPct val="110000"/>
        </a:lnSpc>
        <a:spcBef>
          <a:spcPts val="0"/>
        </a:spcBef>
        <a:spcAft>
          <a:spcPts val="1200"/>
        </a:spcAft>
        <a:buClrTx/>
        <a:buSzPct val="90000"/>
        <a:buFont typeface="Wingdings" panose="05000000000000000000" pitchFamily="2" charset="2"/>
        <a:buNone/>
        <a:defRPr sz="1600" kern="1200" spc="0" baseline="0">
          <a:solidFill>
            <a:srgbClr val="000000"/>
          </a:solidFill>
          <a:latin typeface="+mn-lt"/>
          <a:ea typeface="+mn-ea"/>
          <a:cs typeface="+mn-cs"/>
        </a:defRPr>
      </a:lvl4pPr>
      <a:lvl5pPr marL="89598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200" kern="1200" spc="0" baseline="0">
          <a:solidFill>
            <a:srgbClr val="000000"/>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9pPr>
    </p:bodyStyle>
    <p:other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165" algn="l" defTabSz="914400" rtl="0" eaLnBrk="1" latinLnBrk="0" hangingPunct="1">
        <a:defRPr sz="1765" kern="1200">
          <a:solidFill>
            <a:schemeClr val="tx1"/>
          </a:solidFill>
          <a:latin typeface="+mn-lt"/>
          <a:ea typeface="+mn-ea"/>
          <a:cs typeface="+mn-cs"/>
        </a:defRPr>
      </a:lvl5pPr>
      <a:lvl6pPr marL="2285365" algn="l" defTabSz="914400" rtl="0" eaLnBrk="1" latinLnBrk="0" hangingPunct="1">
        <a:defRPr sz="1765" kern="1200">
          <a:solidFill>
            <a:schemeClr val="tx1"/>
          </a:solidFill>
          <a:latin typeface="+mn-lt"/>
          <a:ea typeface="+mn-ea"/>
          <a:cs typeface="+mn-cs"/>
        </a:defRPr>
      </a:lvl6pPr>
      <a:lvl7pPr marL="2742565" algn="l" defTabSz="914400" rtl="0" eaLnBrk="1" latinLnBrk="0" hangingPunct="1">
        <a:defRPr sz="1765" kern="1200">
          <a:solidFill>
            <a:schemeClr val="tx1"/>
          </a:solidFill>
          <a:latin typeface="+mn-lt"/>
          <a:ea typeface="+mn-ea"/>
          <a:cs typeface="+mn-cs"/>
        </a:defRPr>
      </a:lvl7pPr>
      <a:lvl8pPr marL="3199765" algn="l" defTabSz="914400" rtl="0" eaLnBrk="1" latinLnBrk="0" hangingPunct="1">
        <a:defRPr sz="1765" kern="1200">
          <a:solidFill>
            <a:schemeClr val="tx1"/>
          </a:solidFill>
          <a:latin typeface="+mn-lt"/>
          <a:ea typeface="+mn-ea"/>
          <a:cs typeface="+mn-cs"/>
        </a:defRPr>
      </a:lvl8pPr>
      <a:lvl9pPr marL="3656965" algn="l" defTabSz="914400" rtl="0" eaLnBrk="1" latinLnBrk="0" hangingPunct="1">
        <a:defRPr sz="1765"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pic>
        <p:nvPicPr>
          <p:cNvPr id="49" name="NEW Brand Colors 2018"/>
          <p:cNvPicPr>
            <a:picLocks noChangeAspect="1"/>
          </p:cNvPicPr>
          <p:nvPr userDrawn="1"/>
        </p:nvPicPr>
        <p:blipFill>
          <a:blip r:embed="rId2" cstate="screen"/>
          <a:stretch>
            <a:fillRect/>
          </a:stretch>
        </p:blipFill>
        <p:spPr>
          <a:xfrm rot="5400000">
            <a:off x="9288988" y="2942644"/>
            <a:ext cx="6858000" cy="972712"/>
          </a:xfrm>
          <a:prstGeom prst="rect">
            <a:avLst/>
          </a:prstGeom>
        </p:spPr>
      </p:pic>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Tree>
  </p:cSld>
  <p:clrMap bg1="lt1" tx1="dk1" bg2="lt2" tx2="dk2" accent1="accent1" accent2="accent2" accent3="accent3" accent4="accent4" accent5="accent5" accent6="accent6" hlink="hlink" folHlink="folHlink"/>
  <p:sldLayoutIdLst>
    <p:sldLayoutId id="2147483684" r:id="rId1"/>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accent3"/>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7"/>
          <a:stretch>
            <a:fillRect/>
          </a:stretch>
        </p:blipFill>
        <p:spPr>
          <a:xfrm rot="5400000">
            <a:off x="9044630" y="3216843"/>
            <a:ext cx="6858000" cy="424314"/>
          </a:xfrm>
          <a:prstGeom prst="rect">
            <a:avLst/>
          </a:prstGeom>
        </p:spPr>
      </p:pic>
      <p:sp>
        <p:nvSpPr>
          <p:cNvPr id="2" name="Title Placeholder 1"/>
          <p:cNvSpPr>
            <a:spLocks noGrp="1"/>
          </p:cNvSpPr>
          <p:nvPr>
            <p:ph type="title"/>
          </p:nvPr>
        </p:nvSpPr>
        <p:spPr>
          <a:xfrm>
            <a:off x="426424" y="224113"/>
            <a:ext cx="11336039" cy="744014"/>
          </a:xfrm>
          <a:prstGeom prst="rect">
            <a:avLst/>
          </a:prstGeom>
        </p:spPr>
        <p:txBody>
          <a:bodyPr vert="horz" wrap="square" lIns="0" tIns="164592" rIns="0" bIns="0" rtlCol="0" anchor="t">
            <a:noAutofit/>
          </a:bodyPr>
          <a:lstStyle/>
          <a:p>
            <a:r>
              <a:rPr lang="en-US"/>
              <a:t>Click to edit Master title style</a:t>
            </a:r>
            <a:endParaRPr lang="en-US"/>
          </a:p>
        </p:txBody>
      </p:sp>
      <p:sp>
        <p:nvSpPr>
          <p:cNvPr id="4" name="Text Placeholder 3"/>
          <p:cNvSpPr>
            <a:spLocks noGrp="1"/>
          </p:cNvSpPr>
          <p:nvPr>
            <p:ph type="body" idx="1"/>
          </p:nvPr>
        </p:nvSpPr>
        <p:spPr>
          <a:xfrm>
            <a:off x="437320" y="1110106"/>
            <a:ext cx="11336039" cy="2148280"/>
          </a:xfrm>
          <a:prstGeom prst="rect">
            <a:avLst/>
          </a:prstGeom>
        </p:spPr>
        <p:txBody>
          <a:bodyPr vert="horz" wrap="square" lIns="0" tIns="0" rIns="0" bIns="0" rtlCol="0">
            <a:sp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pic>
        <p:nvPicPr>
          <p:cNvPr id="5" name="Picture 4"/>
          <p:cNvPicPr>
            <a:picLocks noChangeAspect="1"/>
          </p:cNvPicPr>
          <p:nvPr userDrawn="1"/>
        </p:nvPicPr>
        <p:blipFill>
          <a:blip r:embed="rId8" cstate="screen"/>
          <a:stretch>
            <a:fillRect/>
          </a:stretch>
        </p:blipFill>
        <p:spPr>
          <a:xfrm rot="5400000">
            <a:off x="9755483" y="3012080"/>
            <a:ext cx="6858623" cy="833218"/>
          </a:xfrm>
          <a:prstGeom prst="rect">
            <a:avLst/>
          </a:prstGeom>
        </p:spPr>
      </p:pic>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Lst>
  <p:transition>
    <p:fade/>
  </p:transition>
  <p:hf sldNum="0" hdr="0" dt="0"/>
  <p:txStyles>
    <p:titleStyle>
      <a:lvl1pPr algn="l" defTabSz="914400" rtl="0" eaLnBrk="1" latinLnBrk="0" hangingPunct="1">
        <a:lnSpc>
          <a:spcPct val="90000"/>
        </a:lnSpc>
        <a:spcBef>
          <a:spcPct val="0"/>
        </a:spcBef>
        <a:buNone/>
        <a:defRPr lang="en-US" sz="3400" b="0" kern="1200" cap="none" spc="-147" baseline="0" dirty="0" smtClean="0">
          <a:ln w="3175">
            <a:noFill/>
          </a:ln>
          <a:solidFill>
            <a:schemeClr val="tx2"/>
          </a:solidFill>
          <a:effectLst/>
          <a:latin typeface="+mj-lt"/>
          <a:ea typeface="+mn-ea"/>
          <a:cs typeface="Segoe UI" panose="020B0502040204020203" pitchFamily="34" charset="0"/>
        </a:defRPr>
      </a:lvl1pPr>
    </p:titleStyle>
    <p:bodyStyle>
      <a:lvl1pPr marL="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800" kern="1200" spc="0" baseline="0">
          <a:solidFill>
            <a:srgbClr val="000000"/>
          </a:solidFill>
          <a:latin typeface="+mn-lt"/>
          <a:ea typeface="+mn-ea"/>
          <a:cs typeface="+mn-cs"/>
        </a:defRPr>
      </a:lvl1pPr>
      <a:lvl2pPr marL="22415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2400" kern="1200" spc="0" baseline="0">
          <a:solidFill>
            <a:srgbClr val="000000"/>
          </a:solidFill>
          <a:latin typeface="+mn-lt"/>
          <a:ea typeface="+mn-ea"/>
          <a:cs typeface="+mn-cs"/>
        </a:defRPr>
      </a:lvl2pPr>
      <a:lvl3pPr marL="448310"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800" kern="1200" spc="0" baseline="0">
          <a:solidFill>
            <a:srgbClr val="000000"/>
          </a:solidFill>
          <a:latin typeface="+mj-lt"/>
          <a:ea typeface="+mn-ea"/>
          <a:cs typeface="+mn-cs"/>
        </a:defRPr>
      </a:lvl3pPr>
      <a:lvl4pPr marL="672465" marR="0" indent="0" algn="l" defTabSz="914400" rtl="0" eaLnBrk="1" fontAlgn="auto" latinLnBrk="0" hangingPunct="1">
        <a:lnSpc>
          <a:spcPct val="110000"/>
        </a:lnSpc>
        <a:spcBef>
          <a:spcPts val="0"/>
        </a:spcBef>
        <a:spcAft>
          <a:spcPts val="1200"/>
        </a:spcAft>
        <a:buClrTx/>
        <a:buSzPct val="90000"/>
        <a:buFont typeface="Wingdings" panose="05000000000000000000" pitchFamily="2" charset="2"/>
        <a:buNone/>
        <a:defRPr sz="1600" kern="1200" spc="0" baseline="0">
          <a:solidFill>
            <a:srgbClr val="000000"/>
          </a:solidFill>
          <a:latin typeface="+mn-lt"/>
          <a:ea typeface="+mn-ea"/>
          <a:cs typeface="+mn-cs"/>
        </a:defRPr>
      </a:lvl4pPr>
      <a:lvl5pPr marL="895985" marR="0" indent="0" algn="l" defTabSz="914400" rtl="0" eaLnBrk="1" fontAlgn="auto" latinLnBrk="0" hangingPunct="1">
        <a:lnSpc>
          <a:spcPct val="100000"/>
        </a:lnSpc>
        <a:spcBef>
          <a:spcPts val="0"/>
        </a:spcBef>
        <a:spcAft>
          <a:spcPts val="1200"/>
        </a:spcAft>
        <a:buClrTx/>
        <a:buSzPct val="90000"/>
        <a:buFont typeface="Wingdings" panose="05000000000000000000" pitchFamily="2" charset="2"/>
        <a:buNone/>
        <a:defRPr sz="1200" kern="1200" spc="0" baseline="0">
          <a:solidFill>
            <a:srgbClr val="000000"/>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1960" kern="1200">
          <a:solidFill>
            <a:schemeClr val="tx1"/>
          </a:solidFill>
          <a:latin typeface="+mn-lt"/>
          <a:ea typeface="+mn-ea"/>
          <a:cs typeface="+mn-cs"/>
        </a:defRPr>
      </a:lvl9pPr>
    </p:bodyStyle>
    <p:other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165" algn="l" defTabSz="914400" rtl="0" eaLnBrk="1" latinLnBrk="0" hangingPunct="1">
        <a:defRPr sz="1765" kern="1200">
          <a:solidFill>
            <a:schemeClr val="tx1"/>
          </a:solidFill>
          <a:latin typeface="+mn-lt"/>
          <a:ea typeface="+mn-ea"/>
          <a:cs typeface="+mn-cs"/>
        </a:defRPr>
      </a:lvl5pPr>
      <a:lvl6pPr marL="2285365" algn="l" defTabSz="914400" rtl="0" eaLnBrk="1" latinLnBrk="0" hangingPunct="1">
        <a:defRPr sz="1765" kern="1200">
          <a:solidFill>
            <a:schemeClr val="tx1"/>
          </a:solidFill>
          <a:latin typeface="+mn-lt"/>
          <a:ea typeface="+mn-ea"/>
          <a:cs typeface="+mn-cs"/>
        </a:defRPr>
      </a:lvl6pPr>
      <a:lvl7pPr marL="2742565" algn="l" defTabSz="914400" rtl="0" eaLnBrk="1" latinLnBrk="0" hangingPunct="1">
        <a:defRPr sz="1765" kern="1200">
          <a:solidFill>
            <a:schemeClr val="tx1"/>
          </a:solidFill>
          <a:latin typeface="+mn-lt"/>
          <a:ea typeface="+mn-ea"/>
          <a:cs typeface="+mn-cs"/>
        </a:defRPr>
      </a:lvl7pPr>
      <a:lvl8pPr marL="3199765" algn="l" defTabSz="914400" rtl="0" eaLnBrk="1" latinLnBrk="0" hangingPunct="1">
        <a:defRPr sz="1765" kern="1200">
          <a:solidFill>
            <a:schemeClr val="tx1"/>
          </a:solidFill>
          <a:latin typeface="+mn-lt"/>
          <a:ea typeface="+mn-ea"/>
          <a:cs typeface="+mn-cs"/>
        </a:defRPr>
      </a:lvl8pPr>
      <a:lvl9pPr marL="3656965" algn="l" defTabSz="914400" rtl="0" eaLnBrk="1" latinLnBrk="0" hangingPunct="1">
        <a:defRPr sz="1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jpeg"/><Relationship Id="rId2" Type="http://schemas.openxmlformats.org/officeDocument/2006/relationships/image" Target="../media/image19.png"/><Relationship Id="rId10" Type="http://schemas.openxmlformats.org/officeDocument/2006/relationships/notesSlide" Target="../notesSlides/notesSlide5.xml"/><Relationship Id="rId1" Type="http://schemas.openxmlformats.org/officeDocument/2006/relationships/image" Target="../media/image1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30.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34.jpeg"/><Relationship Id="rId1" Type="http://schemas.openxmlformats.org/officeDocument/2006/relationships/image" Target="../media/image33.jpe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image" Target="../media/image41.png"/><Relationship Id="rId1"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
          </a:xfrm>
          <a:prstGeom prst="rect">
            <a:avLst/>
          </a:prstGeom>
          <a:solidFill>
            <a:srgbClr val="DBDBDB"/>
          </a:solidFill>
        </p:spPr>
        <p:txBody>
          <a:bodyPr/>
          <a:lstStyle/>
          <a:p>
            <a:endParaRPr lang="en-US" dirty="0"/>
          </a:p>
        </p:txBody>
      </p:sp>
      <p:grpSp>
        <p:nvGrpSpPr>
          <p:cNvPr id="3" name="Group 3"/>
          <p:cNvGrpSpPr/>
          <p:nvPr/>
        </p:nvGrpSpPr>
        <p:grpSpPr>
          <a:xfrm>
            <a:off x="353555" y="239392"/>
            <a:ext cx="207016" cy="207016"/>
            <a:chOff x="0" y="0"/>
            <a:chExt cx="6350000" cy="6350000"/>
          </a:xfrm>
        </p:grpSpPr>
        <p:sp>
          <p:nvSpPr>
            <p:cNvPr id="4" name="Freeform 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75B3F"/>
            </a:solidFill>
          </p:spPr>
        </p:sp>
      </p:grpSp>
      <p:grpSp>
        <p:nvGrpSpPr>
          <p:cNvPr id="5" name="Group 5"/>
          <p:cNvGrpSpPr/>
          <p:nvPr/>
        </p:nvGrpSpPr>
        <p:grpSpPr>
          <a:xfrm>
            <a:off x="682339" y="239392"/>
            <a:ext cx="207016" cy="207016"/>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C866"/>
            </a:solidFill>
          </p:spPr>
        </p:sp>
      </p:grpSp>
      <p:grpSp>
        <p:nvGrpSpPr>
          <p:cNvPr id="7" name="Group 7"/>
          <p:cNvGrpSpPr/>
          <p:nvPr/>
        </p:nvGrpSpPr>
        <p:grpSpPr>
          <a:xfrm>
            <a:off x="1018045" y="239392"/>
            <a:ext cx="207016" cy="207016"/>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2BB2F"/>
            </a:solidFill>
          </p:spPr>
        </p:sp>
      </p:grpSp>
      <p:sp>
        <p:nvSpPr>
          <p:cNvPr id="11" name="Freeform 11"/>
          <p:cNvSpPr/>
          <p:nvPr/>
        </p:nvSpPr>
        <p:spPr>
          <a:xfrm>
            <a:off x="7123069" y="2071026"/>
            <a:ext cx="3927000" cy="3018198"/>
          </a:xfrm>
          <a:custGeom>
            <a:avLst/>
            <a:gdLst/>
            <a:ahLst/>
            <a:cxnLst/>
            <a:rect l="l" t="t" r="r" b="b"/>
            <a:pathLst>
              <a:path w="5890500" h="5883136">
                <a:moveTo>
                  <a:pt x="0" y="0"/>
                </a:moveTo>
                <a:lnTo>
                  <a:pt x="5890500" y="0"/>
                </a:lnTo>
                <a:lnTo>
                  <a:pt x="5890500" y="5883136"/>
                </a:lnTo>
                <a:lnTo>
                  <a:pt x="0" y="5883136"/>
                </a:lnTo>
                <a:lnTo>
                  <a:pt x="0" y="0"/>
                </a:lnTo>
                <a:close/>
              </a:path>
            </a:pathLst>
          </a:custGeom>
          <a:blipFill>
            <a:blip r:embed="rId1"/>
            <a:stretch>
              <a:fillRect/>
            </a:stretch>
          </a:blipFill>
        </p:spPr>
      </p:sp>
      <p:sp>
        <p:nvSpPr>
          <p:cNvPr id="15" name="Freeform 15"/>
          <p:cNvSpPr/>
          <p:nvPr/>
        </p:nvSpPr>
        <p:spPr>
          <a:xfrm>
            <a:off x="1141931" y="4515886"/>
            <a:ext cx="4646936" cy="123491"/>
          </a:xfrm>
          <a:custGeom>
            <a:avLst/>
            <a:gdLst/>
            <a:ahLst/>
            <a:cxnLst/>
            <a:rect l="l" t="t" r="r" b="b"/>
            <a:pathLst>
              <a:path w="6970404" h="365946">
                <a:moveTo>
                  <a:pt x="0" y="0"/>
                </a:moveTo>
                <a:lnTo>
                  <a:pt x="6970404" y="0"/>
                </a:lnTo>
                <a:lnTo>
                  <a:pt x="6970404" y="365946"/>
                </a:lnTo>
                <a:lnTo>
                  <a:pt x="0" y="365946"/>
                </a:lnTo>
                <a:lnTo>
                  <a:pt x="0" y="0"/>
                </a:lnTo>
                <a:close/>
              </a:path>
            </a:pathLst>
          </a:custGeom>
          <a:blipFill>
            <a:blip r:embed="rId2"/>
            <a:stretch>
              <a:fillRect/>
            </a:stretch>
          </a:blipFill>
        </p:spPr>
      </p:sp>
      <p:sp>
        <p:nvSpPr>
          <p:cNvPr id="17" name="TextBox 17"/>
          <p:cNvSpPr txBox="1"/>
          <p:nvPr/>
        </p:nvSpPr>
        <p:spPr>
          <a:xfrm>
            <a:off x="1256868" y="1902476"/>
            <a:ext cx="5981136" cy="2186689"/>
          </a:xfrm>
          <a:prstGeom prst="rect">
            <a:avLst/>
          </a:prstGeom>
        </p:spPr>
        <p:txBody>
          <a:bodyPr wrap="square" lIns="0" tIns="0" rIns="0" bIns="0" rtlCol="0" anchor="t">
            <a:spAutoFit/>
          </a:bodyPr>
          <a:lstStyle/>
          <a:p>
            <a:pPr>
              <a:lnSpc>
                <a:spcPts val="9100"/>
              </a:lnSpc>
            </a:pPr>
            <a:r>
              <a:rPr lang="en-US" sz="4400" dirty="0"/>
              <a:t>Introduction To </a:t>
            </a:r>
            <a:endParaRPr lang="en-US" sz="4400" dirty="0"/>
          </a:p>
          <a:p>
            <a:pPr>
              <a:lnSpc>
                <a:spcPts val="9100"/>
              </a:lnSpc>
            </a:pPr>
            <a:r>
              <a:rPr lang="en-US" sz="4400" dirty="0"/>
              <a:t>ROS </a:t>
            </a:r>
            <a:r>
              <a:rPr lang="en-US" sz="4400" dirty="0">
                <a:solidFill>
                  <a:srgbClr val="FF0000"/>
                </a:solidFill>
              </a:rPr>
              <a:t>MoveIt</a:t>
            </a:r>
            <a:endParaRPr lang="en-US" sz="4400" dirty="0">
              <a:solidFill>
                <a:srgbClr val="FF0000"/>
              </a:solidFill>
              <a:latin typeface="TT Hoves"/>
              <a:ea typeface="TT Hoves"/>
              <a:cs typeface="TT Hoves"/>
              <a:sym typeface="TT Hoves"/>
            </a:endParaRPr>
          </a:p>
        </p:txBody>
      </p:sp>
      <p:grpSp>
        <p:nvGrpSpPr>
          <p:cNvPr id="19" name="Group 19"/>
          <p:cNvGrpSpPr/>
          <p:nvPr/>
        </p:nvGrpSpPr>
        <p:grpSpPr>
          <a:xfrm>
            <a:off x="8383607" y="5070123"/>
            <a:ext cx="1405923" cy="602789"/>
            <a:chOff x="0" y="0"/>
            <a:chExt cx="2811845" cy="1205579"/>
          </a:xfrm>
        </p:grpSpPr>
        <p:sp>
          <p:nvSpPr>
            <p:cNvPr id="20" name="Freeform 20"/>
            <p:cNvSpPr/>
            <p:nvPr/>
          </p:nvSpPr>
          <p:spPr>
            <a:xfrm>
              <a:off x="0" y="0"/>
              <a:ext cx="2811845" cy="1205579"/>
            </a:xfrm>
            <a:custGeom>
              <a:avLst/>
              <a:gdLst/>
              <a:ahLst/>
              <a:cxnLst/>
              <a:rect l="l" t="t" r="r" b="b"/>
              <a:pathLst>
                <a:path w="2811845" h="1205579">
                  <a:moveTo>
                    <a:pt x="0" y="0"/>
                  </a:moveTo>
                  <a:lnTo>
                    <a:pt x="2811845" y="0"/>
                  </a:lnTo>
                  <a:lnTo>
                    <a:pt x="2811845" y="1205579"/>
                  </a:lnTo>
                  <a:lnTo>
                    <a:pt x="0" y="1205579"/>
                  </a:lnTo>
                  <a:lnTo>
                    <a:pt x="0" y="0"/>
                  </a:lnTo>
                  <a:close/>
                </a:path>
              </a:pathLst>
            </a:custGeom>
            <a:blipFill>
              <a:blip r:embed="rId3"/>
              <a:stretch>
                <a:fillRect/>
              </a:stretch>
            </a:blipFill>
          </p:spPr>
        </p:sp>
        <p:grpSp>
          <p:nvGrpSpPr>
            <p:cNvPr id="21" name="Group 21"/>
            <p:cNvGrpSpPr/>
            <p:nvPr/>
          </p:nvGrpSpPr>
          <p:grpSpPr>
            <a:xfrm>
              <a:off x="784229" y="448855"/>
              <a:ext cx="1243387" cy="307869"/>
              <a:chOff x="0" y="0"/>
              <a:chExt cx="2051651" cy="508000"/>
            </a:xfrm>
          </p:grpSpPr>
          <p:sp>
            <p:nvSpPr>
              <p:cNvPr id="22" name="Freeform 22"/>
              <p:cNvSpPr/>
              <p:nvPr/>
            </p:nvSpPr>
            <p:spPr>
              <a:xfrm>
                <a:off x="0" y="215900"/>
                <a:ext cx="1755741" cy="76200"/>
              </a:xfrm>
              <a:custGeom>
                <a:avLst/>
                <a:gdLst/>
                <a:ahLst/>
                <a:cxnLst/>
                <a:rect l="l" t="t" r="r" b="b"/>
                <a:pathLst>
                  <a:path w="1755741" h="76200">
                    <a:moveTo>
                      <a:pt x="0" y="0"/>
                    </a:moveTo>
                    <a:lnTo>
                      <a:pt x="1755741" y="0"/>
                    </a:lnTo>
                    <a:lnTo>
                      <a:pt x="1755741" y="76200"/>
                    </a:lnTo>
                    <a:lnTo>
                      <a:pt x="0" y="76200"/>
                    </a:lnTo>
                    <a:close/>
                  </a:path>
                </a:pathLst>
              </a:custGeom>
              <a:solidFill>
                <a:srgbClr val="D75B3F"/>
              </a:solidFill>
            </p:spPr>
          </p:sp>
          <p:sp>
            <p:nvSpPr>
              <p:cNvPr id="23" name="Freeform 23"/>
              <p:cNvSpPr/>
              <p:nvPr/>
            </p:nvSpPr>
            <p:spPr>
              <a:xfrm>
                <a:off x="1677001" y="1270"/>
                <a:ext cx="374650" cy="505460"/>
              </a:xfrm>
              <a:custGeom>
                <a:avLst/>
                <a:gdLst/>
                <a:ahLst/>
                <a:cxnLst/>
                <a:rect l="l" t="t" r="r" b="b"/>
                <a:pathLst>
                  <a:path w="374650" h="505460">
                    <a:moveTo>
                      <a:pt x="0" y="505460"/>
                    </a:moveTo>
                    <a:lnTo>
                      <a:pt x="0" y="0"/>
                    </a:lnTo>
                    <a:lnTo>
                      <a:pt x="374650" y="252730"/>
                    </a:lnTo>
                    <a:close/>
                  </a:path>
                </a:pathLst>
              </a:custGeom>
              <a:solidFill>
                <a:srgbClr val="D75B3F"/>
              </a:solidFill>
            </p:spPr>
          </p:sp>
        </p:grpSp>
      </p:grpSp>
      <p:pic>
        <p:nvPicPr>
          <p:cNvPr id="10" name="Picture 9"/>
          <p:cNvPicPr>
            <a:picLocks noChangeAspect="1"/>
          </p:cNvPicPr>
          <p:nvPr/>
        </p:nvPicPr>
        <p:blipFill>
          <a:blip r:embed="rId4"/>
          <a:stretch>
            <a:fillRect/>
          </a:stretch>
        </p:blipFill>
        <p:spPr>
          <a:xfrm>
            <a:off x="7261189" y="2383544"/>
            <a:ext cx="3561092" cy="2374061"/>
          </a:xfrm>
          <a:prstGeom prst="rect">
            <a:avLst/>
          </a:prstGeom>
          <a:ln>
            <a:noFill/>
          </a:ln>
          <a:effectLst>
            <a:softEdge rad="112500"/>
          </a:effec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18584" y="3245419"/>
            <a:ext cx="9808734" cy="1793104"/>
          </a:xfrm>
        </p:spPr>
        <p:txBody>
          <a:bodyPr anchor="ctr"/>
          <a:lstStyle/>
          <a:p>
            <a:r>
              <a:rPr lang="en-US" sz="4400" dirty="0">
                <a:solidFill>
                  <a:schemeClr val="tx2"/>
                </a:solidFill>
              </a:rPr>
              <a:t>Using ROS MoveIt &amp; Navigation Stack</a:t>
            </a:r>
            <a:br>
              <a:rPr lang="en-US" dirty="0">
                <a:solidFill>
                  <a:schemeClr val="tx2"/>
                </a:solidFill>
              </a:rPr>
            </a:br>
            <a:br>
              <a:rPr lang="en-US" dirty="0">
                <a:solidFill>
                  <a:schemeClr val="tx2"/>
                </a:solidFill>
              </a:rPr>
            </a:br>
            <a:endParaRPr lang="en-US" sz="3600" dirty="0">
              <a:solidFill>
                <a:schemeClr val="tx2"/>
              </a:solidFill>
            </a:endParaRPr>
          </a:p>
        </p:txBody>
      </p:sp>
      <p:pic>
        <p:nvPicPr>
          <p:cNvPr id="6" name="Picture 5"/>
          <p:cNvPicPr>
            <a:picLocks noChangeAspect="1"/>
          </p:cNvPicPr>
          <p:nvPr/>
        </p:nvPicPr>
        <p:blipFill>
          <a:blip r:embed="rId1"/>
          <a:stretch>
            <a:fillRect/>
          </a:stretch>
        </p:blipFill>
        <p:spPr>
          <a:xfrm>
            <a:off x="177210" y="2540313"/>
            <a:ext cx="1410213" cy="1410213"/>
          </a:xfrm>
          <a:prstGeom prst="rect">
            <a:avLst/>
          </a:prstGeom>
        </p:spPr>
      </p:pic>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00FF"/>
                </a:solidFill>
              </a:rPr>
              <a:t>What is</a:t>
            </a:r>
            <a:endParaRPr lang="en-US" sz="3600" dirty="0"/>
          </a:p>
        </p:txBody>
      </p:sp>
      <p:sp>
        <p:nvSpPr>
          <p:cNvPr id="7" name="TextBox 6"/>
          <p:cNvSpPr txBox="1"/>
          <p:nvPr/>
        </p:nvSpPr>
        <p:spPr>
          <a:xfrm>
            <a:off x="347419" y="1137914"/>
            <a:ext cx="11937346" cy="2624245"/>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rgbClr val="FF3399"/>
                </a:solidFill>
              </a:rPr>
              <a:t>MoveIt </a:t>
            </a:r>
            <a:r>
              <a:rPr lang="en-US" sz="2400" dirty="0">
                <a:solidFill>
                  <a:schemeClr val="bg1"/>
                </a:solidFill>
              </a:rPr>
              <a:t>is a motion planning, manipulation, and kinematics framework for ROS, ideal for students and university researchers.</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rgbClr val="FF3399"/>
                </a:solidFill>
              </a:rPr>
              <a:t>MoveIt</a:t>
            </a:r>
            <a:r>
              <a:rPr lang="en-US" sz="2400" dirty="0">
                <a:solidFill>
                  <a:schemeClr val="bg1"/>
                </a:solidFill>
              </a:rPr>
              <a:t> is an </a:t>
            </a:r>
            <a:r>
              <a:rPr lang="en-US" sz="2400" dirty="0">
                <a:solidFill>
                  <a:srgbClr val="FFFF00"/>
                </a:solidFill>
              </a:rPr>
              <a:t>open-source project </a:t>
            </a:r>
            <a:r>
              <a:rPr lang="en-US" sz="2400" dirty="0">
                <a:solidFill>
                  <a:schemeClr val="bg1"/>
                </a:solidFill>
              </a:rPr>
              <a:t>that is the result of the combined efforts of a large international community and multiple organizations.</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rgbClr val="FF3399"/>
                </a:solidFill>
              </a:rPr>
              <a:t>MoveIt</a:t>
            </a:r>
            <a:r>
              <a:rPr lang="en-US" sz="2400" dirty="0">
                <a:solidFill>
                  <a:schemeClr val="bg1"/>
                </a:solidFill>
              </a:rPr>
              <a:t> has been used on over </a:t>
            </a:r>
            <a:r>
              <a:rPr lang="en-US" sz="2400" dirty="0">
                <a:solidFill>
                  <a:srgbClr val="FFFF00"/>
                </a:solidFill>
              </a:rPr>
              <a:t>150+ robots </a:t>
            </a:r>
            <a:r>
              <a:rPr lang="en-US" sz="2400" dirty="0">
                <a:solidFill>
                  <a:schemeClr val="bg1"/>
                </a:solidFill>
              </a:rPr>
              <a:t>by the community.</a:t>
            </a:r>
            <a:endParaRPr lang="en-US" sz="2400" dirty="0">
              <a:solidFill>
                <a:schemeClr val="bg1"/>
              </a:solidFill>
            </a:endParaRPr>
          </a:p>
        </p:txBody>
      </p:sp>
      <p:sp>
        <p:nvSpPr>
          <p:cNvPr id="4" name="TextBox 3"/>
          <p:cNvSpPr txBox="1"/>
          <p:nvPr/>
        </p:nvSpPr>
        <p:spPr>
          <a:xfrm>
            <a:off x="77002" y="6465154"/>
            <a:ext cx="2711116" cy="307777"/>
          </a:xfrm>
          <a:prstGeom prst="rect">
            <a:avLst/>
          </a:prstGeom>
          <a:noFill/>
        </p:spPr>
        <p:txBody>
          <a:bodyPr wrap="square">
            <a:spAutoFit/>
          </a:bodyPr>
          <a:lstStyle/>
          <a:p>
            <a:r>
              <a:rPr lang="en-US" sz="1400" i="1" dirty="0">
                <a:solidFill>
                  <a:srgbClr val="0070C0"/>
                </a:solidFill>
              </a:rPr>
              <a:t>https://moveit.ai/robots/</a:t>
            </a:r>
            <a:endParaRPr lang="en-US" sz="1400" i="1" dirty="0">
              <a:solidFill>
                <a:srgbClr val="0070C0"/>
              </a:solidFill>
            </a:endParaRPr>
          </a:p>
        </p:txBody>
      </p:sp>
      <p:pic>
        <p:nvPicPr>
          <p:cNvPr id="6" name="Picture 5"/>
          <p:cNvPicPr>
            <a:picLocks noChangeAspect="1"/>
          </p:cNvPicPr>
          <p:nvPr/>
        </p:nvPicPr>
        <p:blipFill>
          <a:blip r:embed="rId2"/>
          <a:stretch>
            <a:fillRect/>
          </a:stretch>
        </p:blipFill>
        <p:spPr>
          <a:xfrm>
            <a:off x="2012832" y="391628"/>
            <a:ext cx="2808271" cy="5912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00FF"/>
                </a:solidFill>
              </a:rPr>
              <a:t>Why </a:t>
            </a:r>
            <a:r>
              <a:rPr lang="en-US" sz="3600" dirty="0">
                <a:solidFill>
                  <a:srgbClr val="FF3399"/>
                </a:solidFill>
              </a:rPr>
              <a:t>MoveIt</a:t>
            </a:r>
            <a:r>
              <a:rPr lang="en-US" sz="3600" dirty="0">
                <a:solidFill>
                  <a:srgbClr val="0000FF"/>
                </a:solidFill>
              </a:rPr>
              <a:t>?</a:t>
            </a:r>
            <a:endParaRPr lang="en-US" sz="3600" dirty="0">
              <a:solidFill>
                <a:srgbClr val="0073FF"/>
              </a:solidFill>
            </a:endParaRPr>
          </a:p>
        </p:txBody>
      </p:sp>
      <p:sp>
        <p:nvSpPr>
          <p:cNvPr id="2" name="TextBox 1"/>
          <p:cNvSpPr txBox="1"/>
          <p:nvPr/>
        </p:nvSpPr>
        <p:spPr>
          <a:xfrm>
            <a:off x="400881" y="1154257"/>
            <a:ext cx="9000271" cy="3953839"/>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MoveIt is the most widely used software for </a:t>
            </a:r>
            <a:r>
              <a:rPr lang="en-US" sz="2400" dirty="0">
                <a:solidFill>
                  <a:srgbClr val="0073FF"/>
                </a:solidFill>
              </a:rPr>
              <a:t>manipulation</a:t>
            </a:r>
            <a:r>
              <a:rPr lang="en-US" sz="2400" dirty="0">
                <a:solidFill>
                  <a:schemeClr val="bg1"/>
                </a:solidFill>
              </a:rPr>
              <a:t> and has been used on </a:t>
            </a:r>
            <a:r>
              <a:rPr lang="en-US" sz="2400" dirty="0">
                <a:solidFill>
                  <a:srgbClr val="FFFF00"/>
                </a:solidFill>
              </a:rPr>
              <a:t>over 150 robots</a:t>
            </a:r>
            <a:r>
              <a:rPr lang="en-US" sz="2400" dirty="0">
                <a:solidFill>
                  <a:schemeClr val="bg1"/>
                </a:solidFill>
              </a:rPr>
              <a:t>. </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It is released under the terms of the BSD license, and thus </a:t>
            </a:r>
            <a:r>
              <a:rPr lang="en-US" sz="2400" dirty="0">
                <a:solidFill>
                  <a:srgbClr val="00B050"/>
                </a:solidFill>
              </a:rPr>
              <a:t>free for industrial</a:t>
            </a:r>
            <a:r>
              <a:rPr lang="en-US" sz="2400" dirty="0">
                <a:solidFill>
                  <a:schemeClr val="bg1"/>
                </a:solidFill>
              </a:rPr>
              <a:t>, </a:t>
            </a:r>
            <a:r>
              <a:rPr lang="en-US" sz="2400" dirty="0">
                <a:solidFill>
                  <a:srgbClr val="00B050"/>
                </a:solidFill>
              </a:rPr>
              <a:t>commercial</a:t>
            </a:r>
            <a:r>
              <a:rPr lang="en-US" sz="2400" dirty="0">
                <a:solidFill>
                  <a:schemeClr val="bg1"/>
                </a:solidFill>
              </a:rPr>
              <a:t>, and </a:t>
            </a:r>
            <a:r>
              <a:rPr lang="en-US" sz="2400" dirty="0">
                <a:solidFill>
                  <a:srgbClr val="00B050"/>
                </a:solidFill>
              </a:rPr>
              <a:t>research</a:t>
            </a:r>
            <a:r>
              <a:rPr lang="en-US" sz="2400" dirty="0">
                <a:solidFill>
                  <a:schemeClr val="bg1"/>
                </a:solidFill>
              </a:rPr>
              <a:t> use.</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By incorporating the latest advances in motion planning, manipulation, 3D perception, kinematics, control and navigation, MoveIt is </a:t>
            </a:r>
            <a:r>
              <a:rPr lang="en-US" sz="2400" dirty="0">
                <a:solidFill>
                  <a:srgbClr val="FFC000"/>
                </a:solidFill>
              </a:rPr>
              <a:t>state of the art </a:t>
            </a:r>
            <a:r>
              <a:rPr lang="en-US" sz="2400" dirty="0">
                <a:solidFill>
                  <a:schemeClr val="bg1"/>
                </a:solidFill>
              </a:rPr>
              <a:t>software for </a:t>
            </a:r>
            <a:r>
              <a:rPr lang="en-US" sz="2400" dirty="0">
                <a:solidFill>
                  <a:srgbClr val="FF0000"/>
                </a:solidFill>
              </a:rPr>
              <a:t>mobile manipulation</a:t>
            </a:r>
            <a:r>
              <a:rPr lang="en-US" sz="2400" dirty="0">
                <a:solidFill>
                  <a:schemeClr val="bg1"/>
                </a:solidFill>
              </a:rPr>
              <a:t>.</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chemeClr val="tx1"/>
                </a:solidFill>
              </a:rPr>
              <a:t>MoveIt</a:t>
            </a:r>
            <a:r>
              <a:rPr lang="en-US" sz="3600" dirty="0">
                <a:solidFill>
                  <a:srgbClr val="FF3399"/>
                </a:solidFill>
              </a:rPr>
              <a:t> Survey </a:t>
            </a:r>
            <a:r>
              <a:rPr lang="en-US" sz="3600" dirty="0">
                <a:solidFill>
                  <a:schemeClr val="tx1"/>
                </a:solidFill>
              </a:rPr>
              <a:t>in</a:t>
            </a:r>
            <a:r>
              <a:rPr lang="en-US" sz="3600" dirty="0">
                <a:solidFill>
                  <a:srgbClr val="FF3399"/>
                </a:solidFill>
              </a:rPr>
              <a:t> </a:t>
            </a:r>
            <a:r>
              <a:rPr lang="en-US" sz="3600" dirty="0">
                <a:solidFill>
                  <a:schemeClr val="tx1"/>
                </a:solidFill>
              </a:rPr>
              <a:t>2019</a:t>
            </a:r>
            <a:r>
              <a:rPr lang="en-US" sz="3600" dirty="0">
                <a:solidFill>
                  <a:srgbClr val="FF3399"/>
                </a:solidFill>
              </a:rPr>
              <a:t> </a:t>
            </a:r>
            <a:endParaRPr lang="en-US" sz="3600" dirty="0">
              <a:solidFill>
                <a:schemeClr val="tx1"/>
              </a:solidFill>
            </a:endParaRPr>
          </a:p>
        </p:txBody>
      </p:sp>
      <p:pic>
        <p:nvPicPr>
          <p:cNvPr id="7" name="Picture 6"/>
          <p:cNvPicPr>
            <a:picLocks noChangeAspect="1"/>
          </p:cNvPicPr>
          <p:nvPr/>
        </p:nvPicPr>
        <p:blipFill>
          <a:blip r:embed="rId1"/>
          <a:stretch>
            <a:fillRect/>
          </a:stretch>
        </p:blipFill>
        <p:spPr>
          <a:xfrm>
            <a:off x="2127183" y="997952"/>
            <a:ext cx="7581900" cy="5054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chemeClr val="tx1"/>
                </a:solidFill>
              </a:rPr>
              <a:t>MoveIt: </a:t>
            </a:r>
            <a:r>
              <a:rPr lang="en-US" sz="3600" dirty="0">
                <a:solidFill>
                  <a:srgbClr val="FF0000"/>
                </a:solidFill>
              </a:rPr>
              <a:t>Evolution</a:t>
            </a:r>
            <a:r>
              <a:rPr lang="en-US" sz="3600" dirty="0">
                <a:solidFill>
                  <a:schemeClr val="tx1"/>
                </a:solidFill>
              </a:rPr>
              <a:t> of a Motion Planning Platform</a:t>
            </a:r>
            <a:endParaRPr lang="en-US" sz="3600" dirty="0">
              <a:solidFill>
                <a:schemeClr val="tx1"/>
              </a:solidFill>
            </a:endParaRPr>
          </a:p>
        </p:txBody>
      </p:sp>
      <p:pic>
        <p:nvPicPr>
          <p:cNvPr id="2" name="object 2"/>
          <p:cNvPicPr/>
          <p:nvPr/>
        </p:nvPicPr>
        <p:blipFill>
          <a:blip r:embed="rId1" cstate="print"/>
          <a:stretch>
            <a:fillRect/>
          </a:stretch>
        </p:blipFill>
        <p:spPr>
          <a:xfrm>
            <a:off x="2228815" y="2248219"/>
            <a:ext cx="1261490" cy="195795"/>
          </a:xfrm>
          <a:prstGeom prst="rect">
            <a:avLst/>
          </a:prstGeom>
        </p:spPr>
      </p:pic>
      <p:pic>
        <p:nvPicPr>
          <p:cNvPr id="4" name="object 3"/>
          <p:cNvPicPr/>
          <p:nvPr/>
        </p:nvPicPr>
        <p:blipFill>
          <a:blip r:embed="rId2" cstate="print"/>
          <a:stretch>
            <a:fillRect/>
          </a:stretch>
        </p:blipFill>
        <p:spPr>
          <a:xfrm>
            <a:off x="2305015" y="2572551"/>
            <a:ext cx="1241997" cy="1280392"/>
          </a:xfrm>
          <a:prstGeom prst="rect">
            <a:avLst/>
          </a:prstGeom>
        </p:spPr>
      </p:pic>
      <p:pic>
        <p:nvPicPr>
          <p:cNvPr id="6" name="object 4"/>
          <p:cNvPicPr/>
          <p:nvPr/>
        </p:nvPicPr>
        <p:blipFill>
          <a:blip r:embed="rId3" cstate="print"/>
          <a:stretch>
            <a:fillRect/>
          </a:stretch>
        </p:blipFill>
        <p:spPr>
          <a:xfrm>
            <a:off x="4371240" y="2210155"/>
            <a:ext cx="839433" cy="213526"/>
          </a:xfrm>
          <a:prstGeom prst="rect">
            <a:avLst/>
          </a:prstGeom>
        </p:spPr>
      </p:pic>
      <p:grpSp>
        <p:nvGrpSpPr>
          <p:cNvPr id="7" name="object 5"/>
          <p:cNvGrpSpPr/>
          <p:nvPr/>
        </p:nvGrpSpPr>
        <p:grpSpPr>
          <a:xfrm>
            <a:off x="3736972" y="3192258"/>
            <a:ext cx="274955" cy="41275"/>
            <a:chOff x="2216180" y="3124881"/>
            <a:chExt cx="274955" cy="41275"/>
          </a:xfrm>
        </p:grpSpPr>
        <p:sp>
          <p:nvSpPr>
            <p:cNvPr id="9" name="object 6"/>
            <p:cNvSpPr/>
            <p:nvPr/>
          </p:nvSpPr>
          <p:spPr>
            <a:xfrm>
              <a:off x="2216180" y="3145368"/>
              <a:ext cx="226695" cy="0"/>
            </a:xfrm>
            <a:custGeom>
              <a:avLst/>
              <a:gdLst/>
              <a:ahLst/>
              <a:cxnLst/>
              <a:rect l="l" t="t" r="r" b="b"/>
              <a:pathLst>
                <a:path w="226694">
                  <a:moveTo>
                    <a:pt x="0" y="0"/>
                  </a:moveTo>
                  <a:lnTo>
                    <a:pt x="226649" y="0"/>
                  </a:lnTo>
                </a:path>
              </a:pathLst>
            </a:custGeom>
            <a:ln w="9524">
              <a:solidFill>
                <a:srgbClr val="341C75"/>
              </a:solidFill>
            </a:ln>
          </p:spPr>
          <p:txBody>
            <a:bodyPr wrap="square" lIns="0" tIns="0" rIns="0" bIns="0" rtlCol="0"/>
            <a:lstStyle/>
            <a:p/>
          </p:txBody>
        </p:sp>
        <p:sp>
          <p:nvSpPr>
            <p:cNvPr id="10" name="object 7"/>
            <p:cNvSpPr/>
            <p:nvPr/>
          </p:nvSpPr>
          <p:spPr>
            <a:xfrm>
              <a:off x="2442830" y="3129643"/>
              <a:ext cx="43815" cy="31750"/>
            </a:xfrm>
            <a:custGeom>
              <a:avLst/>
              <a:gdLst/>
              <a:ahLst/>
              <a:cxnLst/>
              <a:rect l="l" t="t" r="r" b="b"/>
              <a:pathLst>
                <a:path w="43814" h="31750">
                  <a:moveTo>
                    <a:pt x="0" y="31449"/>
                  </a:moveTo>
                  <a:lnTo>
                    <a:pt x="0" y="0"/>
                  </a:lnTo>
                  <a:lnTo>
                    <a:pt x="43224" y="15724"/>
                  </a:lnTo>
                  <a:lnTo>
                    <a:pt x="0" y="31449"/>
                  </a:lnTo>
                  <a:close/>
                </a:path>
              </a:pathLst>
            </a:custGeom>
            <a:solidFill>
              <a:srgbClr val="341C75"/>
            </a:solidFill>
          </p:spPr>
          <p:txBody>
            <a:bodyPr wrap="square" lIns="0" tIns="0" rIns="0" bIns="0" rtlCol="0"/>
            <a:lstStyle/>
            <a:p/>
          </p:txBody>
        </p:sp>
        <p:sp>
          <p:nvSpPr>
            <p:cNvPr id="11" name="object 8"/>
            <p:cNvSpPr/>
            <p:nvPr/>
          </p:nvSpPr>
          <p:spPr>
            <a:xfrm>
              <a:off x="2442830" y="3129643"/>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341C75"/>
              </a:solidFill>
            </a:ln>
          </p:spPr>
          <p:txBody>
            <a:bodyPr wrap="square" lIns="0" tIns="0" rIns="0" bIns="0" rtlCol="0"/>
            <a:lstStyle/>
            <a:p/>
          </p:txBody>
        </p:sp>
      </p:grpSp>
      <p:pic>
        <p:nvPicPr>
          <p:cNvPr id="12" name="object 9"/>
          <p:cNvPicPr/>
          <p:nvPr/>
        </p:nvPicPr>
        <p:blipFill>
          <a:blip r:embed="rId4" cstate="print"/>
          <a:stretch>
            <a:fillRect/>
          </a:stretch>
        </p:blipFill>
        <p:spPr>
          <a:xfrm>
            <a:off x="8093628" y="2218525"/>
            <a:ext cx="1257497" cy="228297"/>
          </a:xfrm>
          <a:prstGeom prst="rect">
            <a:avLst/>
          </a:prstGeom>
        </p:spPr>
      </p:pic>
      <p:pic>
        <p:nvPicPr>
          <p:cNvPr id="13" name="object 10"/>
          <p:cNvPicPr/>
          <p:nvPr/>
        </p:nvPicPr>
        <p:blipFill>
          <a:blip r:embed="rId5" cstate="print"/>
          <a:stretch>
            <a:fillRect/>
          </a:stretch>
        </p:blipFill>
        <p:spPr>
          <a:xfrm>
            <a:off x="6128282" y="2572546"/>
            <a:ext cx="1263897" cy="1280397"/>
          </a:xfrm>
          <a:prstGeom prst="rect">
            <a:avLst/>
          </a:prstGeom>
        </p:spPr>
      </p:pic>
      <p:pic>
        <p:nvPicPr>
          <p:cNvPr id="14" name="object 11"/>
          <p:cNvPicPr/>
          <p:nvPr/>
        </p:nvPicPr>
        <p:blipFill>
          <a:blip r:embed="rId6" cstate="print"/>
          <a:stretch>
            <a:fillRect/>
          </a:stretch>
        </p:blipFill>
        <p:spPr>
          <a:xfrm>
            <a:off x="6151082" y="2218522"/>
            <a:ext cx="1153147" cy="228307"/>
          </a:xfrm>
          <a:prstGeom prst="rect">
            <a:avLst/>
          </a:prstGeom>
        </p:spPr>
      </p:pic>
      <p:grpSp>
        <p:nvGrpSpPr>
          <p:cNvPr id="15" name="object 12"/>
          <p:cNvGrpSpPr/>
          <p:nvPr/>
        </p:nvGrpSpPr>
        <p:grpSpPr>
          <a:xfrm>
            <a:off x="8052328" y="2534521"/>
            <a:ext cx="1340485" cy="1356995"/>
            <a:chOff x="6531536" y="2467144"/>
            <a:chExt cx="1340485" cy="1356995"/>
          </a:xfrm>
        </p:grpSpPr>
        <p:pic>
          <p:nvPicPr>
            <p:cNvPr id="16" name="object 13"/>
            <p:cNvPicPr/>
            <p:nvPr/>
          </p:nvPicPr>
          <p:blipFill>
            <a:blip r:embed="rId7" cstate="print"/>
            <a:stretch>
              <a:fillRect/>
            </a:stretch>
          </p:blipFill>
          <p:spPr>
            <a:xfrm>
              <a:off x="6569636" y="2505244"/>
              <a:ext cx="1263897" cy="1280397"/>
            </a:xfrm>
            <a:prstGeom prst="rect">
              <a:avLst/>
            </a:prstGeom>
          </p:spPr>
        </p:pic>
        <p:sp>
          <p:nvSpPr>
            <p:cNvPr id="17" name="object 14"/>
            <p:cNvSpPr/>
            <p:nvPr/>
          </p:nvSpPr>
          <p:spPr>
            <a:xfrm>
              <a:off x="6550586" y="2486194"/>
              <a:ext cx="1302385" cy="1318895"/>
            </a:xfrm>
            <a:custGeom>
              <a:avLst/>
              <a:gdLst/>
              <a:ahLst/>
              <a:cxnLst/>
              <a:rect l="l" t="t" r="r" b="b"/>
              <a:pathLst>
                <a:path w="1302384" h="1318895">
                  <a:moveTo>
                    <a:pt x="0" y="659248"/>
                  </a:moveTo>
                  <a:lnTo>
                    <a:pt x="1785" y="610047"/>
                  </a:lnTo>
                  <a:lnTo>
                    <a:pt x="7058" y="561828"/>
                  </a:lnTo>
                  <a:lnTo>
                    <a:pt x="15692" y="514718"/>
                  </a:lnTo>
                  <a:lnTo>
                    <a:pt x="27561" y="468846"/>
                  </a:lnTo>
                  <a:lnTo>
                    <a:pt x="42540" y="424338"/>
                  </a:lnTo>
                  <a:lnTo>
                    <a:pt x="60503" y="381323"/>
                  </a:lnTo>
                  <a:lnTo>
                    <a:pt x="81324" y="339927"/>
                  </a:lnTo>
                  <a:lnTo>
                    <a:pt x="104876" y="300278"/>
                  </a:lnTo>
                  <a:lnTo>
                    <a:pt x="131035" y="262503"/>
                  </a:lnTo>
                  <a:lnTo>
                    <a:pt x="159674" y="226730"/>
                  </a:lnTo>
                  <a:lnTo>
                    <a:pt x="190668" y="193087"/>
                  </a:lnTo>
                  <a:lnTo>
                    <a:pt x="223890" y="161700"/>
                  </a:lnTo>
                  <a:lnTo>
                    <a:pt x="259215" y="132698"/>
                  </a:lnTo>
                  <a:lnTo>
                    <a:pt x="296517" y="106207"/>
                  </a:lnTo>
                  <a:lnTo>
                    <a:pt x="335670" y="82356"/>
                  </a:lnTo>
                  <a:lnTo>
                    <a:pt x="376548" y="61271"/>
                  </a:lnTo>
                  <a:lnTo>
                    <a:pt x="419026" y="43080"/>
                  </a:lnTo>
                  <a:lnTo>
                    <a:pt x="462977" y="27911"/>
                  </a:lnTo>
                  <a:lnTo>
                    <a:pt x="508275" y="15891"/>
                  </a:lnTo>
                  <a:lnTo>
                    <a:pt x="554796" y="7147"/>
                  </a:lnTo>
                  <a:lnTo>
                    <a:pt x="602412" y="1808"/>
                  </a:lnTo>
                  <a:lnTo>
                    <a:pt x="650998" y="0"/>
                  </a:lnTo>
                  <a:lnTo>
                    <a:pt x="702545" y="2068"/>
                  </a:lnTo>
                  <a:lnTo>
                    <a:pt x="753450" y="8211"/>
                  </a:lnTo>
                  <a:lnTo>
                    <a:pt x="803495" y="18339"/>
                  </a:lnTo>
                  <a:lnTo>
                    <a:pt x="852459" y="32359"/>
                  </a:lnTo>
                  <a:lnTo>
                    <a:pt x="900126" y="50181"/>
                  </a:lnTo>
                  <a:lnTo>
                    <a:pt x="946275" y="71711"/>
                  </a:lnTo>
                  <a:lnTo>
                    <a:pt x="990688" y="96860"/>
                  </a:lnTo>
                  <a:lnTo>
                    <a:pt x="1033146" y="125535"/>
                  </a:lnTo>
                  <a:lnTo>
                    <a:pt x="1073431" y="157645"/>
                  </a:lnTo>
                  <a:lnTo>
                    <a:pt x="1111322" y="193099"/>
                  </a:lnTo>
                  <a:lnTo>
                    <a:pt x="1146325" y="231471"/>
                  </a:lnTo>
                  <a:lnTo>
                    <a:pt x="1178029" y="272265"/>
                  </a:lnTo>
                  <a:lnTo>
                    <a:pt x="1206343" y="315259"/>
                  </a:lnTo>
                  <a:lnTo>
                    <a:pt x="1231176" y="360233"/>
                  </a:lnTo>
                  <a:lnTo>
                    <a:pt x="1252438" y="406964"/>
                  </a:lnTo>
                  <a:lnTo>
                    <a:pt x="1270037" y="455233"/>
                  </a:lnTo>
                  <a:lnTo>
                    <a:pt x="1283883" y="504816"/>
                  </a:lnTo>
                  <a:lnTo>
                    <a:pt x="1293886" y="555494"/>
                  </a:lnTo>
                  <a:lnTo>
                    <a:pt x="1299954" y="607045"/>
                  </a:lnTo>
                  <a:lnTo>
                    <a:pt x="1301997" y="659248"/>
                  </a:lnTo>
                  <a:lnTo>
                    <a:pt x="1300211" y="708449"/>
                  </a:lnTo>
                  <a:lnTo>
                    <a:pt x="1294938" y="756669"/>
                  </a:lnTo>
                  <a:lnTo>
                    <a:pt x="1286303" y="803778"/>
                  </a:lnTo>
                  <a:lnTo>
                    <a:pt x="1274433" y="849650"/>
                  </a:lnTo>
                  <a:lnTo>
                    <a:pt x="1259453" y="894158"/>
                  </a:lnTo>
                  <a:lnTo>
                    <a:pt x="1241489" y="937173"/>
                  </a:lnTo>
                  <a:lnTo>
                    <a:pt x="1220668" y="978570"/>
                  </a:lnTo>
                  <a:lnTo>
                    <a:pt x="1197114" y="1018219"/>
                  </a:lnTo>
                  <a:lnTo>
                    <a:pt x="1170954" y="1055993"/>
                  </a:lnTo>
                  <a:lnTo>
                    <a:pt x="1142314" y="1091766"/>
                  </a:lnTo>
                  <a:lnTo>
                    <a:pt x="1111319" y="1125410"/>
                  </a:lnTo>
                  <a:lnTo>
                    <a:pt x="1078096" y="1156796"/>
                  </a:lnTo>
                  <a:lnTo>
                    <a:pt x="1042771" y="1185799"/>
                  </a:lnTo>
                  <a:lnTo>
                    <a:pt x="1005468" y="1212289"/>
                  </a:lnTo>
                  <a:lnTo>
                    <a:pt x="966315" y="1236141"/>
                  </a:lnTo>
                  <a:lnTo>
                    <a:pt x="925437" y="1257226"/>
                  </a:lnTo>
                  <a:lnTo>
                    <a:pt x="882961" y="1275416"/>
                  </a:lnTo>
                  <a:lnTo>
                    <a:pt x="839011" y="1290585"/>
                  </a:lnTo>
                  <a:lnTo>
                    <a:pt x="793714" y="1302605"/>
                  </a:lnTo>
                  <a:lnTo>
                    <a:pt x="747195" y="1311349"/>
                  </a:lnTo>
                  <a:lnTo>
                    <a:pt x="699581" y="1316689"/>
                  </a:lnTo>
                  <a:lnTo>
                    <a:pt x="650998" y="1318497"/>
                  </a:lnTo>
                  <a:lnTo>
                    <a:pt x="602412" y="1316689"/>
                  </a:lnTo>
                  <a:lnTo>
                    <a:pt x="554796" y="1311349"/>
                  </a:lnTo>
                  <a:lnTo>
                    <a:pt x="508275" y="1302605"/>
                  </a:lnTo>
                  <a:lnTo>
                    <a:pt x="462977" y="1290585"/>
                  </a:lnTo>
                  <a:lnTo>
                    <a:pt x="419026" y="1275416"/>
                  </a:lnTo>
                  <a:lnTo>
                    <a:pt x="376548" y="1257226"/>
                  </a:lnTo>
                  <a:lnTo>
                    <a:pt x="335670" y="1236141"/>
                  </a:lnTo>
                  <a:lnTo>
                    <a:pt x="296517" y="1212289"/>
                  </a:lnTo>
                  <a:lnTo>
                    <a:pt x="259215" y="1185799"/>
                  </a:lnTo>
                  <a:lnTo>
                    <a:pt x="223890" y="1156796"/>
                  </a:lnTo>
                  <a:lnTo>
                    <a:pt x="190668" y="1125410"/>
                  </a:lnTo>
                  <a:lnTo>
                    <a:pt x="159674" y="1091766"/>
                  </a:lnTo>
                  <a:lnTo>
                    <a:pt x="131035" y="1055993"/>
                  </a:lnTo>
                  <a:lnTo>
                    <a:pt x="104876" y="1018219"/>
                  </a:lnTo>
                  <a:lnTo>
                    <a:pt x="81324" y="978570"/>
                  </a:lnTo>
                  <a:lnTo>
                    <a:pt x="60503" y="937173"/>
                  </a:lnTo>
                  <a:lnTo>
                    <a:pt x="42540" y="894158"/>
                  </a:lnTo>
                  <a:lnTo>
                    <a:pt x="27561" y="849650"/>
                  </a:lnTo>
                  <a:lnTo>
                    <a:pt x="15692" y="803778"/>
                  </a:lnTo>
                  <a:lnTo>
                    <a:pt x="7058" y="756669"/>
                  </a:lnTo>
                  <a:lnTo>
                    <a:pt x="1785" y="708449"/>
                  </a:lnTo>
                  <a:lnTo>
                    <a:pt x="0" y="659248"/>
                  </a:lnTo>
                  <a:close/>
                </a:path>
              </a:pathLst>
            </a:custGeom>
            <a:ln w="38099">
              <a:solidFill>
                <a:srgbClr val="52E49E"/>
              </a:solidFill>
            </a:ln>
          </p:spPr>
          <p:txBody>
            <a:bodyPr wrap="square" lIns="0" tIns="0" rIns="0" bIns="0" rtlCol="0"/>
            <a:lstStyle/>
            <a:p/>
          </p:txBody>
        </p:sp>
      </p:grpSp>
      <p:pic>
        <p:nvPicPr>
          <p:cNvPr id="18" name="object 15"/>
          <p:cNvPicPr/>
          <p:nvPr/>
        </p:nvPicPr>
        <p:blipFill>
          <a:blip r:embed="rId8" cstate="print"/>
          <a:stretch>
            <a:fillRect/>
          </a:stretch>
        </p:blipFill>
        <p:spPr>
          <a:xfrm>
            <a:off x="4169761" y="2572596"/>
            <a:ext cx="1263897" cy="1279122"/>
          </a:xfrm>
          <a:prstGeom prst="rect">
            <a:avLst/>
          </a:prstGeom>
        </p:spPr>
      </p:pic>
      <p:grpSp>
        <p:nvGrpSpPr>
          <p:cNvPr id="19" name="object 20"/>
          <p:cNvGrpSpPr/>
          <p:nvPr/>
        </p:nvGrpSpPr>
        <p:grpSpPr>
          <a:xfrm>
            <a:off x="5676833" y="3192258"/>
            <a:ext cx="274955" cy="41275"/>
            <a:chOff x="4156041" y="3124881"/>
            <a:chExt cx="274955" cy="41275"/>
          </a:xfrm>
        </p:grpSpPr>
        <p:sp>
          <p:nvSpPr>
            <p:cNvPr id="20" name="object 21"/>
            <p:cNvSpPr/>
            <p:nvPr/>
          </p:nvSpPr>
          <p:spPr>
            <a:xfrm>
              <a:off x="4156041" y="3145368"/>
              <a:ext cx="226695" cy="0"/>
            </a:xfrm>
            <a:custGeom>
              <a:avLst/>
              <a:gdLst/>
              <a:ahLst/>
              <a:cxnLst/>
              <a:rect l="l" t="t" r="r" b="b"/>
              <a:pathLst>
                <a:path w="226695">
                  <a:moveTo>
                    <a:pt x="0" y="0"/>
                  </a:moveTo>
                  <a:lnTo>
                    <a:pt x="226649" y="0"/>
                  </a:lnTo>
                </a:path>
              </a:pathLst>
            </a:custGeom>
            <a:ln w="9524">
              <a:solidFill>
                <a:srgbClr val="341C75"/>
              </a:solidFill>
            </a:ln>
          </p:spPr>
          <p:txBody>
            <a:bodyPr wrap="square" lIns="0" tIns="0" rIns="0" bIns="0" rtlCol="0"/>
            <a:lstStyle/>
            <a:p/>
          </p:txBody>
        </p:sp>
        <p:sp>
          <p:nvSpPr>
            <p:cNvPr id="21" name="object 22"/>
            <p:cNvSpPr/>
            <p:nvPr/>
          </p:nvSpPr>
          <p:spPr>
            <a:xfrm>
              <a:off x="4382691" y="3129643"/>
              <a:ext cx="43815" cy="31750"/>
            </a:xfrm>
            <a:custGeom>
              <a:avLst/>
              <a:gdLst/>
              <a:ahLst/>
              <a:cxnLst/>
              <a:rect l="l" t="t" r="r" b="b"/>
              <a:pathLst>
                <a:path w="43814" h="31750">
                  <a:moveTo>
                    <a:pt x="0" y="31449"/>
                  </a:moveTo>
                  <a:lnTo>
                    <a:pt x="0" y="0"/>
                  </a:lnTo>
                  <a:lnTo>
                    <a:pt x="43224" y="15724"/>
                  </a:lnTo>
                  <a:lnTo>
                    <a:pt x="0" y="31449"/>
                  </a:lnTo>
                  <a:close/>
                </a:path>
              </a:pathLst>
            </a:custGeom>
            <a:solidFill>
              <a:srgbClr val="341C75"/>
            </a:solidFill>
          </p:spPr>
          <p:txBody>
            <a:bodyPr wrap="square" lIns="0" tIns="0" rIns="0" bIns="0" rtlCol="0"/>
            <a:lstStyle/>
            <a:p/>
          </p:txBody>
        </p:sp>
        <p:sp>
          <p:nvSpPr>
            <p:cNvPr id="22" name="object 23"/>
            <p:cNvSpPr/>
            <p:nvPr/>
          </p:nvSpPr>
          <p:spPr>
            <a:xfrm>
              <a:off x="4382691" y="3129643"/>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341C75"/>
              </a:solidFill>
            </a:ln>
          </p:spPr>
          <p:txBody>
            <a:bodyPr wrap="square" lIns="0" tIns="0" rIns="0" bIns="0" rtlCol="0"/>
            <a:lstStyle/>
            <a:p/>
          </p:txBody>
        </p:sp>
      </p:grpSp>
      <p:grpSp>
        <p:nvGrpSpPr>
          <p:cNvPr id="23" name="object 24"/>
          <p:cNvGrpSpPr/>
          <p:nvPr/>
        </p:nvGrpSpPr>
        <p:grpSpPr>
          <a:xfrm>
            <a:off x="7596104" y="3192258"/>
            <a:ext cx="274955" cy="41275"/>
            <a:chOff x="6075312" y="3124881"/>
            <a:chExt cx="274955" cy="41275"/>
          </a:xfrm>
        </p:grpSpPr>
        <p:sp>
          <p:nvSpPr>
            <p:cNvPr id="24" name="object 25"/>
            <p:cNvSpPr/>
            <p:nvPr/>
          </p:nvSpPr>
          <p:spPr>
            <a:xfrm>
              <a:off x="6075312" y="3145368"/>
              <a:ext cx="226695" cy="0"/>
            </a:xfrm>
            <a:custGeom>
              <a:avLst/>
              <a:gdLst/>
              <a:ahLst/>
              <a:cxnLst/>
              <a:rect l="l" t="t" r="r" b="b"/>
              <a:pathLst>
                <a:path w="226695">
                  <a:moveTo>
                    <a:pt x="0" y="0"/>
                  </a:moveTo>
                  <a:lnTo>
                    <a:pt x="226649" y="0"/>
                  </a:lnTo>
                </a:path>
              </a:pathLst>
            </a:custGeom>
            <a:ln w="9524">
              <a:solidFill>
                <a:srgbClr val="341C75"/>
              </a:solidFill>
            </a:ln>
          </p:spPr>
          <p:txBody>
            <a:bodyPr wrap="square" lIns="0" tIns="0" rIns="0" bIns="0" rtlCol="0"/>
            <a:lstStyle/>
            <a:p/>
          </p:txBody>
        </p:sp>
        <p:sp>
          <p:nvSpPr>
            <p:cNvPr id="25" name="object 26"/>
            <p:cNvSpPr/>
            <p:nvPr/>
          </p:nvSpPr>
          <p:spPr>
            <a:xfrm>
              <a:off x="6301962" y="3129643"/>
              <a:ext cx="43815" cy="31750"/>
            </a:xfrm>
            <a:custGeom>
              <a:avLst/>
              <a:gdLst/>
              <a:ahLst/>
              <a:cxnLst/>
              <a:rect l="l" t="t" r="r" b="b"/>
              <a:pathLst>
                <a:path w="43814" h="31750">
                  <a:moveTo>
                    <a:pt x="0" y="31449"/>
                  </a:moveTo>
                  <a:lnTo>
                    <a:pt x="0" y="0"/>
                  </a:lnTo>
                  <a:lnTo>
                    <a:pt x="43224" y="15724"/>
                  </a:lnTo>
                  <a:lnTo>
                    <a:pt x="0" y="31449"/>
                  </a:lnTo>
                  <a:close/>
                </a:path>
              </a:pathLst>
            </a:custGeom>
            <a:solidFill>
              <a:srgbClr val="341C75"/>
            </a:solidFill>
          </p:spPr>
          <p:txBody>
            <a:bodyPr wrap="square" lIns="0" tIns="0" rIns="0" bIns="0" rtlCol="0"/>
            <a:lstStyle/>
            <a:p/>
          </p:txBody>
        </p:sp>
        <p:sp>
          <p:nvSpPr>
            <p:cNvPr id="26" name="object 27"/>
            <p:cNvSpPr/>
            <p:nvPr/>
          </p:nvSpPr>
          <p:spPr>
            <a:xfrm>
              <a:off x="6301962" y="3129643"/>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341C75"/>
              </a:solidFill>
            </a:ln>
          </p:spPr>
          <p:txBody>
            <a:bodyPr wrap="square" lIns="0" tIns="0" rIns="0" bIns="0" rtlCol="0"/>
            <a:lstStyle/>
            <a:p/>
          </p:txBody>
        </p:sp>
      </p:grpSp>
      <p:sp>
        <p:nvSpPr>
          <p:cNvPr id="27" name="object 28"/>
          <p:cNvSpPr txBox="1"/>
          <p:nvPr/>
        </p:nvSpPr>
        <p:spPr>
          <a:xfrm>
            <a:off x="2653281" y="4085406"/>
            <a:ext cx="545465" cy="418465"/>
          </a:xfrm>
          <a:prstGeom prst="rect">
            <a:avLst/>
          </a:prstGeom>
        </p:spPr>
        <p:txBody>
          <a:bodyPr vert="horz" wrap="square" lIns="0" tIns="12700" rIns="0" bIns="0" rtlCol="0">
            <a:spAutoFit/>
          </a:bodyPr>
          <a:lstStyle/>
          <a:p>
            <a:pPr marL="19050">
              <a:lnSpc>
                <a:spcPts val="945"/>
              </a:lnSpc>
              <a:spcBef>
                <a:spcPts val="100"/>
              </a:spcBef>
            </a:pPr>
            <a:r>
              <a:rPr sz="800" spc="-35" dirty="0">
                <a:solidFill>
                  <a:srgbClr val="2A3650"/>
                </a:solidFill>
                <a:latin typeface="Lucida Sans"/>
                <a:cs typeface="Lucida Sans"/>
              </a:rPr>
              <a:t>Version</a:t>
            </a:r>
            <a:r>
              <a:rPr sz="800" spc="-20" dirty="0">
                <a:solidFill>
                  <a:srgbClr val="2A3650"/>
                </a:solidFill>
                <a:latin typeface="Lucida Sans"/>
                <a:cs typeface="Lucida Sans"/>
              </a:rPr>
              <a:t> </a:t>
            </a:r>
            <a:r>
              <a:rPr sz="800" spc="-35" dirty="0">
                <a:solidFill>
                  <a:srgbClr val="2A3650"/>
                </a:solidFill>
                <a:latin typeface="Lucida Sans"/>
                <a:cs typeface="Lucida Sans"/>
              </a:rPr>
              <a:t>1.0</a:t>
            </a:r>
            <a:endParaRPr sz="800">
              <a:latin typeface="Lucida Sans"/>
              <a:cs typeface="Lucida Sans"/>
            </a:endParaRPr>
          </a:p>
          <a:p>
            <a:pPr marL="12700">
              <a:lnSpc>
                <a:spcPts val="2145"/>
              </a:lnSpc>
            </a:pPr>
            <a:r>
              <a:rPr sz="1800" spc="-110" dirty="0">
                <a:solidFill>
                  <a:srgbClr val="2A3650"/>
                </a:solidFill>
                <a:latin typeface="Lucida Sans"/>
                <a:cs typeface="Lucida Sans"/>
              </a:rPr>
              <a:t>2010</a:t>
            </a:r>
            <a:endParaRPr sz="1800">
              <a:latin typeface="Lucida Sans"/>
              <a:cs typeface="Lucida Sans"/>
            </a:endParaRPr>
          </a:p>
        </p:txBody>
      </p:sp>
      <p:sp>
        <p:nvSpPr>
          <p:cNvPr id="28" name="object 29"/>
          <p:cNvSpPr txBox="1"/>
          <p:nvPr/>
        </p:nvSpPr>
        <p:spPr>
          <a:xfrm>
            <a:off x="4532979" y="4085406"/>
            <a:ext cx="537845" cy="418465"/>
          </a:xfrm>
          <a:prstGeom prst="rect">
            <a:avLst/>
          </a:prstGeom>
        </p:spPr>
        <p:txBody>
          <a:bodyPr vert="horz" wrap="square" lIns="0" tIns="12700" rIns="0" bIns="0" rtlCol="0">
            <a:spAutoFit/>
          </a:bodyPr>
          <a:lstStyle/>
          <a:p>
            <a:pPr algn="ctr">
              <a:lnSpc>
                <a:spcPts val="945"/>
              </a:lnSpc>
              <a:spcBef>
                <a:spcPts val="100"/>
              </a:spcBef>
            </a:pPr>
            <a:r>
              <a:rPr sz="800" spc="-20" dirty="0">
                <a:solidFill>
                  <a:srgbClr val="2A3650"/>
                </a:solidFill>
                <a:latin typeface="Lucida Sans"/>
                <a:cs typeface="Lucida Sans"/>
              </a:rPr>
              <a:t>Beta</a:t>
            </a:r>
            <a:endParaRPr sz="800">
              <a:latin typeface="Lucida Sans"/>
              <a:cs typeface="Lucida Sans"/>
            </a:endParaRPr>
          </a:p>
          <a:p>
            <a:pPr algn="ctr">
              <a:lnSpc>
                <a:spcPts val="2145"/>
              </a:lnSpc>
            </a:pPr>
            <a:r>
              <a:rPr sz="1800" spc="-100" dirty="0">
                <a:solidFill>
                  <a:srgbClr val="2A3650"/>
                </a:solidFill>
                <a:latin typeface="Lucida Sans"/>
                <a:cs typeface="Lucida Sans"/>
              </a:rPr>
              <a:t>2013</a:t>
            </a:r>
            <a:endParaRPr sz="1800">
              <a:latin typeface="Lucida Sans"/>
              <a:cs typeface="Lucida Sans"/>
            </a:endParaRPr>
          </a:p>
        </p:txBody>
      </p:sp>
      <p:sp>
        <p:nvSpPr>
          <p:cNvPr id="29" name="object 30"/>
          <p:cNvSpPr txBox="1"/>
          <p:nvPr/>
        </p:nvSpPr>
        <p:spPr>
          <a:xfrm>
            <a:off x="6492296" y="4085406"/>
            <a:ext cx="535940" cy="418465"/>
          </a:xfrm>
          <a:prstGeom prst="rect">
            <a:avLst/>
          </a:prstGeom>
        </p:spPr>
        <p:txBody>
          <a:bodyPr vert="horz" wrap="square" lIns="0" tIns="12700" rIns="0" bIns="0" rtlCol="0">
            <a:spAutoFit/>
          </a:bodyPr>
          <a:lstStyle/>
          <a:p>
            <a:pPr marL="13970">
              <a:lnSpc>
                <a:spcPts val="945"/>
              </a:lnSpc>
              <a:spcBef>
                <a:spcPts val="100"/>
              </a:spcBef>
            </a:pPr>
            <a:r>
              <a:rPr sz="800" spc="-35" dirty="0">
                <a:solidFill>
                  <a:srgbClr val="2A3650"/>
                </a:solidFill>
                <a:latin typeface="Lucida Sans"/>
                <a:cs typeface="Lucida Sans"/>
              </a:rPr>
              <a:t>Version</a:t>
            </a:r>
            <a:r>
              <a:rPr sz="800" spc="-10" dirty="0">
                <a:solidFill>
                  <a:srgbClr val="2A3650"/>
                </a:solidFill>
                <a:latin typeface="Lucida Sans"/>
                <a:cs typeface="Lucida Sans"/>
              </a:rPr>
              <a:t> </a:t>
            </a:r>
            <a:r>
              <a:rPr sz="800" spc="-50" dirty="0">
                <a:solidFill>
                  <a:srgbClr val="2A3650"/>
                </a:solidFill>
                <a:latin typeface="Lucida Sans"/>
                <a:cs typeface="Lucida Sans"/>
              </a:rPr>
              <a:t>1.0</a:t>
            </a:r>
            <a:endParaRPr sz="800">
              <a:latin typeface="Lucida Sans"/>
              <a:cs typeface="Lucida Sans"/>
            </a:endParaRPr>
          </a:p>
          <a:p>
            <a:pPr marL="12700">
              <a:lnSpc>
                <a:spcPts val="2145"/>
              </a:lnSpc>
            </a:pPr>
            <a:r>
              <a:rPr sz="1800" spc="-120" dirty="0">
                <a:solidFill>
                  <a:srgbClr val="2A3650"/>
                </a:solidFill>
                <a:latin typeface="Lucida Sans"/>
                <a:cs typeface="Lucida Sans"/>
              </a:rPr>
              <a:t>2019</a:t>
            </a:r>
            <a:endParaRPr sz="1800">
              <a:latin typeface="Lucida Sans"/>
              <a:cs typeface="Lucida Sans"/>
            </a:endParaRPr>
          </a:p>
        </p:txBody>
      </p:sp>
      <p:sp>
        <p:nvSpPr>
          <p:cNvPr id="30" name="object 31"/>
          <p:cNvSpPr txBox="1"/>
          <p:nvPr/>
        </p:nvSpPr>
        <p:spPr>
          <a:xfrm>
            <a:off x="8466110" y="4085406"/>
            <a:ext cx="582295" cy="418465"/>
          </a:xfrm>
          <a:prstGeom prst="rect">
            <a:avLst/>
          </a:prstGeom>
        </p:spPr>
        <p:txBody>
          <a:bodyPr vert="horz" wrap="square" lIns="0" tIns="12700" rIns="0" bIns="0" rtlCol="0">
            <a:spAutoFit/>
          </a:bodyPr>
          <a:lstStyle/>
          <a:p>
            <a:pPr marL="28575">
              <a:lnSpc>
                <a:spcPts val="945"/>
              </a:lnSpc>
              <a:spcBef>
                <a:spcPts val="100"/>
              </a:spcBef>
            </a:pPr>
            <a:r>
              <a:rPr sz="800" spc="-35" dirty="0">
                <a:solidFill>
                  <a:srgbClr val="2A3650"/>
                </a:solidFill>
                <a:latin typeface="Lucida Sans"/>
                <a:cs typeface="Lucida Sans"/>
              </a:rPr>
              <a:t>Version</a:t>
            </a:r>
            <a:r>
              <a:rPr sz="800" spc="-10" dirty="0">
                <a:solidFill>
                  <a:srgbClr val="2A3650"/>
                </a:solidFill>
                <a:latin typeface="Lucida Sans"/>
                <a:cs typeface="Lucida Sans"/>
              </a:rPr>
              <a:t> </a:t>
            </a:r>
            <a:r>
              <a:rPr sz="800" spc="-25" dirty="0">
                <a:solidFill>
                  <a:srgbClr val="2A3650"/>
                </a:solidFill>
                <a:latin typeface="Lucida Sans"/>
                <a:cs typeface="Lucida Sans"/>
              </a:rPr>
              <a:t>2.0</a:t>
            </a:r>
            <a:endParaRPr sz="800">
              <a:latin typeface="Lucida Sans"/>
              <a:cs typeface="Lucida Sans"/>
            </a:endParaRPr>
          </a:p>
          <a:p>
            <a:pPr marL="12700">
              <a:lnSpc>
                <a:spcPts val="2145"/>
              </a:lnSpc>
            </a:pPr>
            <a:r>
              <a:rPr sz="1800" spc="-35" dirty="0">
                <a:solidFill>
                  <a:srgbClr val="2A3650"/>
                </a:solidFill>
                <a:latin typeface="Lucida Sans"/>
                <a:cs typeface="Lucida Sans"/>
              </a:rPr>
              <a:t>2020</a:t>
            </a:r>
            <a:endParaRPr sz="1800">
              <a:latin typeface="Lucida Sans"/>
              <a:cs typeface="Lucida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FA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6991" y="150779"/>
            <a:ext cx="11308283" cy="553998"/>
          </a:xfrm>
        </p:spPr>
        <p:txBody>
          <a:bodyPr/>
          <a:lstStyle/>
          <a:p>
            <a:r>
              <a:rPr lang="en-US" sz="3600" dirty="0">
                <a:solidFill>
                  <a:schemeClr val="tx1"/>
                </a:solidFill>
              </a:rPr>
              <a:t>MoveIt 1 vs MoveIt 2</a:t>
            </a:r>
            <a:endParaRPr lang="en-US" sz="3600" dirty="0">
              <a:solidFill>
                <a:schemeClr val="tx1"/>
              </a:solidFill>
            </a:endParaRPr>
          </a:p>
        </p:txBody>
      </p:sp>
      <p:graphicFrame>
        <p:nvGraphicFramePr>
          <p:cNvPr id="3" name="Table 2"/>
          <p:cNvGraphicFramePr>
            <a:graphicFrameLocks noGrp="1"/>
          </p:cNvGraphicFramePr>
          <p:nvPr/>
        </p:nvGraphicFramePr>
        <p:xfrm>
          <a:off x="878256" y="889791"/>
          <a:ext cx="10435488" cy="5769249"/>
        </p:xfrm>
        <a:graphic>
          <a:graphicData uri="http://schemas.openxmlformats.org/drawingml/2006/table">
            <a:tbl>
              <a:tblPr firstRow="1" bandRow="1">
                <a:tableStyleId>{93296810-A885-4BE3-A3E7-6D5BEEA58F35}</a:tableStyleId>
              </a:tblPr>
              <a:tblGrid>
                <a:gridCol w="5354068"/>
                <a:gridCol w="5081420"/>
              </a:tblGrid>
              <a:tr h="490817">
                <a:tc>
                  <a:txBody>
                    <a:bodyPr/>
                    <a:lstStyle/>
                    <a:p>
                      <a:pPr algn="ctr"/>
                      <a:r>
                        <a:rPr lang="en-US" sz="1400" b="1"/>
                        <a:t>MoveIt 1</a:t>
                      </a:r>
                      <a:endParaRPr lang="en-US" sz="1400"/>
                    </a:p>
                  </a:txBody>
                  <a:tcPr marL="42832" marR="42832" marT="21416" marB="21416" anchor="ctr"/>
                </a:tc>
                <a:tc>
                  <a:txBody>
                    <a:bodyPr/>
                    <a:lstStyle/>
                    <a:p>
                      <a:pPr algn="ctr"/>
                      <a:r>
                        <a:rPr lang="en-US" sz="1400" b="1"/>
                        <a:t>MoveIt 2</a:t>
                      </a:r>
                      <a:endParaRPr lang="en-US" sz="1400"/>
                    </a:p>
                  </a:txBody>
                  <a:tcPr marL="42832" marR="42832" marT="21416" marB="21416" anchor="ctr"/>
                </a:tc>
              </a:tr>
              <a:tr h="659804">
                <a:tc>
                  <a:txBody>
                    <a:bodyPr/>
                    <a:lstStyle/>
                    <a:p>
                      <a:pPr algn="ctr"/>
                      <a:r>
                        <a:rPr lang="en-US" sz="1400"/>
                        <a:t>Runs on </a:t>
                      </a:r>
                      <a:r>
                        <a:rPr lang="en-US" sz="1400" b="1"/>
                        <a:t>ROS 1</a:t>
                      </a:r>
                      <a:endParaRPr lang="en-US" sz="1400"/>
                    </a:p>
                  </a:txBody>
                  <a:tcPr marL="42832" marR="42832" marT="21416" marB="21416" anchor="ctr"/>
                </a:tc>
                <a:tc>
                  <a:txBody>
                    <a:bodyPr/>
                    <a:lstStyle/>
                    <a:p>
                      <a:pPr algn="ctr"/>
                      <a:r>
                        <a:rPr lang="en-US" sz="1400"/>
                        <a:t>Runs on </a:t>
                      </a:r>
                      <a:r>
                        <a:rPr lang="en-US" sz="1400" b="1"/>
                        <a:t>ROS 2</a:t>
                      </a:r>
                      <a:endParaRPr lang="en-US" sz="1400"/>
                    </a:p>
                  </a:txBody>
                  <a:tcPr marL="42832" marR="42832" marT="21416" marB="21416" anchor="ctr"/>
                </a:tc>
              </a:tr>
              <a:tr h="659804">
                <a:tc>
                  <a:txBody>
                    <a:bodyPr/>
                    <a:lstStyle/>
                    <a:p>
                      <a:pPr algn="ctr"/>
                      <a:r>
                        <a:rPr lang="en-US" sz="1400"/>
                        <a:t>Limited real-time support</a:t>
                      </a:r>
                      <a:endParaRPr lang="en-US" sz="1400"/>
                    </a:p>
                  </a:txBody>
                  <a:tcPr marL="42832" marR="42832" marT="21416" marB="21416" anchor="ctr"/>
                </a:tc>
                <a:tc>
                  <a:txBody>
                    <a:bodyPr/>
                    <a:lstStyle/>
                    <a:p>
                      <a:pPr algn="ctr"/>
                      <a:r>
                        <a:rPr lang="en-US" sz="1400"/>
                        <a:t>Better </a:t>
                      </a:r>
                      <a:r>
                        <a:rPr lang="en-US" sz="1400" b="1"/>
                        <a:t>real-time behavior</a:t>
                      </a:r>
                      <a:r>
                        <a:rPr lang="en-US" sz="1400"/>
                        <a:t> via ROS 2 (DDS, QoS)</a:t>
                      </a:r>
                      <a:endParaRPr lang="en-US" sz="1400"/>
                    </a:p>
                  </a:txBody>
                  <a:tcPr marL="42832" marR="42832" marT="21416" marB="21416" anchor="ctr"/>
                </a:tc>
              </a:tr>
              <a:tr h="659804">
                <a:tc>
                  <a:txBody>
                    <a:bodyPr/>
                    <a:lstStyle/>
                    <a:p>
                      <a:pPr algn="ctr"/>
                      <a:r>
                        <a:rPr lang="en-US" sz="1400"/>
                        <a:t>Older, less modular architecture</a:t>
                      </a:r>
                      <a:endParaRPr lang="en-US" sz="1400"/>
                    </a:p>
                  </a:txBody>
                  <a:tcPr marL="42832" marR="42832" marT="21416" marB="21416" anchor="ctr"/>
                </a:tc>
                <a:tc>
                  <a:txBody>
                    <a:bodyPr/>
                    <a:lstStyle/>
                    <a:p>
                      <a:pPr algn="ctr"/>
                      <a:r>
                        <a:rPr lang="en-US" sz="1400" b="1"/>
                        <a:t>Component-based</a:t>
                      </a:r>
                      <a:r>
                        <a:rPr lang="en-US" sz="1400"/>
                        <a:t>, more modular and scalable</a:t>
                      </a:r>
                      <a:endParaRPr lang="en-US" sz="1400"/>
                    </a:p>
                  </a:txBody>
                  <a:tcPr marL="42832" marR="42832" marT="21416" marB="21416" anchor="ctr"/>
                </a:tc>
              </a:tr>
              <a:tr h="659804">
                <a:tc>
                  <a:txBody>
                    <a:bodyPr/>
                    <a:lstStyle/>
                    <a:p>
                      <a:pPr algn="ctr"/>
                      <a:r>
                        <a:rPr lang="en-US" sz="1400"/>
                        <a:t>Mostly single-threaded in practice</a:t>
                      </a:r>
                      <a:endParaRPr lang="en-US" sz="1400"/>
                    </a:p>
                  </a:txBody>
                  <a:tcPr marL="42832" marR="42832" marT="21416" marB="21416" anchor="ctr"/>
                </a:tc>
                <a:tc>
                  <a:txBody>
                    <a:bodyPr/>
                    <a:lstStyle/>
                    <a:p>
                      <a:pPr algn="ctr"/>
                      <a:r>
                        <a:rPr lang="en-US" sz="1400"/>
                        <a:t>Designed for </a:t>
                      </a:r>
                      <a:r>
                        <a:rPr lang="en-US" sz="1400" b="1"/>
                        <a:t>multi-threaded</a:t>
                      </a:r>
                      <a:r>
                        <a:rPr lang="en-US" sz="1400"/>
                        <a:t> use with component nodes</a:t>
                      </a:r>
                      <a:endParaRPr lang="en-US" sz="1400"/>
                    </a:p>
                  </a:txBody>
                  <a:tcPr marL="42832" marR="42832" marT="21416" marB="21416" anchor="ctr"/>
                </a:tc>
              </a:tr>
              <a:tr h="659804">
                <a:tc>
                  <a:txBody>
                    <a:bodyPr/>
                    <a:lstStyle/>
                    <a:p>
                      <a:pPr algn="ctr"/>
                      <a:r>
                        <a:rPr lang="en-US" sz="1400"/>
                        <a:t>Uses older ROS control stack</a:t>
                      </a:r>
                      <a:endParaRPr lang="en-US" sz="1400"/>
                    </a:p>
                  </a:txBody>
                  <a:tcPr marL="42832" marR="42832" marT="21416" marB="21416" anchor="ctr"/>
                </a:tc>
                <a:tc>
                  <a:txBody>
                    <a:bodyPr/>
                    <a:lstStyle/>
                    <a:p>
                      <a:pPr algn="ctr"/>
                      <a:r>
                        <a:rPr lang="en-US" sz="1400"/>
                        <a:t>Integrates with </a:t>
                      </a:r>
                      <a:r>
                        <a:rPr lang="en-US" sz="1400" b="1"/>
                        <a:t>ROS 2 Control</a:t>
                      </a:r>
                      <a:r>
                        <a:rPr lang="en-US" sz="1400"/>
                        <a:t> for cleaner hardware interfaces</a:t>
                      </a:r>
                      <a:endParaRPr lang="en-US" sz="1400"/>
                    </a:p>
                  </a:txBody>
                  <a:tcPr marL="42832" marR="42832" marT="21416" marB="21416" anchor="ctr"/>
                </a:tc>
              </a:tr>
              <a:tr h="659804">
                <a:tc>
                  <a:txBody>
                    <a:bodyPr/>
                    <a:lstStyle/>
                    <a:p>
                      <a:pPr algn="ctr"/>
                      <a:r>
                        <a:rPr lang="en-US" sz="1400"/>
                        <a:t>Limited support for </a:t>
                      </a:r>
                      <a:r>
                        <a:rPr lang="en-US" sz="1400" b="1"/>
                        <a:t>parallel planning</a:t>
                      </a:r>
                      <a:endParaRPr lang="en-US" sz="1400"/>
                    </a:p>
                  </a:txBody>
                  <a:tcPr marL="42832" marR="42832" marT="21416" marB="21416" anchor="ctr"/>
                </a:tc>
                <a:tc>
                  <a:txBody>
                    <a:bodyPr/>
                    <a:lstStyle/>
                    <a:p>
                      <a:pPr algn="ctr"/>
                      <a:r>
                        <a:rPr lang="en-US" sz="1400"/>
                        <a:t>Supports </a:t>
                      </a:r>
                      <a:r>
                        <a:rPr lang="en-US" sz="1400" b="1"/>
                        <a:t>parallel planning pipelines</a:t>
                      </a:r>
                      <a:r>
                        <a:rPr lang="en-US" sz="1400"/>
                        <a:t> (multiple planners in parallel)</a:t>
                      </a:r>
                      <a:endParaRPr lang="en-US" sz="1400"/>
                    </a:p>
                  </a:txBody>
                  <a:tcPr marL="42832" marR="42832" marT="21416" marB="21416" anchor="ctr"/>
                </a:tc>
              </a:tr>
              <a:tr h="659804">
                <a:tc>
                  <a:txBody>
                    <a:bodyPr/>
                    <a:lstStyle/>
                    <a:p>
                      <a:pPr algn="ctr"/>
                      <a:r>
                        <a:rPr lang="en-US" sz="1400"/>
                        <a:t>Mature but based on legacy ROS 1 ecosystem</a:t>
                      </a:r>
                      <a:endParaRPr lang="en-US" sz="1400"/>
                    </a:p>
                  </a:txBody>
                  <a:tcPr marL="42832" marR="42832" marT="21416" marB="21416" anchor="ctr"/>
                </a:tc>
                <a:tc>
                  <a:txBody>
                    <a:bodyPr/>
                    <a:lstStyle/>
                    <a:p>
                      <a:pPr algn="ctr"/>
                      <a:r>
                        <a:rPr lang="en-US" sz="1400"/>
                        <a:t>Actively developed, </a:t>
                      </a:r>
                      <a:r>
                        <a:rPr lang="en-US" sz="1400" b="1"/>
                        <a:t>future-focused</a:t>
                      </a:r>
                      <a:r>
                        <a:rPr lang="en-US" sz="1400"/>
                        <a:t> in ROS 2 ecosystem</a:t>
                      </a:r>
                      <a:endParaRPr lang="en-US" sz="1400"/>
                    </a:p>
                  </a:txBody>
                  <a:tcPr marL="42832" marR="42832" marT="21416" marB="21416" anchor="ctr"/>
                </a:tc>
              </a:tr>
              <a:tr h="659804">
                <a:tc>
                  <a:txBody>
                    <a:bodyPr/>
                    <a:lstStyle/>
                    <a:p>
                      <a:pPr algn="ctr"/>
                      <a:r>
                        <a:rPr lang="en-US" sz="1400"/>
                        <a:t>Good for existing ROS 1 deployments</a:t>
                      </a:r>
                      <a:endParaRPr lang="en-US" sz="1400"/>
                    </a:p>
                  </a:txBody>
                  <a:tcPr marL="42832" marR="42832" marT="21416" marB="21416" anchor="ctr"/>
                </a:tc>
                <a:tc>
                  <a:txBody>
                    <a:bodyPr/>
                    <a:lstStyle/>
                    <a:p>
                      <a:pPr algn="ctr"/>
                      <a:r>
                        <a:rPr lang="en-US" sz="1400" dirty="0"/>
                        <a:t>Recommended for </a:t>
                      </a:r>
                      <a:r>
                        <a:rPr lang="en-US" sz="1400" b="1" dirty="0"/>
                        <a:t>new projects and modern applications</a:t>
                      </a:r>
                      <a:endParaRPr lang="en-US" sz="1400" dirty="0"/>
                    </a:p>
                  </a:txBody>
                  <a:tcPr marL="42832" marR="42832" marT="21416" marB="21416" anchor="ctr"/>
                </a:tc>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00FF"/>
                </a:solidFill>
              </a:rPr>
              <a:t>Functionalities of </a:t>
            </a:r>
            <a:r>
              <a:rPr lang="en-US" sz="3600" dirty="0">
                <a:solidFill>
                  <a:srgbClr val="FF3399"/>
                </a:solidFill>
              </a:rPr>
              <a:t>MoveIt</a:t>
            </a:r>
            <a:endParaRPr lang="en-US" sz="3600" dirty="0">
              <a:solidFill>
                <a:srgbClr val="0073FF"/>
              </a:solidFill>
            </a:endParaRPr>
          </a:p>
        </p:txBody>
      </p:sp>
      <p:sp>
        <p:nvSpPr>
          <p:cNvPr id="2" name="TextBox 1"/>
          <p:cNvSpPr txBox="1"/>
          <p:nvPr/>
        </p:nvSpPr>
        <p:spPr>
          <a:xfrm>
            <a:off x="400881" y="1154257"/>
            <a:ext cx="11324395" cy="1660904"/>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chemeClr val="bg1"/>
                </a:solidFill>
              </a:rPr>
              <a:t>1. Motion Planning</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Generate high-degree of freedom trajectories through cluttered environments and avoid local minimums</a:t>
            </a:r>
            <a:endParaRPr lang="en-US" sz="2400" dirty="0">
              <a:solidFill>
                <a:schemeClr val="bg1"/>
              </a:solidFill>
            </a:endParaRPr>
          </a:p>
        </p:txBody>
      </p:sp>
      <p:sp>
        <p:nvSpPr>
          <p:cNvPr id="4" name="TextBox 3"/>
          <p:cNvSpPr txBox="1"/>
          <p:nvPr/>
        </p:nvSpPr>
        <p:spPr>
          <a:xfrm>
            <a:off x="545260" y="3358443"/>
            <a:ext cx="10504542" cy="1217706"/>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chemeClr val="bg1"/>
                </a:solidFill>
              </a:rPr>
              <a:t>2. Manipulation</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Analyze and interact with your environment with grasp generation</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00FF"/>
                </a:solidFill>
              </a:rPr>
              <a:t>Functionalities of </a:t>
            </a:r>
            <a:r>
              <a:rPr lang="en-US" sz="3600" dirty="0">
                <a:solidFill>
                  <a:srgbClr val="FF3399"/>
                </a:solidFill>
              </a:rPr>
              <a:t>MoveIt</a:t>
            </a:r>
            <a:endParaRPr lang="en-US" sz="3600" dirty="0">
              <a:solidFill>
                <a:srgbClr val="0073FF"/>
              </a:solidFill>
            </a:endParaRPr>
          </a:p>
        </p:txBody>
      </p:sp>
      <p:sp>
        <p:nvSpPr>
          <p:cNvPr id="2" name="TextBox 1"/>
          <p:cNvSpPr txBox="1"/>
          <p:nvPr/>
        </p:nvSpPr>
        <p:spPr>
          <a:xfrm>
            <a:off x="400881" y="1154257"/>
            <a:ext cx="11324395" cy="1217706"/>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chemeClr val="bg1"/>
                </a:solidFill>
              </a:rPr>
              <a:t>3. Inverse Kinematics</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Solve for joint positions for a given pose, even in over-actuated arms</a:t>
            </a:r>
            <a:endParaRPr lang="en-US" sz="2400" dirty="0">
              <a:solidFill>
                <a:schemeClr val="bg1"/>
              </a:solidFill>
            </a:endParaRPr>
          </a:p>
        </p:txBody>
      </p:sp>
      <p:sp>
        <p:nvSpPr>
          <p:cNvPr id="4" name="TextBox 3"/>
          <p:cNvSpPr txBox="1"/>
          <p:nvPr/>
        </p:nvSpPr>
        <p:spPr>
          <a:xfrm>
            <a:off x="416993" y="3358443"/>
            <a:ext cx="10504542" cy="1660904"/>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chemeClr val="bg1"/>
                </a:solidFill>
              </a:rPr>
              <a:t>4. Control</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Execute time-parameterized joint trajectories to low level hardware controllers through common interfaces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00FF"/>
                </a:solidFill>
              </a:rPr>
              <a:t>Functionalities of </a:t>
            </a:r>
            <a:r>
              <a:rPr lang="en-US" sz="3600" dirty="0">
                <a:solidFill>
                  <a:srgbClr val="FF3399"/>
                </a:solidFill>
              </a:rPr>
              <a:t>MoveIt</a:t>
            </a:r>
            <a:endParaRPr lang="en-US" sz="3600" dirty="0">
              <a:solidFill>
                <a:srgbClr val="0073FF"/>
              </a:solidFill>
            </a:endParaRPr>
          </a:p>
        </p:txBody>
      </p:sp>
      <p:sp>
        <p:nvSpPr>
          <p:cNvPr id="2" name="TextBox 1"/>
          <p:cNvSpPr txBox="1"/>
          <p:nvPr/>
        </p:nvSpPr>
        <p:spPr>
          <a:xfrm>
            <a:off x="400881" y="1154257"/>
            <a:ext cx="11324395" cy="1217706"/>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chemeClr val="bg1"/>
                </a:solidFill>
              </a:rPr>
              <a:t>5. 3D Perception</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Connect to depth sensors and point clouds with </a:t>
            </a:r>
            <a:r>
              <a:rPr lang="en-US" sz="2400" dirty="0" err="1">
                <a:solidFill>
                  <a:schemeClr val="bg1"/>
                </a:solidFill>
              </a:rPr>
              <a:t>Octomaps</a:t>
            </a:r>
            <a:endParaRPr lang="en-US" sz="2400" dirty="0">
              <a:solidFill>
                <a:schemeClr val="bg1"/>
              </a:solidFill>
            </a:endParaRPr>
          </a:p>
        </p:txBody>
      </p:sp>
      <p:sp>
        <p:nvSpPr>
          <p:cNvPr id="4" name="TextBox 3"/>
          <p:cNvSpPr txBox="1"/>
          <p:nvPr/>
        </p:nvSpPr>
        <p:spPr>
          <a:xfrm>
            <a:off x="416993" y="3358443"/>
            <a:ext cx="10504542" cy="1660904"/>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chemeClr val="bg1"/>
                </a:solidFill>
              </a:rPr>
              <a:t>6. Collision Checking</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Avoid obstacles using geometric primitives, meshes, or point cloud data</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00FF"/>
                </a:solidFill>
              </a:rPr>
              <a:t>What are the Research Libraries in </a:t>
            </a:r>
            <a:r>
              <a:rPr lang="en-US" sz="3600" dirty="0">
                <a:solidFill>
                  <a:srgbClr val="FF3399"/>
                </a:solidFill>
              </a:rPr>
              <a:t>MoveIt?</a:t>
            </a:r>
            <a:endParaRPr lang="en-US" sz="3600" dirty="0">
              <a:solidFill>
                <a:srgbClr val="0073FF"/>
              </a:solidFill>
            </a:endParaRPr>
          </a:p>
        </p:txBody>
      </p:sp>
      <p:sp>
        <p:nvSpPr>
          <p:cNvPr id="2" name="TextBox 1"/>
          <p:cNvSpPr txBox="1"/>
          <p:nvPr/>
        </p:nvSpPr>
        <p:spPr>
          <a:xfrm>
            <a:off x="400881" y="1154257"/>
            <a:ext cx="11324395" cy="5301901"/>
          </a:xfrm>
          <a:prstGeom prst="rect">
            <a:avLst/>
          </a:prstGeom>
          <a:noFill/>
        </p:spPr>
        <p:txBody>
          <a:bodyPr wrap="square" lIns="182880" tIns="146304" rIns="182880" bIns="146304" rtlCol="0">
            <a:spAutoFit/>
          </a:bodyPr>
          <a:lstStyle/>
          <a:p>
            <a:pPr marL="457200" indent="-457200">
              <a:lnSpc>
                <a:spcPct val="120000"/>
              </a:lnSpc>
              <a:spcAft>
                <a:spcPts val="600"/>
              </a:spcAft>
              <a:buSzPct val="100000"/>
              <a:buAutoNum type="arabicPeriod"/>
            </a:pPr>
            <a:r>
              <a:rPr lang="en-US" sz="2400" dirty="0">
                <a:solidFill>
                  <a:srgbClr val="FFC000"/>
                </a:solidFill>
              </a:rPr>
              <a:t>OMPL</a:t>
            </a:r>
            <a:r>
              <a:rPr lang="en-US" sz="2400" dirty="0">
                <a:solidFill>
                  <a:schemeClr val="bg1"/>
                </a:solidFill>
              </a:rPr>
              <a:t> – Open Motion Planning Library for sampling-based motion planning.</a:t>
            </a:r>
            <a:endParaRPr lang="en-US" sz="2400" dirty="0">
              <a:solidFill>
                <a:schemeClr val="bg1"/>
              </a:solidFill>
            </a:endParaRPr>
          </a:p>
          <a:p>
            <a:pPr marL="457200" indent="-457200">
              <a:lnSpc>
                <a:spcPct val="120000"/>
              </a:lnSpc>
              <a:spcAft>
                <a:spcPts val="600"/>
              </a:spcAft>
              <a:buSzPct val="100000"/>
              <a:buAutoNum type="arabicPeriod"/>
            </a:pPr>
            <a:r>
              <a:rPr lang="en-US" sz="2400" dirty="0">
                <a:solidFill>
                  <a:srgbClr val="FFC000"/>
                </a:solidFill>
              </a:rPr>
              <a:t>SBPL</a:t>
            </a:r>
            <a:r>
              <a:rPr lang="en-US" sz="2400" dirty="0">
                <a:solidFill>
                  <a:schemeClr val="bg1"/>
                </a:solidFill>
              </a:rPr>
              <a:t> – Search-Based Planning Library for grid and graph search planners.</a:t>
            </a:r>
            <a:endParaRPr lang="en-US" sz="2400" dirty="0">
              <a:solidFill>
                <a:schemeClr val="bg1"/>
              </a:solidFill>
            </a:endParaRPr>
          </a:p>
          <a:p>
            <a:pPr marL="457200" indent="-457200">
              <a:lnSpc>
                <a:spcPct val="120000"/>
              </a:lnSpc>
              <a:spcAft>
                <a:spcPts val="600"/>
              </a:spcAft>
              <a:buSzPct val="100000"/>
              <a:buAutoNum type="arabicPeriod"/>
            </a:pPr>
            <a:r>
              <a:rPr lang="en-US" sz="2400" dirty="0">
                <a:solidFill>
                  <a:srgbClr val="FFC000"/>
                </a:solidFill>
              </a:rPr>
              <a:t>CHOMP</a:t>
            </a:r>
            <a:r>
              <a:rPr lang="en-US" sz="2400" dirty="0">
                <a:solidFill>
                  <a:schemeClr val="bg1"/>
                </a:solidFill>
              </a:rPr>
              <a:t> – Covariant Hamiltonian Optimization-based trajectory optimizer.</a:t>
            </a:r>
            <a:endParaRPr lang="en-US" sz="2400" dirty="0">
              <a:solidFill>
                <a:schemeClr val="bg1"/>
              </a:solidFill>
            </a:endParaRPr>
          </a:p>
          <a:p>
            <a:pPr marL="457200" indent="-457200">
              <a:lnSpc>
                <a:spcPct val="120000"/>
              </a:lnSpc>
              <a:spcAft>
                <a:spcPts val="600"/>
              </a:spcAft>
              <a:buSzPct val="100000"/>
              <a:buAutoNum type="arabicPeriod"/>
            </a:pPr>
            <a:r>
              <a:rPr lang="en-US" sz="2400" dirty="0">
                <a:solidFill>
                  <a:srgbClr val="FFC000"/>
                </a:solidFill>
              </a:rPr>
              <a:t>STOMP</a:t>
            </a:r>
            <a:r>
              <a:rPr lang="en-US" sz="2400" dirty="0">
                <a:solidFill>
                  <a:schemeClr val="bg1"/>
                </a:solidFill>
              </a:rPr>
              <a:t> – Stochastic Trajectory Optimization for motion planning.</a:t>
            </a:r>
            <a:endParaRPr lang="en-US" sz="2400" dirty="0">
              <a:solidFill>
                <a:schemeClr val="bg1"/>
              </a:solidFill>
            </a:endParaRPr>
          </a:p>
          <a:p>
            <a:pPr marL="457200" indent="-457200">
              <a:lnSpc>
                <a:spcPct val="120000"/>
              </a:lnSpc>
              <a:spcAft>
                <a:spcPts val="600"/>
              </a:spcAft>
              <a:buSzPct val="100000"/>
              <a:buAutoNum type="arabicPeriod"/>
            </a:pPr>
            <a:r>
              <a:rPr lang="en-US" sz="2400" dirty="0">
                <a:solidFill>
                  <a:srgbClr val="FFC000"/>
                </a:solidFill>
              </a:rPr>
              <a:t>FCL</a:t>
            </a:r>
            <a:r>
              <a:rPr lang="en-US" sz="2400" dirty="0">
                <a:solidFill>
                  <a:schemeClr val="bg1"/>
                </a:solidFill>
              </a:rPr>
              <a:t> – Fast Collision Checking Library for collision detection.</a:t>
            </a:r>
            <a:endParaRPr lang="en-US" sz="2400" dirty="0">
              <a:solidFill>
                <a:schemeClr val="bg1"/>
              </a:solidFill>
            </a:endParaRPr>
          </a:p>
          <a:p>
            <a:pPr marL="457200" indent="-457200">
              <a:lnSpc>
                <a:spcPct val="120000"/>
              </a:lnSpc>
              <a:spcAft>
                <a:spcPts val="600"/>
              </a:spcAft>
              <a:buSzPct val="100000"/>
              <a:buAutoNum type="arabicPeriod"/>
            </a:pPr>
            <a:r>
              <a:rPr lang="en-US" sz="2400" dirty="0">
                <a:solidFill>
                  <a:srgbClr val="FFC000"/>
                </a:solidFill>
              </a:rPr>
              <a:t>PCD</a:t>
            </a:r>
            <a:r>
              <a:rPr lang="en-US" sz="2400" dirty="0">
                <a:solidFill>
                  <a:schemeClr val="bg1"/>
                </a:solidFill>
              </a:rPr>
              <a:t> – Proximity Collision Detection library for distance and collision queries.</a:t>
            </a:r>
            <a:endParaRPr lang="en-US" sz="2400" dirty="0">
              <a:solidFill>
                <a:schemeClr val="bg1"/>
              </a:solidFill>
            </a:endParaRPr>
          </a:p>
          <a:p>
            <a:pPr marL="457200" indent="-457200">
              <a:lnSpc>
                <a:spcPct val="120000"/>
              </a:lnSpc>
              <a:spcAft>
                <a:spcPts val="600"/>
              </a:spcAft>
              <a:buSzPct val="100000"/>
              <a:buAutoNum type="arabicPeriod"/>
            </a:pPr>
            <a:r>
              <a:rPr lang="en-US" sz="2400" dirty="0" err="1">
                <a:solidFill>
                  <a:srgbClr val="FFC000"/>
                </a:solidFill>
              </a:rPr>
              <a:t>IKFast</a:t>
            </a:r>
            <a:r>
              <a:rPr lang="en-US" sz="2400" dirty="0">
                <a:solidFill>
                  <a:schemeClr val="bg1"/>
                </a:solidFill>
              </a:rPr>
              <a:t> – Analytical inverse kinematics solver that generates closed-form IK.</a:t>
            </a:r>
            <a:endParaRPr lang="en-US" sz="2400" dirty="0">
              <a:solidFill>
                <a:schemeClr val="bg1"/>
              </a:solidFill>
            </a:endParaRPr>
          </a:p>
          <a:p>
            <a:pPr marL="457200" indent="-457200">
              <a:lnSpc>
                <a:spcPct val="120000"/>
              </a:lnSpc>
              <a:spcAft>
                <a:spcPts val="600"/>
              </a:spcAft>
              <a:buSzPct val="100000"/>
              <a:buAutoNum type="arabicPeriod"/>
            </a:pPr>
            <a:r>
              <a:rPr lang="en-US" sz="2400" dirty="0">
                <a:solidFill>
                  <a:srgbClr val="FFC000"/>
                </a:solidFill>
              </a:rPr>
              <a:t>KDL</a:t>
            </a:r>
            <a:r>
              <a:rPr lang="en-US" sz="2400" dirty="0">
                <a:solidFill>
                  <a:schemeClr val="bg1"/>
                </a:solidFill>
              </a:rPr>
              <a:t> – Kinematics and Dynamics Library for numerical IK and robot kinematics.</a:t>
            </a:r>
            <a:endParaRPr lang="en-US" sz="2400" dirty="0">
              <a:solidFill>
                <a:schemeClr val="bg1"/>
              </a:solidFill>
            </a:endParaRPr>
          </a:p>
          <a:p>
            <a:pPr marL="457200" indent="-457200">
              <a:lnSpc>
                <a:spcPct val="120000"/>
              </a:lnSpc>
              <a:spcAft>
                <a:spcPts val="600"/>
              </a:spcAft>
              <a:buSzPct val="100000"/>
              <a:buAutoNum type="arabicPeriod"/>
            </a:pPr>
            <a:r>
              <a:rPr lang="en-US" sz="2400" dirty="0" err="1">
                <a:solidFill>
                  <a:srgbClr val="FFC000"/>
                </a:solidFill>
              </a:rPr>
              <a:t>OctoMap</a:t>
            </a:r>
            <a:r>
              <a:rPr lang="en-US" sz="2400" dirty="0">
                <a:solidFill>
                  <a:schemeClr val="bg1"/>
                </a:solidFill>
              </a:rPr>
              <a:t> – 3D occupancy grid mapping library for representing environments.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ECECE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07368" y="911175"/>
            <a:ext cx="3221356" cy="553998"/>
          </a:xfrm>
        </p:spPr>
        <p:txBody>
          <a:bodyPr/>
          <a:lstStyle/>
          <a:p>
            <a:r>
              <a:rPr lang="en-US" sz="3600" dirty="0" err="1">
                <a:solidFill>
                  <a:schemeClr val="tx1"/>
                </a:solidFill>
              </a:rPr>
              <a:t>Moveit</a:t>
            </a:r>
            <a:r>
              <a:rPr lang="en-US" sz="3600" dirty="0">
                <a:solidFill>
                  <a:schemeClr val="tx1"/>
                </a:solidFill>
              </a:rPr>
              <a:t> System </a:t>
            </a:r>
            <a:r>
              <a:rPr lang="en-US" sz="3600" dirty="0">
                <a:solidFill>
                  <a:srgbClr val="FF3399"/>
                </a:solidFill>
              </a:rPr>
              <a:t>Architecture</a:t>
            </a:r>
            <a:endParaRPr lang="en-US" sz="3600" dirty="0">
              <a:solidFill>
                <a:srgbClr val="FF3399"/>
              </a:solidFill>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16968" y="26501"/>
            <a:ext cx="5574313" cy="68314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chemeClr val="tx1"/>
                </a:solidFill>
              </a:rPr>
              <a:t>Motion Planning Framework Architecture of MoveIt</a:t>
            </a:r>
            <a:endParaRPr lang="en-US" sz="3600" dirty="0">
              <a:solidFill>
                <a:schemeClr val="tx1"/>
              </a:solidFill>
            </a:endParaRPr>
          </a:p>
        </p:txBody>
      </p:sp>
      <p:pic>
        <p:nvPicPr>
          <p:cNvPr id="5" name="Picture 4"/>
          <p:cNvPicPr>
            <a:picLocks noChangeAspect="1"/>
          </p:cNvPicPr>
          <p:nvPr/>
        </p:nvPicPr>
        <p:blipFill>
          <a:blip r:embed="rId1"/>
          <a:stretch>
            <a:fillRect/>
          </a:stretch>
        </p:blipFill>
        <p:spPr>
          <a:xfrm>
            <a:off x="1746985" y="1379889"/>
            <a:ext cx="8217167" cy="547811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chemeClr val="tx1"/>
                </a:solidFill>
              </a:rPr>
              <a:t>MoveIt Plugin Ecosystem</a:t>
            </a:r>
            <a:endParaRPr lang="en-US" sz="3600" dirty="0">
              <a:solidFill>
                <a:schemeClr val="tx1"/>
              </a:solidFill>
            </a:endParaRPr>
          </a:p>
        </p:txBody>
      </p:sp>
      <p:pic>
        <p:nvPicPr>
          <p:cNvPr id="4" name="Picture 3"/>
          <p:cNvPicPr>
            <a:picLocks noChangeAspect="1"/>
          </p:cNvPicPr>
          <p:nvPr/>
        </p:nvPicPr>
        <p:blipFill>
          <a:blip r:embed="rId1"/>
          <a:stretch>
            <a:fillRect/>
          </a:stretch>
        </p:blipFill>
        <p:spPr>
          <a:xfrm>
            <a:off x="2233612" y="1256648"/>
            <a:ext cx="7724775" cy="5133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202131" y="583916"/>
            <a:ext cx="11523145" cy="553998"/>
          </a:xfrm>
        </p:spPr>
        <p:txBody>
          <a:bodyPr/>
          <a:lstStyle/>
          <a:p>
            <a:r>
              <a:rPr lang="en-US" sz="3600" dirty="0">
                <a:solidFill>
                  <a:schemeClr val="tx1"/>
                </a:solidFill>
              </a:rPr>
              <a:t>MoveIt Architecture with Global and Local Planners in ROS 2</a:t>
            </a:r>
            <a:endParaRPr lang="en-US" sz="3600" dirty="0">
              <a:solidFill>
                <a:schemeClr val="tx1"/>
              </a:solidFill>
            </a:endParaRPr>
          </a:p>
        </p:txBody>
      </p:sp>
      <p:sp>
        <p:nvSpPr>
          <p:cNvPr id="2" name="object 2"/>
          <p:cNvSpPr/>
          <p:nvPr/>
        </p:nvSpPr>
        <p:spPr>
          <a:xfrm>
            <a:off x="4742000" y="3429000"/>
            <a:ext cx="3696970" cy="1315720"/>
          </a:xfrm>
          <a:custGeom>
            <a:avLst/>
            <a:gdLst/>
            <a:ahLst/>
            <a:cxnLst/>
            <a:rect l="l" t="t" r="r" b="b"/>
            <a:pathLst>
              <a:path w="3696970" h="1315720">
                <a:moveTo>
                  <a:pt x="0" y="0"/>
                </a:moveTo>
                <a:lnTo>
                  <a:pt x="3696892" y="0"/>
                </a:lnTo>
                <a:lnTo>
                  <a:pt x="3696892" y="1315197"/>
                </a:lnTo>
                <a:lnTo>
                  <a:pt x="0" y="1315197"/>
                </a:lnTo>
                <a:lnTo>
                  <a:pt x="0" y="0"/>
                </a:lnTo>
                <a:close/>
              </a:path>
            </a:pathLst>
          </a:custGeom>
          <a:ln w="9524">
            <a:solidFill>
              <a:srgbClr val="1A1A1A"/>
            </a:solidFill>
          </a:ln>
        </p:spPr>
        <p:txBody>
          <a:bodyPr wrap="square" lIns="0" tIns="0" rIns="0" bIns="0" rtlCol="0"/>
          <a:lstStyle/>
          <a:p/>
        </p:txBody>
      </p:sp>
      <p:sp>
        <p:nvSpPr>
          <p:cNvPr id="5" name="object 3"/>
          <p:cNvSpPr txBox="1"/>
          <p:nvPr/>
        </p:nvSpPr>
        <p:spPr>
          <a:xfrm>
            <a:off x="4742000" y="3429000"/>
            <a:ext cx="3696970" cy="1315720"/>
          </a:xfrm>
          <a:prstGeom prst="rect">
            <a:avLst/>
          </a:prstGeom>
          <a:solidFill>
            <a:srgbClr val="FFF2CC"/>
          </a:solidFill>
        </p:spPr>
        <p:txBody>
          <a:bodyPr vert="horz" wrap="square" lIns="0" tIns="78105" rIns="0" bIns="0" rtlCol="0">
            <a:spAutoFit/>
          </a:bodyPr>
          <a:lstStyle/>
          <a:p>
            <a:pPr marL="85725">
              <a:lnSpc>
                <a:spcPct val="100000"/>
              </a:lnSpc>
              <a:spcBef>
                <a:spcPts val="615"/>
              </a:spcBef>
            </a:pPr>
            <a:r>
              <a:rPr sz="1400" b="1" dirty="0">
                <a:latin typeface="Arial" panose="020B0604020202020204"/>
                <a:cs typeface="Arial" panose="020B0604020202020204"/>
              </a:rPr>
              <a:t>ROS</a:t>
            </a:r>
            <a:r>
              <a:rPr sz="1400" b="1" spc="-30" dirty="0">
                <a:latin typeface="Arial" panose="020B0604020202020204"/>
                <a:cs typeface="Arial" panose="020B0604020202020204"/>
              </a:rPr>
              <a:t> </a:t>
            </a:r>
            <a:r>
              <a:rPr sz="1400" b="1" dirty="0">
                <a:latin typeface="Arial" panose="020B0604020202020204"/>
                <a:cs typeface="Arial" panose="020B0604020202020204"/>
              </a:rPr>
              <a:t>2</a:t>
            </a:r>
            <a:r>
              <a:rPr sz="1400" b="1" spc="-25" dirty="0">
                <a:latin typeface="Arial" panose="020B0604020202020204"/>
                <a:cs typeface="Arial" panose="020B0604020202020204"/>
              </a:rPr>
              <a:t> </a:t>
            </a:r>
            <a:r>
              <a:rPr sz="1400" b="1" spc="-10" dirty="0">
                <a:latin typeface="Arial" panose="020B0604020202020204"/>
                <a:cs typeface="Arial" panose="020B0604020202020204"/>
              </a:rPr>
              <a:t>Control</a:t>
            </a:r>
            <a:endParaRPr sz="1400">
              <a:latin typeface="Arial" panose="020B0604020202020204"/>
              <a:cs typeface="Arial" panose="020B0604020202020204"/>
            </a:endParaRPr>
          </a:p>
        </p:txBody>
      </p:sp>
      <p:grpSp>
        <p:nvGrpSpPr>
          <p:cNvPr id="6" name="object 4"/>
          <p:cNvGrpSpPr/>
          <p:nvPr/>
        </p:nvGrpSpPr>
        <p:grpSpPr>
          <a:xfrm>
            <a:off x="4737238" y="2282143"/>
            <a:ext cx="3706495" cy="1143000"/>
            <a:chOff x="3514830" y="2416885"/>
            <a:chExt cx="3706495" cy="1143000"/>
          </a:xfrm>
        </p:grpSpPr>
        <p:sp>
          <p:nvSpPr>
            <p:cNvPr id="7" name="object 5"/>
            <p:cNvSpPr/>
            <p:nvPr/>
          </p:nvSpPr>
          <p:spPr>
            <a:xfrm>
              <a:off x="3519592" y="2421647"/>
              <a:ext cx="3696970" cy="1133475"/>
            </a:xfrm>
            <a:custGeom>
              <a:avLst/>
              <a:gdLst/>
              <a:ahLst/>
              <a:cxnLst/>
              <a:rect l="l" t="t" r="r" b="b"/>
              <a:pathLst>
                <a:path w="3696970" h="1133475">
                  <a:moveTo>
                    <a:pt x="3696892" y="1133395"/>
                  </a:moveTo>
                  <a:lnTo>
                    <a:pt x="0" y="1133395"/>
                  </a:lnTo>
                  <a:lnTo>
                    <a:pt x="0" y="0"/>
                  </a:lnTo>
                  <a:lnTo>
                    <a:pt x="3696892" y="0"/>
                  </a:lnTo>
                  <a:lnTo>
                    <a:pt x="3696892" y="1133395"/>
                  </a:lnTo>
                  <a:close/>
                </a:path>
              </a:pathLst>
            </a:custGeom>
            <a:solidFill>
              <a:srgbClr val="CFE1F2"/>
            </a:solidFill>
          </p:spPr>
          <p:txBody>
            <a:bodyPr wrap="square" lIns="0" tIns="0" rIns="0" bIns="0" rtlCol="0"/>
            <a:lstStyle/>
            <a:p/>
          </p:txBody>
        </p:sp>
        <p:sp>
          <p:nvSpPr>
            <p:cNvPr id="9" name="object 6"/>
            <p:cNvSpPr/>
            <p:nvPr/>
          </p:nvSpPr>
          <p:spPr>
            <a:xfrm>
              <a:off x="3519592" y="2421647"/>
              <a:ext cx="3696970" cy="1133475"/>
            </a:xfrm>
            <a:custGeom>
              <a:avLst/>
              <a:gdLst/>
              <a:ahLst/>
              <a:cxnLst/>
              <a:rect l="l" t="t" r="r" b="b"/>
              <a:pathLst>
                <a:path w="3696970" h="1133475">
                  <a:moveTo>
                    <a:pt x="0" y="0"/>
                  </a:moveTo>
                  <a:lnTo>
                    <a:pt x="3696892" y="0"/>
                  </a:lnTo>
                  <a:lnTo>
                    <a:pt x="3696892" y="1133395"/>
                  </a:lnTo>
                  <a:lnTo>
                    <a:pt x="0" y="1133395"/>
                  </a:lnTo>
                  <a:lnTo>
                    <a:pt x="0" y="0"/>
                  </a:lnTo>
                  <a:close/>
                </a:path>
              </a:pathLst>
            </a:custGeom>
            <a:ln w="9524">
              <a:solidFill>
                <a:srgbClr val="1A1A1A"/>
              </a:solidFill>
            </a:ln>
          </p:spPr>
          <p:txBody>
            <a:bodyPr wrap="square" lIns="0" tIns="0" rIns="0" bIns="0" rtlCol="0"/>
            <a:lstStyle/>
            <a:p/>
          </p:txBody>
        </p:sp>
      </p:grpSp>
      <p:sp>
        <p:nvSpPr>
          <p:cNvPr id="10" name="object 7"/>
          <p:cNvSpPr txBox="1"/>
          <p:nvPr/>
        </p:nvSpPr>
        <p:spPr>
          <a:xfrm>
            <a:off x="4815027" y="2352820"/>
            <a:ext cx="1701800" cy="419100"/>
          </a:xfrm>
          <a:prstGeom prst="rect">
            <a:avLst/>
          </a:prstGeom>
        </p:spPr>
        <p:txBody>
          <a:bodyPr vert="horz" wrap="square" lIns="0" tIns="12700" rIns="0" bIns="0" rtlCol="0">
            <a:spAutoFit/>
          </a:bodyPr>
          <a:lstStyle/>
          <a:p>
            <a:pPr marL="12700">
              <a:lnSpc>
                <a:spcPts val="1670"/>
              </a:lnSpc>
              <a:spcBef>
                <a:spcPts val="100"/>
              </a:spcBef>
            </a:pPr>
            <a:r>
              <a:rPr sz="1400" b="1" spc="-10" dirty="0">
                <a:latin typeface="Arial" panose="020B0604020202020204"/>
                <a:cs typeface="Arial" panose="020B0604020202020204"/>
              </a:rPr>
              <a:t>MoveItCpp</a:t>
            </a:r>
            <a:endParaRPr sz="1400">
              <a:latin typeface="Arial" panose="020B0604020202020204"/>
              <a:cs typeface="Arial" panose="020B0604020202020204"/>
            </a:endParaRPr>
          </a:p>
          <a:p>
            <a:pPr marL="12700">
              <a:lnSpc>
                <a:spcPts val="1430"/>
              </a:lnSpc>
            </a:pPr>
            <a:r>
              <a:rPr sz="1200" i="1" dirty="0">
                <a:latin typeface="Arial" panose="020B0604020202020204"/>
                <a:cs typeface="Arial" panose="020B0604020202020204"/>
              </a:rPr>
              <a:t>Core</a:t>
            </a:r>
            <a:r>
              <a:rPr sz="1200" i="1" spc="-25" dirty="0">
                <a:latin typeface="Arial" panose="020B0604020202020204"/>
                <a:cs typeface="Arial" panose="020B0604020202020204"/>
              </a:rPr>
              <a:t> </a:t>
            </a:r>
            <a:r>
              <a:rPr sz="1200" i="1" dirty="0">
                <a:latin typeface="Arial" panose="020B0604020202020204"/>
                <a:cs typeface="Arial" panose="020B0604020202020204"/>
              </a:rPr>
              <a:t>MoveIt</a:t>
            </a:r>
            <a:r>
              <a:rPr sz="1200" i="1" spc="-25" dirty="0">
                <a:latin typeface="Arial" panose="020B0604020202020204"/>
                <a:cs typeface="Arial" panose="020B0604020202020204"/>
              </a:rPr>
              <a:t> </a:t>
            </a:r>
            <a:r>
              <a:rPr sz="1200" i="1" spc="-10" dirty="0">
                <a:latin typeface="Arial" panose="020B0604020202020204"/>
                <a:cs typeface="Arial" panose="020B0604020202020204"/>
              </a:rPr>
              <a:t>functionality</a:t>
            </a:r>
            <a:endParaRPr sz="1200">
              <a:latin typeface="Arial" panose="020B0604020202020204"/>
              <a:cs typeface="Arial" panose="020B0604020202020204"/>
            </a:endParaRPr>
          </a:p>
        </p:txBody>
      </p:sp>
      <p:grpSp>
        <p:nvGrpSpPr>
          <p:cNvPr id="11" name="object 8"/>
          <p:cNvGrpSpPr/>
          <p:nvPr/>
        </p:nvGrpSpPr>
        <p:grpSpPr>
          <a:xfrm>
            <a:off x="6612759" y="2347065"/>
            <a:ext cx="1829435" cy="544830"/>
            <a:chOff x="5390351" y="2481807"/>
            <a:chExt cx="1829435" cy="544830"/>
          </a:xfrm>
        </p:grpSpPr>
        <p:sp>
          <p:nvSpPr>
            <p:cNvPr id="12" name="object 9"/>
            <p:cNvSpPr/>
            <p:nvPr/>
          </p:nvSpPr>
          <p:spPr>
            <a:xfrm>
              <a:off x="5395114" y="2486569"/>
              <a:ext cx="1819910" cy="535305"/>
            </a:xfrm>
            <a:custGeom>
              <a:avLst/>
              <a:gdLst/>
              <a:ahLst/>
              <a:cxnLst/>
              <a:rect l="l" t="t" r="r" b="b"/>
              <a:pathLst>
                <a:path w="1819909" h="535305">
                  <a:moveTo>
                    <a:pt x="1819496" y="535198"/>
                  </a:moveTo>
                  <a:lnTo>
                    <a:pt x="0" y="535198"/>
                  </a:lnTo>
                  <a:lnTo>
                    <a:pt x="0" y="0"/>
                  </a:lnTo>
                  <a:lnTo>
                    <a:pt x="1819496" y="0"/>
                  </a:lnTo>
                  <a:lnTo>
                    <a:pt x="1819496" y="535198"/>
                  </a:lnTo>
                  <a:close/>
                </a:path>
              </a:pathLst>
            </a:custGeom>
            <a:solidFill>
              <a:srgbClr val="FFFF00"/>
            </a:solidFill>
          </p:spPr>
          <p:txBody>
            <a:bodyPr wrap="square" lIns="0" tIns="0" rIns="0" bIns="0" rtlCol="0"/>
            <a:lstStyle/>
            <a:p/>
          </p:txBody>
        </p:sp>
        <p:sp>
          <p:nvSpPr>
            <p:cNvPr id="13" name="object 10"/>
            <p:cNvSpPr/>
            <p:nvPr/>
          </p:nvSpPr>
          <p:spPr>
            <a:xfrm>
              <a:off x="5395114" y="2486569"/>
              <a:ext cx="1819910" cy="535305"/>
            </a:xfrm>
            <a:custGeom>
              <a:avLst/>
              <a:gdLst/>
              <a:ahLst/>
              <a:cxnLst/>
              <a:rect l="l" t="t" r="r" b="b"/>
              <a:pathLst>
                <a:path w="1819909" h="535305">
                  <a:moveTo>
                    <a:pt x="0" y="0"/>
                  </a:moveTo>
                  <a:lnTo>
                    <a:pt x="1819496" y="0"/>
                  </a:lnTo>
                  <a:lnTo>
                    <a:pt x="1819496" y="535198"/>
                  </a:lnTo>
                  <a:lnTo>
                    <a:pt x="0" y="535198"/>
                  </a:lnTo>
                  <a:lnTo>
                    <a:pt x="0" y="0"/>
                  </a:lnTo>
                  <a:close/>
                </a:path>
              </a:pathLst>
            </a:custGeom>
            <a:ln w="9524">
              <a:solidFill>
                <a:srgbClr val="1A1A1A"/>
              </a:solidFill>
            </a:ln>
          </p:spPr>
          <p:txBody>
            <a:bodyPr wrap="square" lIns="0" tIns="0" rIns="0" bIns="0" rtlCol="0"/>
            <a:lstStyle/>
            <a:p/>
          </p:txBody>
        </p:sp>
      </p:grpSp>
      <p:sp>
        <p:nvSpPr>
          <p:cNvPr id="14" name="object 11"/>
          <p:cNvSpPr txBox="1"/>
          <p:nvPr/>
        </p:nvSpPr>
        <p:spPr>
          <a:xfrm>
            <a:off x="6622284" y="2419659"/>
            <a:ext cx="1811020" cy="389255"/>
          </a:xfrm>
          <a:prstGeom prst="rect">
            <a:avLst/>
          </a:prstGeom>
        </p:spPr>
        <p:txBody>
          <a:bodyPr vert="horz" wrap="square" lIns="0" tIns="12700" rIns="0" bIns="0" rtlCol="0">
            <a:spAutoFit/>
          </a:bodyPr>
          <a:lstStyle/>
          <a:p>
            <a:pPr marL="367030">
              <a:lnSpc>
                <a:spcPts val="1430"/>
              </a:lnSpc>
              <a:spcBef>
                <a:spcPts val="100"/>
              </a:spcBef>
            </a:pPr>
            <a:r>
              <a:rPr sz="1200" b="1" dirty="0">
                <a:latin typeface="Arial" panose="020B0604020202020204"/>
                <a:cs typeface="Arial" panose="020B0604020202020204"/>
              </a:rPr>
              <a:t>Global</a:t>
            </a:r>
            <a:r>
              <a:rPr sz="1200" b="1" spc="-70" dirty="0">
                <a:latin typeface="Arial" panose="020B0604020202020204"/>
                <a:cs typeface="Arial" panose="020B0604020202020204"/>
              </a:rPr>
              <a:t> </a:t>
            </a:r>
            <a:r>
              <a:rPr sz="1200" b="1" spc="-10" dirty="0">
                <a:latin typeface="Arial" panose="020B0604020202020204"/>
                <a:cs typeface="Arial" panose="020B0604020202020204"/>
              </a:rPr>
              <a:t>Planner</a:t>
            </a:r>
            <a:endParaRPr sz="1200">
              <a:latin typeface="Arial" panose="020B0604020202020204"/>
              <a:cs typeface="Arial" panose="020B0604020202020204"/>
            </a:endParaRPr>
          </a:p>
          <a:p>
            <a:pPr marL="353060">
              <a:lnSpc>
                <a:spcPts val="1430"/>
              </a:lnSpc>
            </a:pPr>
            <a:r>
              <a:rPr sz="1200" spc="-10" dirty="0">
                <a:latin typeface="Arial" panose="020B0604020202020204"/>
                <a:cs typeface="Arial" panose="020B0604020202020204"/>
              </a:rPr>
              <a:t>OMPL,TrajOpt...</a:t>
            </a:r>
            <a:endParaRPr sz="1200">
              <a:latin typeface="Arial" panose="020B0604020202020204"/>
              <a:cs typeface="Arial" panose="020B0604020202020204"/>
            </a:endParaRPr>
          </a:p>
        </p:txBody>
      </p:sp>
      <p:sp>
        <p:nvSpPr>
          <p:cNvPr id="15" name="object 12"/>
          <p:cNvSpPr/>
          <p:nvPr/>
        </p:nvSpPr>
        <p:spPr>
          <a:xfrm>
            <a:off x="4742000" y="1917203"/>
            <a:ext cx="3696970" cy="372745"/>
          </a:xfrm>
          <a:custGeom>
            <a:avLst/>
            <a:gdLst/>
            <a:ahLst/>
            <a:cxnLst/>
            <a:rect l="l" t="t" r="r" b="b"/>
            <a:pathLst>
              <a:path w="3696970" h="372744">
                <a:moveTo>
                  <a:pt x="0" y="0"/>
                </a:moveTo>
                <a:lnTo>
                  <a:pt x="3696892" y="0"/>
                </a:lnTo>
                <a:lnTo>
                  <a:pt x="3696892" y="372299"/>
                </a:lnTo>
                <a:lnTo>
                  <a:pt x="0" y="372299"/>
                </a:lnTo>
                <a:lnTo>
                  <a:pt x="0" y="0"/>
                </a:lnTo>
                <a:close/>
              </a:path>
            </a:pathLst>
          </a:custGeom>
          <a:ln w="9524">
            <a:solidFill>
              <a:srgbClr val="1A1A1A"/>
            </a:solidFill>
          </a:ln>
        </p:spPr>
        <p:txBody>
          <a:bodyPr wrap="square" lIns="0" tIns="0" rIns="0" bIns="0" rtlCol="0"/>
          <a:lstStyle/>
          <a:p/>
        </p:txBody>
      </p:sp>
      <p:sp>
        <p:nvSpPr>
          <p:cNvPr id="16" name="object 13"/>
          <p:cNvSpPr txBox="1"/>
          <p:nvPr/>
        </p:nvSpPr>
        <p:spPr>
          <a:xfrm>
            <a:off x="4742000" y="1917203"/>
            <a:ext cx="3696970" cy="372745"/>
          </a:xfrm>
          <a:prstGeom prst="rect">
            <a:avLst/>
          </a:prstGeom>
          <a:solidFill>
            <a:srgbClr val="E8EDED"/>
          </a:solidFill>
        </p:spPr>
        <p:txBody>
          <a:bodyPr vert="horz" wrap="square" lIns="0" tIns="78740" rIns="0" bIns="0" rtlCol="0">
            <a:spAutoFit/>
          </a:bodyPr>
          <a:lstStyle/>
          <a:p>
            <a:pPr marL="85725">
              <a:lnSpc>
                <a:spcPct val="100000"/>
              </a:lnSpc>
              <a:spcBef>
                <a:spcPts val="620"/>
              </a:spcBef>
            </a:pPr>
            <a:r>
              <a:rPr sz="1400" b="1" dirty="0">
                <a:latin typeface="Arial" panose="020B0604020202020204"/>
                <a:cs typeface="Arial" panose="020B0604020202020204"/>
              </a:rPr>
              <a:t>User</a:t>
            </a:r>
            <a:r>
              <a:rPr sz="1400" b="1" spc="-70" dirty="0">
                <a:latin typeface="Arial" panose="020B0604020202020204"/>
                <a:cs typeface="Arial" panose="020B0604020202020204"/>
              </a:rPr>
              <a:t> </a:t>
            </a:r>
            <a:r>
              <a:rPr sz="1400" b="1" spc="-10" dirty="0">
                <a:latin typeface="Arial" panose="020B0604020202020204"/>
                <a:cs typeface="Arial" panose="020B0604020202020204"/>
              </a:rPr>
              <a:t>Application</a:t>
            </a:r>
            <a:endParaRPr sz="1400">
              <a:latin typeface="Arial" panose="020B0604020202020204"/>
              <a:cs typeface="Arial" panose="020B0604020202020204"/>
            </a:endParaRPr>
          </a:p>
        </p:txBody>
      </p:sp>
      <p:sp>
        <p:nvSpPr>
          <p:cNvPr id="17" name="object 14"/>
          <p:cNvSpPr/>
          <p:nvPr/>
        </p:nvSpPr>
        <p:spPr>
          <a:xfrm>
            <a:off x="4357726" y="2305878"/>
            <a:ext cx="321310" cy="2438400"/>
          </a:xfrm>
          <a:custGeom>
            <a:avLst/>
            <a:gdLst/>
            <a:ahLst/>
            <a:cxnLst/>
            <a:rect l="l" t="t" r="r" b="b"/>
            <a:pathLst>
              <a:path w="321310" h="2438400">
                <a:moveTo>
                  <a:pt x="320699" y="1111797"/>
                </a:moveTo>
                <a:lnTo>
                  <a:pt x="270019" y="1103622"/>
                </a:lnTo>
                <a:lnTo>
                  <a:pt x="226002" y="1080857"/>
                </a:lnTo>
                <a:lnTo>
                  <a:pt x="191290" y="1046144"/>
                </a:lnTo>
                <a:lnTo>
                  <a:pt x="168525" y="1002127"/>
                </a:lnTo>
                <a:lnTo>
                  <a:pt x="160349" y="951448"/>
                </a:lnTo>
                <a:lnTo>
                  <a:pt x="160349" y="716248"/>
                </a:lnTo>
                <a:lnTo>
                  <a:pt x="152174" y="665569"/>
                </a:lnTo>
                <a:lnTo>
                  <a:pt x="129408" y="621551"/>
                </a:lnTo>
                <a:lnTo>
                  <a:pt x="94696" y="586839"/>
                </a:lnTo>
                <a:lnTo>
                  <a:pt x="50679" y="564074"/>
                </a:lnTo>
                <a:lnTo>
                  <a:pt x="0" y="555898"/>
                </a:lnTo>
                <a:lnTo>
                  <a:pt x="50679" y="547723"/>
                </a:lnTo>
                <a:lnTo>
                  <a:pt x="94696" y="524958"/>
                </a:lnTo>
                <a:lnTo>
                  <a:pt x="129408" y="490245"/>
                </a:lnTo>
                <a:lnTo>
                  <a:pt x="152174" y="446228"/>
                </a:lnTo>
                <a:lnTo>
                  <a:pt x="160349" y="395549"/>
                </a:lnTo>
                <a:lnTo>
                  <a:pt x="160349" y="160349"/>
                </a:lnTo>
                <a:lnTo>
                  <a:pt x="168525" y="109670"/>
                </a:lnTo>
                <a:lnTo>
                  <a:pt x="191290" y="65653"/>
                </a:lnTo>
                <a:lnTo>
                  <a:pt x="226002" y="30940"/>
                </a:lnTo>
                <a:lnTo>
                  <a:pt x="270019" y="8175"/>
                </a:lnTo>
                <a:lnTo>
                  <a:pt x="320699" y="0"/>
                </a:lnTo>
              </a:path>
              <a:path w="321310" h="2438400">
                <a:moveTo>
                  <a:pt x="320699" y="2438395"/>
                </a:moveTo>
                <a:lnTo>
                  <a:pt x="270019" y="2430219"/>
                </a:lnTo>
                <a:lnTo>
                  <a:pt x="226002" y="2407454"/>
                </a:lnTo>
                <a:lnTo>
                  <a:pt x="191290" y="2372742"/>
                </a:lnTo>
                <a:lnTo>
                  <a:pt x="168525" y="2328724"/>
                </a:lnTo>
                <a:lnTo>
                  <a:pt x="160349" y="2278045"/>
                </a:lnTo>
                <a:lnTo>
                  <a:pt x="160349" y="1951046"/>
                </a:lnTo>
                <a:lnTo>
                  <a:pt x="152174" y="1900366"/>
                </a:lnTo>
                <a:lnTo>
                  <a:pt x="129408" y="1856349"/>
                </a:lnTo>
                <a:lnTo>
                  <a:pt x="94696" y="1821637"/>
                </a:lnTo>
                <a:lnTo>
                  <a:pt x="50679" y="1798871"/>
                </a:lnTo>
                <a:lnTo>
                  <a:pt x="0" y="1790696"/>
                </a:lnTo>
                <a:lnTo>
                  <a:pt x="50679" y="1782520"/>
                </a:lnTo>
                <a:lnTo>
                  <a:pt x="94696" y="1759755"/>
                </a:lnTo>
                <a:lnTo>
                  <a:pt x="129408" y="1725043"/>
                </a:lnTo>
                <a:lnTo>
                  <a:pt x="152174" y="1681026"/>
                </a:lnTo>
                <a:lnTo>
                  <a:pt x="160349" y="1630346"/>
                </a:lnTo>
                <a:lnTo>
                  <a:pt x="160349" y="1303347"/>
                </a:lnTo>
                <a:lnTo>
                  <a:pt x="168525" y="1252667"/>
                </a:lnTo>
                <a:lnTo>
                  <a:pt x="191290" y="1208650"/>
                </a:lnTo>
                <a:lnTo>
                  <a:pt x="226002" y="1173938"/>
                </a:lnTo>
                <a:lnTo>
                  <a:pt x="270019" y="1151173"/>
                </a:lnTo>
                <a:lnTo>
                  <a:pt x="320699" y="1142997"/>
                </a:lnTo>
              </a:path>
            </a:pathLst>
          </a:custGeom>
          <a:ln w="9524">
            <a:solidFill>
              <a:srgbClr val="1A1A1A"/>
            </a:solidFill>
          </a:ln>
        </p:spPr>
        <p:txBody>
          <a:bodyPr wrap="square" lIns="0" tIns="0" rIns="0" bIns="0" rtlCol="0"/>
          <a:lstStyle/>
          <a:p/>
        </p:txBody>
      </p:sp>
      <p:sp>
        <p:nvSpPr>
          <p:cNvPr id="18" name="object 15"/>
          <p:cNvSpPr txBox="1"/>
          <p:nvPr/>
        </p:nvSpPr>
        <p:spPr>
          <a:xfrm>
            <a:off x="2944148" y="2663792"/>
            <a:ext cx="1406525" cy="448309"/>
          </a:xfrm>
          <a:prstGeom prst="rect">
            <a:avLst/>
          </a:prstGeom>
        </p:spPr>
        <p:txBody>
          <a:bodyPr vert="horz" wrap="square" lIns="0" tIns="12700" rIns="0" bIns="0" rtlCol="0">
            <a:spAutoFit/>
          </a:bodyPr>
          <a:lstStyle/>
          <a:p>
            <a:pPr marR="5080" algn="r">
              <a:lnSpc>
                <a:spcPts val="1665"/>
              </a:lnSpc>
              <a:spcBef>
                <a:spcPts val="100"/>
              </a:spcBef>
            </a:pPr>
            <a:r>
              <a:rPr sz="1400" dirty="0">
                <a:latin typeface="Tahoma" panose="020B0604030504040204"/>
                <a:cs typeface="Tahoma" panose="020B0604030504040204"/>
              </a:rPr>
              <a:t>Component</a:t>
            </a:r>
            <a:r>
              <a:rPr sz="1400" spc="-30" dirty="0">
                <a:latin typeface="Tahoma" panose="020B0604030504040204"/>
                <a:cs typeface="Tahoma" panose="020B0604030504040204"/>
              </a:rPr>
              <a:t> </a:t>
            </a:r>
            <a:r>
              <a:rPr sz="1400" spc="-20" dirty="0">
                <a:latin typeface="Tahoma" panose="020B0604030504040204"/>
                <a:cs typeface="Tahoma" panose="020B0604030504040204"/>
              </a:rPr>
              <a:t>Node</a:t>
            </a:r>
            <a:endParaRPr sz="1400">
              <a:latin typeface="Tahoma" panose="020B0604030504040204"/>
              <a:cs typeface="Tahoma" panose="020B0604030504040204"/>
            </a:endParaRPr>
          </a:p>
          <a:p>
            <a:pPr marR="5080" algn="r">
              <a:lnSpc>
                <a:spcPts val="1665"/>
              </a:lnSpc>
            </a:pPr>
            <a:r>
              <a:rPr sz="1400" spc="-10" dirty="0">
                <a:latin typeface="Tahoma" panose="020B0604030504040204"/>
                <a:cs typeface="Tahoma" panose="020B0604030504040204"/>
              </a:rPr>
              <a:t>(Thread)</a:t>
            </a:r>
            <a:endParaRPr sz="1400">
              <a:latin typeface="Tahoma" panose="020B0604030504040204"/>
              <a:cs typeface="Tahoma" panose="020B0604030504040204"/>
            </a:endParaRPr>
          </a:p>
        </p:txBody>
      </p:sp>
      <p:sp>
        <p:nvSpPr>
          <p:cNvPr id="19" name="object 16"/>
          <p:cNvSpPr txBox="1"/>
          <p:nvPr/>
        </p:nvSpPr>
        <p:spPr>
          <a:xfrm>
            <a:off x="2944148" y="3882989"/>
            <a:ext cx="1406525" cy="448309"/>
          </a:xfrm>
          <a:prstGeom prst="rect">
            <a:avLst/>
          </a:prstGeom>
        </p:spPr>
        <p:txBody>
          <a:bodyPr vert="horz" wrap="square" lIns="0" tIns="12700" rIns="0" bIns="0" rtlCol="0">
            <a:spAutoFit/>
          </a:bodyPr>
          <a:lstStyle/>
          <a:p>
            <a:pPr marR="5080" algn="r">
              <a:lnSpc>
                <a:spcPts val="1665"/>
              </a:lnSpc>
              <a:spcBef>
                <a:spcPts val="100"/>
              </a:spcBef>
            </a:pPr>
            <a:r>
              <a:rPr sz="1400" dirty="0">
                <a:latin typeface="Tahoma" panose="020B0604030504040204"/>
                <a:cs typeface="Tahoma" panose="020B0604030504040204"/>
              </a:rPr>
              <a:t>Component</a:t>
            </a:r>
            <a:r>
              <a:rPr sz="1400" spc="-30" dirty="0">
                <a:latin typeface="Tahoma" panose="020B0604030504040204"/>
                <a:cs typeface="Tahoma" panose="020B0604030504040204"/>
              </a:rPr>
              <a:t> </a:t>
            </a:r>
            <a:r>
              <a:rPr sz="1400" spc="-20" dirty="0">
                <a:latin typeface="Tahoma" panose="020B0604030504040204"/>
                <a:cs typeface="Tahoma" panose="020B0604030504040204"/>
              </a:rPr>
              <a:t>Node</a:t>
            </a:r>
            <a:endParaRPr sz="1400">
              <a:latin typeface="Tahoma" panose="020B0604030504040204"/>
              <a:cs typeface="Tahoma" panose="020B0604030504040204"/>
            </a:endParaRPr>
          </a:p>
          <a:p>
            <a:pPr marR="5080" algn="r">
              <a:lnSpc>
                <a:spcPts val="1665"/>
              </a:lnSpc>
            </a:pPr>
            <a:r>
              <a:rPr sz="1400" spc="-10" dirty="0">
                <a:latin typeface="Tahoma" panose="020B0604030504040204"/>
                <a:cs typeface="Tahoma" panose="020B0604030504040204"/>
              </a:rPr>
              <a:t>(Thread)</a:t>
            </a:r>
            <a:endParaRPr sz="1400">
              <a:latin typeface="Tahoma" panose="020B0604030504040204"/>
              <a:cs typeface="Tahoma" panose="020B0604030504040204"/>
            </a:endParaRPr>
          </a:p>
        </p:txBody>
      </p:sp>
      <p:sp>
        <p:nvSpPr>
          <p:cNvPr id="20" name="object 17"/>
          <p:cNvSpPr txBox="1"/>
          <p:nvPr/>
        </p:nvSpPr>
        <p:spPr>
          <a:xfrm>
            <a:off x="2944148" y="1901793"/>
            <a:ext cx="1406525" cy="448309"/>
          </a:xfrm>
          <a:prstGeom prst="rect">
            <a:avLst/>
          </a:prstGeom>
        </p:spPr>
        <p:txBody>
          <a:bodyPr vert="horz" wrap="square" lIns="0" tIns="12700" rIns="0" bIns="0" rtlCol="0">
            <a:spAutoFit/>
          </a:bodyPr>
          <a:lstStyle/>
          <a:p>
            <a:pPr marR="5080" algn="r">
              <a:lnSpc>
                <a:spcPts val="1665"/>
              </a:lnSpc>
              <a:spcBef>
                <a:spcPts val="100"/>
              </a:spcBef>
            </a:pPr>
            <a:r>
              <a:rPr sz="1400" dirty="0">
                <a:latin typeface="Tahoma" panose="020B0604030504040204"/>
                <a:cs typeface="Tahoma" panose="020B0604030504040204"/>
              </a:rPr>
              <a:t>Component</a:t>
            </a:r>
            <a:r>
              <a:rPr sz="1400" spc="-30" dirty="0">
                <a:latin typeface="Tahoma" panose="020B0604030504040204"/>
                <a:cs typeface="Tahoma" panose="020B0604030504040204"/>
              </a:rPr>
              <a:t> </a:t>
            </a:r>
            <a:r>
              <a:rPr sz="1400" spc="-20" dirty="0">
                <a:latin typeface="Tahoma" panose="020B0604030504040204"/>
                <a:cs typeface="Tahoma" panose="020B0604030504040204"/>
              </a:rPr>
              <a:t>Node</a:t>
            </a:r>
            <a:endParaRPr sz="1400">
              <a:latin typeface="Tahoma" panose="020B0604030504040204"/>
              <a:cs typeface="Tahoma" panose="020B0604030504040204"/>
            </a:endParaRPr>
          </a:p>
          <a:p>
            <a:pPr marR="5080" algn="r">
              <a:lnSpc>
                <a:spcPts val="1665"/>
              </a:lnSpc>
            </a:pPr>
            <a:r>
              <a:rPr sz="1400" spc="-10" dirty="0">
                <a:latin typeface="Tahoma" panose="020B0604030504040204"/>
                <a:cs typeface="Tahoma" panose="020B0604030504040204"/>
              </a:rPr>
              <a:t>(Thread)</a:t>
            </a:r>
            <a:endParaRPr sz="1400">
              <a:latin typeface="Tahoma" panose="020B0604030504040204"/>
              <a:cs typeface="Tahoma" panose="020B0604030504040204"/>
            </a:endParaRPr>
          </a:p>
        </p:txBody>
      </p:sp>
      <p:grpSp>
        <p:nvGrpSpPr>
          <p:cNvPr id="21" name="object 18"/>
          <p:cNvGrpSpPr/>
          <p:nvPr/>
        </p:nvGrpSpPr>
        <p:grpSpPr>
          <a:xfrm>
            <a:off x="4370164" y="2083713"/>
            <a:ext cx="4071620" cy="1343660"/>
            <a:chOff x="3147756" y="2218455"/>
            <a:chExt cx="4071620" cy="1343660"/>
          </a:xfrm>
        </p:grpSpPr>
        <p:sp>
          <p:nvSpPr>
            <p:cNvPr id="22" name="object 19"/>
            <p:cNvSpPr/>
            <p:nvPr/>
          </p:nvSpPr>
          <p:spPr>
            <a:xfrm>
              <a:off x="3195743" y="2238950"/>
              <a:ext cx="266700" cy="4445"/>
            </a:xfrm>
            <a:custGeom>
              <a:avLst/>
              <a:gdLst/>
              <a:ahLst/>
              <a:cxnLst/>
              <a:rect l="l" t="t" r="r" b="b"/>
              <a:pathLst>
                <a:path w="266700" h="4444">
                  <a:moveTo>
                    <a:pt x="266699" y="0"/>
                  </a:moveTo>
                  <a:lnTo>
                    <a:pt x="0" y="3989"/>
                  </a:lnTo>
                </a:path>
              </a:pathLst>
            </a:custGeom>
            <a:ln w="9524">
              <a:solidFill>
                <a:srgbClr val="1A1A1A"/>
              </a:solidFill>
            </a:ln>
          </p:spPr>
          <p:txBody>
            <a:bodyPr wrap="square" lIns="0" tIns="0" rIns="0" bIns="0" rtlCol="0"/>
            <a:lstStyle/>
            <a:p/>
          </p:txBody>
        </p:sp>
        <p:sp>
          <p:nvSpPr>
            <p:cNvPr id="23" name="object 20"/>
            <p:cNvSpPr/>
            <p:nvPr/>
          </p:nvSpPr>
          <p:spPr>
            <a:xfrm>
              <a:off x="3462218" y="2223217"/>
              <a:ext cx="43815" cy="31750"/>
            </a:xfrm>
            <a:custGeom>
              <a:avLst/>
              <a:gdLst/>
              <a:ahLst/>
              <a:cxnLst/>
              <a:rect l="l" t="t" r="r" b="b"/>
              <a:pathLst>
                <a:path w="43814" h="31750">
                  <a:moveTo>
                    <a:pt x="474" y="31462"/>
                  </a:moveTo>
                  <a:lnTo>
                    <a:pt x="0" y="0"/>
                  </a:lnTo>
                  <a:lnTo>
                    <a:pt x="43449" y="15084"/>
                  </a:lnTo>
                  <a:lnTo>
                    <a:pt x="474" y="31462"/>
                  </a:lnTo>
                  <a:close/>
                </a:path>
              </a:pathLst>
            </a:custGeom>
            <a:solidFill>
              <a:srgbClr val="1A1A1A"/>
            </a:solidFill>
          </p:spPr>
          <p:txBody>
            <a:bodyPr wrap="square" lIns="0" tIns="0" rIns="0" bIns="0" rtlCol="0"/>
            <a:lstStyle/>
            <a:p/>
          </p:txBody>
        </p:sp>
        <p:sp>
          <p:nvSpPr>
            <p:cNvPr id="24" name="object 21"/>
            <p:cNvSpPr/>
            <p:nvPr/>
          </p:nvSpPr>
          <p:spPr>
            <a:xfrm>
              <a:off x="3462218" y="2223217"/>
              <a:ext cx="43815" cy="31750"/>
            </a:xfrm>
            <a:custGeom>
              <a:avLst/>
              <a:gdLst/>
              <a:ahLst/>
              <a:cxnLst/>
              <a:rect l="l" t="t" r="r" b="b"/>
              <a:pathLst>
                <a:path w="43814" h="31750">
                  <a:moveTo>
                    <a:pt x="474" y="31462"/>
                  </a:moveTo>
                  <a:lnTo>
                    <a:pt x="43449" y="15084"/>
                  </a:lnTo>
                  <a:lnTo>
                    <a:pt x="0" y="0"/>
                  </a:lnTo>
                  <a:lnTo>
                    <a:pt x="474" y="31462"/>
                  </a:lnTo>
                  <a:close/>
                </a:path>
              </a:pathLst>
            </a:custGeom>
            <a:ln w="9524">
              <a:solidFill>
                <a:srgbClr val="1A1A1A"/>
              </a:solidFill>
            </a:ln>
          </p:spPr>
          <p:txBody>
            <a:bodyPr wrap="square" lIns="0" tIns="0" rIns="0" bIns="0" rtlCol="0"/>
            <a:lstStyle/>
            <a:p/>
          </p:txBody>
        </p:sp>
        <p:sp>
          <p:nvSpPr>
            <p:cNvPr id="25" name="object 22"/>
            <p:cNvSpPr/>
            <p:nvPr/>
          </p:nvSpPr>
          <p:spPr>
            <a:xfrm>
              <a:off x="3152518" y="2227210"/>
              <a:ext cx="43815" cy="31750"/>
            </a:xfrm>
            <a:custGeom>
              <a:avLst/>
              <a:gdLst/>
              <a:ahLst/>
              <a:cxnLst/>
              <a:rect l="l" t="t" r="r" b="b"/>
              <a:pathLst>
                <a:path w="43814" h="31750">
                  <a:moveTo>
                    <a:pt x="43449" y="31462"/>
                  </a:moveTo>
                  <a:lnTo>
                    <a:pt x="0" y="16377"/>
                  </a:lnTo>
                  <a:lnTo>
                    <a:pt x="42974" y="0"/>
                  </a:lnTo>
                  <a:lnTo>
                    <a:pt x="43449" y="31462"/>
                  </a:lnTo>
                  <a:close/>
                </a:path>
              </a:pathLst>
            </a:custGeom>
            <a:solidFill>
              <a:srgbClr val="1A1A1A"/>
            </a:solidFill>
          </p:spPr>
          <p:txBody>
            <a:bodyPr wrap="square" lIns="0" tIns="0" rIns="0" bIns="0" rtlCol="0"/>
            <a:lstStyle/>
            <a:p/>
          </p:txBody>
        </p:sp>
        <p:sp>
          <p:nvSpPr>
            <p:cNvPr id="26" name="object 23"/>
            <p:cNvSpPr/>
            <p:nvPr/>
          </p:nvSpPr>
          <p:spPr>
            <a:xfrm>
              <a:off x="3152518" y="2227210"/>
              <a:ext cx="43815" cy="31750"/>
            </a:xfrm>
            <a:custGeom>
              <a:avLst/>
              <a:gdLst/>
              <a:ahLst/>
              <a:cxnLst/>
              <a:rect l="l" t="t" r="r" b="b"/>
              <a:pathLst>
                <a:path w="43814" h="31750">
                  <a:moveTo>
                    <a:pt x="42974" y="0"/>
                  </a:moveTo>
                  <a:lnTo>
                    <a:pt x="0" y="16377"/>
                  </a:lnTo>
                  <a:lnTo>
                    <a:pt x="43449" y="31462"/>
                  </a:lnTo>
                  <a:lnTo>
                    <a:pt x="42974" y="0"/>
                  </a:lnTo>
                  <a:close/>
                </a:path>
              </a:pathLst>
            </a:custGeom>
            <a:ln w="9524">
              <a:solidFill>
                <a:srgbClr val="1A1A1A"/>
              </a:solidFill>
            </a:ln>
          </p:spPr>
          <p:txBody>
            <a:bodyPr wrap="square" lIns="0" tIns="0" rIns="0" bIns="0" rtlCol="0"/>
            <a:lstStyle/>
            <a:p/>
          </p:txBody>
        </p:sp>
        <p:sp>
          <p:nvSpPr>
            <p:cNvPr id="27" name="object 24"/>
            <p:cNvSpPr/>
            <p:nvPr/>
          </p:nvSpPr>
          <p:spPr>
            <a:xfrm>
              <a:off x="5395114" y="3021768"/>
              <a:ext cx="1819910" cy="535305"/>
            </a:xfrm>
            <a:custGeom>
              <a:avLst/>
              <a:gdLst/>
              <a:ahLst/>
              <a:cxnLst/>
              <a:rect l="l" t="t" r="r" b="b"/>
              <a:pathLst>
                <a:path w="1819909" h="535304">
                  <a:moveTo>
                    <a:pt x="1819496" y="535198"/>
                  </a:moveTo>
                  <a:lnTo>
                    <a:pt x="0" y="535198"/>
                  </a:lnTo>
                  <a:lnTo>
                    <a:pt x="0" y="0"/>
                  </a:lnTo>
                  <a:lnTo>
                    <a:pt x="1819496" y="0"/>
                  </a:lnTo>
                  <a:lnTo>
                    <a:pt x="1819496" y="535198"/>
                  </a:lnTo>
                  <a:close/>
                </a:path>
              </a:pathLst>
            </a:custGeom>
            <a:solidFill>
              <a:srgbClr val="FFFF00"/>
            </a:solidFill>
          </p:spPr>
          <p:txBody>
            <a:bodyPr wrap="square" lIns="0" tIns="0" rIns="0" bIns="0" rtlCol="0"/>
            <a:lstStyle/>
            <a:p/>
          </p:txBody>
        </p:sp>
        <p:sp>
          <p:nvSpPr>
            <p:cNvPr id="28" name="object 25"/>
            <p:cNvSpPr/>
            <p:nvPr/>
          </p:nvSpPr>
          <p:spPr>
            <a:xfrm>
              <a:off x="5395114" y="3021768"/>
              <a:ext cx="1819910" cy="535305"/>
            </a:xfrm>
            <a:custGeom>
              <a:avLst/>
              <a:gdLst/>
              <a:ahLst/>
              <a:cxnLst/>
              <a:rect l="l" t="t" r="r" b="b"/>
              <a:pathLst>
                <a:path w="1819909" h="535304">
                  <a:moveTo>
                    <a:pt x="0" y="0"/>
                  </a:moveTo>
                  <a:lnTo>
                    <a:pt x="1819496" y="0"/>
                  </a:lnTo>
                  <a:lnTo>
                    <a:pt x="1819496" y="535198"/>
                  </a:lnTo>
                  <a:lnTo>
                    <a:pt x="0" y="535198"/>
                  </a:lnTo>
                  <a:lnTo>
                    <a:pt x="0" y="0"/>
                  </a:lnTo>
                  <a:close/>
                </a:path>
              </a:pathLst>
            </a:custGeom>
            <a:ln w="9524">
              <a:solidFill>
                <a:srgbClr val="1A1A1A"/>
              </a:solidFill>
            </a:ln>
          </p:spPr>
          <p:txBody>
            <a:bodyPr wrap="square" lIns="0" tIns="0" rIns="0" bIns="0" rtlCol="0"/>
            <a:lstStyle/>
            <a:p/>
          </p:txBody>
        </p:sp>
      </p:grpSp>
      <p:sp>
        <p:nvSpPr>
          <p:cNvPr id="29" name="object 26"/>
          <p:cNvSpPr txBox="1"/>
          <p:nvPr/>
        </p:nvSpPr>
        <p:spPr>
          <a:xfrm>
            <a:off x="6622284" y="2954858"/>
            <a:ext cx="1811020" cy="389255"/>
          </a:xfrm>
          <a:prstGeom prst="rect">
            <a:avLst/>
          </a:prstGeom>
        </p:spPr>
        <p:txBody>
          <a:bodyPr vert="horz" wrap="square" lIns="0" tIns="12700" rIns="0" bIns="0" rtlCol="0">
            <a:spAutoFit/>
          </a:bodyPr>
          <a:lstStyle/>
          <a:p>
            <a:pPr marL="405130">
              <a:lnSpc>
                <a:spcPts val="1430"/>
              </a:lnSpc>
              <a:spcBef>
                <a:spcPts val="100"/>
              </a:spcBef>
            </a:pPr>
            <a:r>
              <a:rPr sz="1200" b="1" dirty="0">
                <a:latin typeface="Arial" panose="020B0604020202020204"/>
                <a:cs typeface="Arial" panose="020B0604020202020204"/>
              </a:rPr>
              <a:t>Local</a:t>
            </a:r>
            <a:r>
              <a:rPr sz="1200" b="1" spc="-60" dirty="0">
                <a:latin typeface="Arial" panose="020B0604020202020204"/>
                <a:cs typeface="Arial" panose="020B0604020202020204"/>
              </a:rPr>
              <a:t> </a:t>
            </a:r>
            <a:r>
              <a:rPr sz="1200" b="1" spc="-10" dirty="0">
                <a:latin typeface="Arial" panose="020B0604020202020204"/>
                <a:cs typeface="Arial" panose="020B0604020202020204"/>
              </a:rPr>
              <a:t>Planner</a:t>
            </a:r>
            <a:endParaRPr sz="1200">
              <a:latin typeface="Arial" panose="020B0604020202020204"/>
              <a:cs typeface="Arial" panose="020B0604020202020204"/>
            </a:endParaRPr>
          </a:p>
          <a:p>
            <a:pPr marL="320040">
              <a:lnSpc>
                <a:spcPts val="1430"/>
              </a:lnSpc>
            </a:pPr>
            <a:r>
              <a:rPr sz="1200" spc="-10" dirty="0">
                <a:latin typeface="Arial" panose="020B0604020202020204"/>
                <a:cs typeface="Arial" panose="020B0604020202020204"/>
              </a:rPr>
              <a:t>IK,Jacobian,Pilz..</a:t>
            </a:r>
            <a:endParaRPr sz="1200">
              <a:latin typeface="Arial" panose="020B0604020202020204"/>
              <a:cs typeface="Arial" panose="020B0604020202020204"/>
            </a:endParaRPr>
          </a:p>
        </p:txBody>
      </p:sp>
      <p:grpSp>
        <p:nvGrpSpPr>
          <p:cNvPr id="30" name="object 30"/>
          <p:cNvGrpSpPr/>
          <p:nvPr/>
        </p:nvGrpSpPr>
        <p:grpSpPr>
          <a:xfrm>
            <a:off x="6661384" y="2705764"/>
            <a:ext cx="146050" cy="351155"/>
            <a:chOff x="5438976" y="2840506"/>
            <a:chExt cx="146050" cy="351155"/>
          </a:xfrm>
        </p:grpSpPr>
        <p:sp>
          <p:nvSpPr>
            <p:cNvPr id="31" name="object 31"/>
            <p:cNvSpPr/>
            <p:nvPr/>
          </p:nvSpPr>
          <p:spPr>
            <a:xfrm>
              <a:off x="5443739" y="2845269"/>
              <a:ext cx="136525" cy="341630"/>
            </a:xfrm>
            <a:custGeom>
              <a:avLst/>
              <a:gdLst/>
              <a:ahLst/>
              <a:cxnLst/>
              <a:rect l="l" t="t" r="r" b="b"/>
              <a:pathLst>
                <a:path w="136525" h="341630">
                  <a:moveTo>
                    <a:pt x="68249" y="341399"/>
                  </a:moveTo>
                  <a:lnTo>
                    <a:pt x="0" y="273149"/>
                  </a:lnTo>
                  <a:lnTo>
                    <a:pt x="34124" y="273149"/>
                  </a:lnTo>
                  <a:lnTo>
                    <a:pt x="34124" y="68249"/>
                  </a:lnTo>
                  <a:lnTo>
                    <a:pt x="0" y="68249"/>
                  </a:lnTo>
                  <a:lnTo>
                    <a:pt x="68249" y="0"/>
                  </a:lnTo>
                  <a:lnTo>
                    <a:pt x="136499" y="68249"/>
                  </a:lnTo>
                  <a:lnTo>
                    <a:pt x="102374" y="68249"/>
                  </a:lnTo>
                  <a:lnTo>
                    <a:pt x="102374" y="273149"/>
                  </a:lnTo>
                  <a:lnTo>
                    <a:pt x="136499" y="273149"/>
                  </a:lnTo>
                  <a:lnTo>
                    <a:pt x="68249" y="341399"/>
                  </a:lnTo>
                  <a:close/>
                </a:path>
              </a:pathLst>
            </a:custGeom>
            <a:solidFill>
              <a:srgbClr val="FFFF00"/>
            </a:solidFill>
          </p:spPr>
          <p:txBody>
            <a:bodyPr wrap="square" lIns="0" tIns="0" rIns="0" bIns="0" rtlCol="0"/>
            <a:lstStyle/>
            <a:p/>
          </p:txBody>
        </p:sp>
        <p:sp>
          <p:nvSpPr>
            <p:cNvPr id="32" name="object 32"/>
            <p:cNvSpPr/>
            <p:nvPr/>
          </p:nvSpPr>
          <p:spPr>
            <a:xfrm>
              <a:off x="5443739" y="2845269"/>
              <a:ext cx="136525" cy="341630"/>
            </a:xfrm>
            <a:custGeom>
              <a:avLst/>
              <a:gdLst/>
              <a:ahLst/>
              <a:cxnLst/>
              <a:rect l="l" t="t" r="r" b="b"/>
              <a:pathLst>
                <a:path w="136525" h="341630">
                  <a:moveTo>
                    <a:pt x="0" y="68249"/>
                  </a:moveTo>
                  <a:lnTo>
                    <a:pt x="68249" y="0"/>
                  </a:lnTo>
                  <a:lnTo>
                    <a:pt x="136499" y="68249"/>
                  </a:lnTo>
                  <a:lnTo>
                    <a:pt x="102374" y="68249"/>
                  </a:lnTo>
                  <a:lnTo>
                    <a:pt x="102374" y="273149"/>
                  </a:lnTo>
                  <a:lnTo>
                    <a:pt x="136499" y="273149"/>
                  </a:lnTo>
                  <a:lnTo>
                    <a:pt x="68249" y="341399"/>
                  </a:lnTo>
                  <a:lnTo>
                    <a:pt x="0" y="273149"/>
                  </a:lnTo>
                  <a:lnTo>
                    <a:pt x="34124" y="273149"/>
                  </a:lnTo>
                  <a:lnTo>
                    <a:pt x="34124" y="68249"/>
                  </a:lnTo>
                  <a:lnTo>
                    <a:pt x="0" y="68249"/>
                  </a:lnTo>
                  <a:close/>
                </a:path>
              </a:pathLst>
            </a:custGeom>
            <a:ln w="9524">
              <a:solidFill>
                <a:srgbClr val="1A1A1A"/>
              </a:solidFill>
            </a:ln>
          </p:spPr>
          <p:txBody>
            <a:bodyPr wrap="square" lIns="0" tIns="0" rIns="0" bIns="0" rtlCol="0"/>
            <a:lstStyle/>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FA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6991" y="150779"/>
            <a:ext cx="11308283" cy="553998"/>
          </a:xfrm>
        </p:spPr>
        <p:txBody>
          <a:bodyPr/>
          <a:lstStyle/>
          <a:p>
            <a:r>
              <a:rPr lang="en-US" sz="3600" dirty="0">
                <a:solidFill>
                  <a:schemeClr val="tx1"/>
                </a:solidFill>
              </a:rPr>
              <a:t>Global vs Local Planners</a:t>
            </a:r>
            <a:endParaRPr lang="en-US" sz="3600" dirty="0">
              <a:solidFill>
                <a:schemeClr val="tx1"/>
              </a:solidFill>
            </a:endParaRPr>
          </a:p>
        </p:txBody>
      </p:sp>
      <p:graphicFrame>
        <p:nvGraphicFramePr>
          <p:cNvPr id="3" name="Table 2"/>
          <p:cNvGraphicFramePr>
            <a:graphicFrameLocks noGrp="1"/>
          </p:cNvGraphicFramePr>
          <p:nvPr/>
        </p:nvGraphicFramePr>
        <p:xfrm>
          <a:off x="869474" y="1570381"/>
          <a:ext cx="10089662" cy="4969567"/>
        </p:xfrm>
        <a:graphic>
          <a:graphicData uri="http://schemas.openxmlformats.org/drawingml/2006/table">
            <a:tbl>
              <a:tblPr firstRow="1" bandRow="1">
                <a:tableStyleId>{93296810-A885-4BE3-A3E7-6D5BEEA58F35}</a:tableStyleId>
              </a:tblPr>
              <a:tblGrid>
                <a:gridCol w="5176637"/>
                <a:gridCol w="4913025"/>
              </a:tblGrid>
              <a:tr h="477380">
                <a:tc>
                  <a:txBody>
                    <a:bodyPr/>
                    <a:lstStyle/>
                    <a:p>
                      <a:pPr algn="ctr"/>
                      <a:r>
                        <a:rPr lang="en-US" sz="1600" b="1"/>
                        <a:t>Global Planner</a:t>
                      </a:r>
                      <a:endParaRPr lang="en-US" sz="1600"/>
                    </a:p>
                  </a:txBody>
                  <a:tcPr marL="62349" marR="62349" marT="31174" marB="31174" anchor="ctr"/>
                </a:tc>
                <a:tc>
                  <a:txBody>
                    <a:bodyPr/>
                    <a:lstStyle/>
                    <a:p>
                      <a:pPr algn="ctr"/>
                      <a:r>
                        <a:rPr lang="en-US" sz="1600" b="1"/>
                        <a:t>Local Planner</a:t>
                      </a:r>
                      <a:endParaRPr lang="en-US" sz="1600"/>
                    </a:p>
                  </a:txBody>
                  <a:tcPr marL="62349" marR="62349" marT="31174" marB="31174" anchor="ctr"/>
                </a:tc>
              </a:tr>
              <a:tr h="641741">
                <a:tc>
                  <a:txBody>
                    <a:bodyPr/>
                    <a:lstStyle/>
                    <a:p>
                      <a:pPr algn="ctr"/>
                      <a:r>
                        <a:rPr lang="en-US" sz="1600"/>
                        <a:t>Plans the </a:t>
                      </a:r>
                      <a:r>
                        <a:rPr lang="en-US" sz="1600" b="1"/>
                        <a:t>entire path</a:t>
                      </a:r>
                      <a:r>
                        <a:rPr lang="en-US" sz="1600"/>
                        <a:t> from start to goal</a:t>
                      </a:r>
                      <a:endParaRPr lang="en-US" sz="1600"/>
                    </a:p>
                  </a:txBody>
                  <a:tcPr marL="62349" marR="62349" marT="31174" marB="31174" anchor="ctr"/>
                </a:tc>
                <a:tc>
                  <a:txBody>
                    <a:bodyPr/>
                    <a:lstStyle/>
                    <a:p>
                      <a:pPr algn="ctr"/>
                      <a:r>
                        <a:rPr lang="en-US" sz="1600"/>
                        <a:t>Makes </a:t>
                      </a:r>
                      <a:r>
                        <a:rPr lang="en-US" sz="1600" b="1"/>
                        <a:t>small, short-term adjustments</a:t>
                      </a:r>
                      <a:r>
                        <a:rPr lang="en-US" sz="1600"/>
                        <a:t> along the path</a:t>
                      </a:r>
                      <a:endParaRPr lang="en-US" sz="1600"/>
                    </a:p>
                  </a:txBody>
                  <a:tcPr marL="62349" marR="62349" marT="31174" marB="31174" anchor="ctr"/>
                </a:tc>
              </a:tr>
              <a:tr h="641741">
                <a:tc>
                  <a:txBody>
                    <a:bodyPr/>
                    <a:lstStyle/>
                    <a:p>
                      <a:pPr algn="ctr"/>
                      <a:r>
                        <a:rPr lang="en-US" sz="1600" dirty="0"/>
                        <a:t>Works on a </a:t>
                      </a:r>
                      <a:r>
                        <a:rPr lang="en-US" sz="1600" b="1" dirty="0"/>
                        <a:t>global map</a:t>
                      </a:r>
                      <a:r>
                        <a:rPr lang="en-US" sz="1600" dirty="0"/>
                        <a:t> or full planning scene</a:t>
                      </a:r>
                      <a:endParaRPr lang="en-US" sz="1600" dirty="0"/>
                    </a:p>
                  </a:txBody>
                  <a:tcPr marL="62349" marR="62349" marT="31174" marB="31174" anchor="ctr"/>
                </a:tc>
                <a:tc>
                  <a:txBody>
                    <a:bodyPr/>
                    <a:lstStyle/>
                    <a:p>
                      <a:pPr algn="ctr"/>
                      <a:r>
                        <a:rPr lang="en-US" sz="1600"/>
                        <a:t>Works on </a:t>
                      </a:r>
                      <a:r>
                        <a:rPr lang="en-US" sz="1600" b="1"/>
                        <a:t>local, near-by robot motion</a:t>
                      </a:r>
                      <a:endParaRPr lang="en-US" sz="1600"/>
                    </a:p>
                  </a:txBody>
                  <a:tcPr marL="62349" marR="62349" marT="31174" marB="31174" anchor="ctr"/>
                </a:tc>
              </a:tr>
              <a:tr h="641741">
                <a:tc>
                  <a:txBody>
                    <a:bodyPr/>
                    <a:lstStyle/>
                    <a:p>
                      <a:pPr algn="ctr"/>
                      <a:r>
                        <a:rPr lang="en-US" sz="1600"/>
                        <a:t>Good for long-distance, obstacle-aware planning</a:t>
                      </a:r>
                      <a:endParaRPr lang="en-US" sz="1600"/>
                    </a:p>
                  </a:txBody>
                  <a:tcPr marL="62349" marR="62349" marT="31174" marB="31174" anchor="ctr"/>
                </a:tc>
                <a:tc>
                  <a:txBody>
                    <a:bodyPr/>
                    <a:lstStyle/>
                    <a:p>
                      <a:pPr algn="ctr"/>
                      <a:r>
                        <a:rPr lang="en-US" sz="1600"/>
                        <a:t>Good for precise movements and real-time corrections</a:t>
                      </a:r>
                      <a:endParaRPr lang="en-US" sz="1600"/>
                    </a:p>
                  </a:txBody>
                  <a:tcPr marL="62349" marR="62349" marT="31174" marB="31174" anchor="ctr"/>
                </a:tc>
              </a:tr>
              <a:tr h="641741">
                <a:tc>
                  <a:txBody>
                    <a:bodyPr/>
                    <a:lstStyle/>
                    <a:p>
                      <a:pPr algn="ctr"/>
                      <a:r>
                        <a:rPr lang="en-US" sz="1600"/>
                        <a:t>Examples: OMPL, TrajOpt, STOMP, CHOMP</a:t>
                      </a:r>
                      <a:endParaRPr lang="en-US" sz="1600"/>
                    </a:p>
                  </a:txBody>
                  <a:tcPr marL="62349" marR="62349" marT="31174" marB="31174" anchor="ctr"/>
                </a:tc>
                <a:tc>
                  <a:txBody>
                    <a:bodyPr/>
                    <a:lstStyle/>
                    <a:p>
                      <a:pPr algn="ctr"/>
                      <a:r>
                        <a:rPr lang="en-US" sz="1600"/>
                        <a:t>Examples: IK solvers, Jacobian-based control, Pilz planner</a:t>
                      </a:r>
                      <a:endParaRPr lang="en-US" sz="1600"/>
                    </a:p>
                  </a:txBody>
                  <a:tcPr marL="62349" marR="62349" marT="31174" marB="31174" anchor="ctr"/>
                </a:tc>
              </a:tr>
              <a:tr h="641741">
                <a:tc>
                  <a:txBody>
                    <a:bodyPr/>
                    <a:lstStyle/>
                    <a:p>
                      <a:pPr algn="ctr"/>
                      <a:r>
                        <a:rPr lang="en-US" sz="1600"/>
                        <a:t>Slower but produces </a:t>
                      </a:r>
                      <a:r>
                        <a:rPr lang="en-US" sz="1600" b="1"/>
                        <a:t>complete trajectories</a:t>
                      </a:r>
                      <a:endParaRPr lang="en-US" sz="1600"/>
                    </a:p>
                  </a:txBody>
                  <a:tcPr marL="62349" marR="62349" marT="31174" marB="31174" anchor="ctr"/>
                </a:tc>
                <a:tc>
                  <a:txBody>
                    <a:bodyPr/>
                    <a:lstStyle/>
                    <a:p>
                      <a:pPr algn="ctr"/>
                      <a:r>
                        <a:rPr lang="en-US" sz="1600"/>
                        <a:t>Faster, used for </a:t>
                      </a:r>
                      <a:r>
                        <a:rPr lang="en-US" sz="1600" b="1"/>
                        <a:t>real-time or fine control</a:t>
                      </a:r>
                      <a:endParaRPr lang="en-US" sz="1600"/>
                    </a:p>
                  </a:txBody>
                  <a:tcPr marL="62349" marR="62349" marT="31174" marB="31174" anchor="ctr"/>
                </a:tc>
              </a:tr>
              <a:tr h="641741">
                <a:tc>
                  <a:txBody>
                    <a:bodyPr/>
                    <a:lstStyle/>
                    <a:p>
                      <a:pPr algn="ctr"/>
                      <a:r>
                        <a:rPr lang="en-US" sz="1600"/>
                        <a:t>Handles complex environments</a:t>
                      </a:r>
                      <a:endParaRPr lang="en-US" sz="1600"/>
                    </a:p>
                  </a:txBody>
                  <a:tcPr marL="62349" marR="62349" marT="31174" marB="31174" anchor="ctr"/>
                </a:tc>
                <a:tc>
                  <a:txBody>
                    <a:bodyPr/>
                    <a:lstStyle/>
                    <a:p>
                      <a:pPr algn="ctr"/>
                      <a:r>
                        <a:rPr lang="en-US" sz="1600"/>
                        <a:t>Handles fine positioning or servoing</a:t>
                      </a:r>
                      <a:endParaRPr lang="en-US" sz="1600"/>
                    </a:p>
                  </a:txBody>
                  <a:tcPr marL="62349" marR="62349" marT="31174" marB="31174" anchor="ctr"/>
                </a:tc>
              </a:tr>
              <a:tr h="641741">
                <a:tc>
                  <a:txBody>
                    <a:bodyPr/>
                    <a:lstStyle/>
                    <a:p>
                      <a:pPr algn="ctr"/>
                      <a:r>
                        <a:rPr lang="en-US" sz="1600"/>
                        <a:t>Used before execution</a:t>
                      </a:r>
                      <a:endParaRPr lang="en-US" sz="1600"/>
                    </a:p>
                  </a:txBody>
                  <a:tcPr marL="62349" marR="62349" marT="31174" marB="31174" anchor="ctr"/>
                </a:tc>
                <a:tc>
                  <a:txBody>
                    <a:bodyPr/>
                    <a:lstStyle/>
                    <a:p>
                      <a:pPr algn="ctr"/>
                      <a:r>
                        <a:rPr lang="en-US" sz="1600" dirty="0"/>
                        <a:t>Used </a:t>
                      </a:r>
                      <a:r>
                        <a:rPr lang="en-US" sz="1600" b="1" dirty="0"/>
                        <a:t>during execution</a:t>
                      </a:r>
                      <a:r>
                        <a:rPr lang="en-US" sz="1600" dirty="0"/>
                        <a:t> to stay smooth and safe</a:t>
                      </a:r>
                      <a:endParaRPr lang="en-US" sz="1600" dirty="0"/>
                    </a:p>
                  </a:txBody>
                  <a:tcPr marL="62349" marR="62349" marT="31174" marB="31174" anchor="ctr"/>
                </a:tc>
              </a:tr>
            </a:tbl>
          </a:graphicData>
        </a:graphic>
      </p:graphicFrame>
      <p:sp>
        <p:nvSpPr>
          <p:cNvPr id="5" name="TextBox 4"/>
          <p:cNvSpPr txBox="1"/>
          <p:nvPr/>
        </p:nvSpPr>
        <p:spPr>
          <a:xfrm>
            <a:off x="252107" y="839067"/>
            <a:ext cx="11324395" cy="597023"/>
          </a:xfrm>
          <a:prstGeom prst="rect">
            <a:avLst/>
          </a:prstGeom>
          <a:noFill/>
        </p:spPr>
        <p:txBody>
          <a:bodyPr wrap="square" lIns="182880" tIns="146304" rIns="182880" bIns="146304" rtlCol="0">
            <a:spAutoFit/>
          </a:bodyPr>
          <a:lstStyle/>
          <a:p>
            <a:pPr marL="800100" lvl="1" indent="-342900">
              <a:lnSpc>
                <a:spcPct val="120000"/>
              </a:lnSpc>
              <a:spcAft>
                <a:spcPts val="600"/>
              </a:spcAft>
              <a:buSzPct val="60000"/>
              <a:buBlip>
                <a:blip r:embed="rId1"/>
              </a:buBlip>
            </a:pPr>
            <a:r>
              <a:rPr lang="en-US" dirty="0"/>
              <a:t>Global planners find the </a:t>
            </a:r>
            <a:r>
              <a:rPr lang="en-US" dirty="0">
                <a:solidFill>
                  <a:srgbClr val="FF3399"/>
                </a:solidFill>
              </a:rPr>
              <a:t>big path</a:t>
            </a:r>
            <a:r>
              <a:rPr lang="en-US" dirty="0"/>
              <a:t>; Local planners </a:t>
            </a:r>
            <a:r>
              <a:rPr lang="en-US" dirty="0">
                <a:solidFill>
                  <a:srgbClr val="FF3399"/>
                </a:solidFill>
              </a:rPr>
              <a:t>fine-tune the small movements</a:t>
            </a:r>
            <a:r>
              <a:rPr lang="en-US" dirty="0"/>
              <a:t>.</a:t>
            </a:r>
            <a:endParaRPr lang="en-US"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How the Parallel Planning Architecture in MoveIt 2 Works</a:t>
            </a:r>
            <a:endParaRPr lang="en-US" sz="3600" dirty="0"/>
          </a:p>
        </p:txBody>
      </p:sp>
      <p:sp>
        <p:nvSpPr>
          <p:cNvPr id="2" name="TextBox 1"/>
          <p:cNvSpPr txBox="1"/>
          <p:nvPr/>
        </p:nvSpPr>
        <p:spPr>
          <a:xfrm>
            <a:off x="400881" y="1154257"/>
            <a:ext cx="11390238" cy="2104102"/>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MoveIt 2 introduces a system where </a:t>
            </a:r>
            <a:r>
              <a:rPr lang="en-US" sz="2400" dirty="0">
                <a:solidFill>
                  <a:srgbClr val="FFC000"/>
                </a:solidFill>
              </a:rPr>
              <a:t>multiple motion planning algorithms run at the same time</a:t>
            </a:r>
            <a:r>
              <a:rPr lang="en-US" sz="2400" dirty="0">
                <a:solidFill>
                  <a:schemeClr val="bg1"/>
                </a:solidFill>
              </a:rPr>
              <a:t> on the same planning problem. </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This approach increases reliability and helps choose the best possible trajectory for the robot.</a:t>
            </a:r>
            <a:endParaRPr lang="en-US" sz="24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202131" y="583916"/>
            <a:ext cx="11523145" cy="553998"/>
          </a:xfrm>
        </p:spPr>
        <p:txBody>
          <a:bodyPr/>
          <a:lstStyle/>
          <a:p>
            <a:r>
              <a:rPr lang="en-US" sz="3600" dirty="0">
                <a:solidFill>
                  <a:schemeClr val="tx1"/>
                </a:solidFill>
              </a:rPr>
              <a:t>How the Parallel Planning Architecture in MoveIt 2 Works</a:t>
            </a:r>
            <a:endParaRPr lang="en-US" sz="3600" dirty="0">
              <a:solidFill>
                <a:schemeClr val="tx1"/>
              </a:solidFill>
            </a:endParaRPr>
          </a:p>
        </p:txBody>
      </p:sp>
      <p:pic>
        <p:nvPicPr>
          <p:cNvPr id="4" name="Picture 3"/>
          <p:cNvPicPr>
            <a:picLocks noChangeAspect="1"/>
          </p:cNvPicPr>
          <p:nvPr/>
        </p:nvPicPr>
        <p:blipFill>
          <a:blip r:embed="rId1"/>
          <a:stretch>
            <a:fillRect/>
          </a:stretch>
        </p:blipFill>
        <p:spPr>
          <a:xfrm>
            <a:off x="2249755" y="1489295"/>
            <a:ext cx="7427895" cy="4457834"/>
          </a:xfrm>
          <a:prstGeom prst="rect">
            <a:avLst/>
          </a:prstGeom>
        </p:spPr>
      </p:pic>
      <p:sp>
        <p:nvSpPr>
          <p:cNvPr id="33" name="Rectangle 32"/>
          <p:cNvSpPr/>
          <p:nvPr/>
        </p:nvSpPr>
        <p:spPr bwMode="auto">
          <a:xfrm>
            <a:off x="1896177" y="3070459"/>
            <a:ext cx="914400" cy="9144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4" name="TextBox 33"/>
          <p:cNvSpPr txBox="1"/>
          <p:nvPr/>
        </p:nvSpPr>
        <p:spPr>
          <a:xfrm>
            <a:off x="1343644" y="3189091"/>
            <a:ext cx="1406475" cy="760208"/>
          </a:xfrm>
          <a:prstGeom prst="rect">
            <a:avLst/>
          </a:prstGeom>
          <a:noFill/>
        </p:spPr>
        <p:txBody>
          <a:bodyPr wrap="none" lIns="182880" tIns="146304" rIns="182880" bIns="146304" rtlCol="0">
            <a:spAutoFit/>
          </a:bodyPr>
          <a:lstStyle/>
          <a:p>
            <a:pPr algn="ctr">
              <a:lnSpc>
                <a:spcPct val="90000"/>
              </a:lnSpc>
              <a:spcAft>
                <a:spcPts val="600"/>
              </a:spcAft>
            </a:pPr>
            <a:r>
              <a:rPr lang="en-US" sz="1400" b="1" dirty="0" err="1">
                <a:gradFill>
                  <a:gsLst>
                    <a:gs pos="2917">
                      <a:schemeClr val="tx1"/>
                    </a:gs>
                    <a:gs pos="30000">
                      <a:schemeClr val="tx1"/>
                    </a:gs>
                  </a:gsLst>
                  <a:lin ang="5400000" scaled="0"/>
                </a:gradFill>
              </a:rPr>
              <a:t>MotionPlan</a:t>
            </a:r>
            <a:r>
              <a:rPr lang="en-US" sz="1400" b="1" dirty="0">
                <a:gradFill>
                  <a:gsLst>
                    <a:gs pos="2917">
                      <a:schemeClr val="tx1"/>
                    </a:gs>
                    <a:gs pos="30000">
                      <a:schemeClr val="tx1"/>
                    </a:gs>
                  </a:gsLst>
                  <a:lin ang="5400000" scaled="0"/>
                </a:gradFill>
              </a:rPr>
              <a:t> </a:t>
            </a:r>
            <a:endParaRPr lang="en-US" sz="1400" b="1" dirty="0">
              <a:gradFill>
                <a:gsLst>
                  <a:gs pos="2917">
                    <a:schemeClr val="tx1"/>
                  </a:gs>
                  <a:gs pos="30000">
                    <a:schemeClr val="tx1"/>
                  </a:gs>
                </a:gsLst>
                <a:lin ang="5400000" scaled="0"/>
              </a:gradFill>
            </a:endParaRPr>
          </a:p>
          <a:p>
            <a:pPr algn="ctr">
              <a:lnSpc>
                <a:spcPct val="90000"/>
              </a:lnSpc>
              <a:spcAft>
                <a:spcPts val="600"/>
              </a:spcAft>
            </a:pPr>
            <a:r>
              <a:rPr lang="en-US" sz="1400" b="1" dirty="0">
                <a:gradFill>
                  <a:gsLst>
                    <a:gs pos="2917">
                      <a:schemeClr val="tx1"/>
                    </a:gs>
                    <a:gs pos="30000">
                      <a:schemeClr val="tx1"/>
                    </a:gs>
                  </a:gsLst>
                  <a:lin ang="5400000" scaled="0"/>
                </a:gradFill>
              </a:rPr>
              <a:t>Request</a:t>
            </a:r>
            <a:endParaRPr lang="en-US" sz="1400" b="1" dirty="0">
              <a:gradFill>
                <a:gsLst>
                  <a:gs pos="2917">
                    <a:schemeClr val="tx1"/>
                  </a:gs>
                  <a:gs pos="30000">
                    <a:schemeClr val="tx1"/>
                  </a:gs>
                </a:gsLst>
                <a:lin ang="5400000" scaled="0"/>
              </a:gradFill>
            </a:endParaRPr>
          </a:p>
        </p:txBody>
      </p:sp>
      <p:cxnSp>
        <p:nvCxnSpPr>
          <p:cNvPr id="38" name="Straight Connector 37"/>
          <p:cNvCxnSpPr/>
          <p:nvPr/>
        </p:nvCxnSpPr>
        <p:spPr>
          <a:xfrm>
            <a:off x="2595179" y="3502259"/>
            <a:ext cx="309880"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How the Parallel Planning Architecture in MoveIt 2 Works</a:t>
            </a:r>
            <a:endParaRPr lang="en-US" sz="3600" dirty="0"/>
          </a:p>
        </p:txBody>
      </p:sp>
      <p:sp>
        <p:nvSpPr>
          <p:cNvPr id="2" name="TextBox 1"/>
          <p:cNvSpPr txBox="1"/>
          <p:nvPr/>
        </p:nvSpPr>
        <p:spPr>
          <a:xfrm>
            <a:off x="400881" y="1154257"/>
            <a:ext cx="11390238" cy="3818418"/>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1. Starts With a </a:t>
            </a:r>
            <a:r>
              <a:rPr lang="en-US" sz="2400" dirty="0" err="1">
                <a:solidFill>
                  <a:srgbClr val="FFC000"/>
                </a:solidFill>
              </a:rPr>
              <a:t>MotionPlan</a:t>
            </a:r>
            <a:r>
              <a:rPr lang="en-US" sz="2400" dirty="0">
                <a:solidFill>
                  <a:srgbClr val="FFC000"/>
                </a:solidFill>
              </a:rPr>
              <a:t> Request</a:t>
            </a:r>
            <a:endParaRPr lang="en-US" sz="2400" dirty="0">
              <a:solidFill>
                <a:srgbClr val="FFC000"/>
              </a:solidFill>
            </a:endParaRPr>
          </a:p>
          <a:p>
            <a:pPr marL="342900" indent="-342900">
              <a:lnSpc>
                <a:spcPct val="120000"/>
              </a:lnSpc>
              <a:spcAft>
                <a:spcPts val="600"/>
              </a:spcAft>
              <a:buSzPct val="60000"/>
              <a:buBlip>
                <a:blip r:embed="rId1"/>
              </a:buBlip>
            </a:pPr>
            <a:r>
              <a:rPr lang="en-US" sz="2400" dirty="0">
                <a:solidFill>
                  <a:schemeClr val="bg1"/>
                </a:solidFill>
              </a:rPr>
              <a:t>A </a:t>
            </a:r>
            <a:r>
              <a:rPr lang="en-US" sz="2400" dirty="0" err="1">
                <a:solidFill>
                  <a:srgbClr val="FF3399"/>
                </a:solidFill>
              </a:rPr>
              <a:t>MotionPlan</a:t>
            </a:r>
            <a:r>
              <a:rPr lang="en-US" sz="2400" dirty="0">
                <a:solidFill>
                  <a:srgbClr val="FF3399"/>
                </a:solidFill>
              </a:rPr>
              <a:t> Request </a:t>
            </a:r>
            <a:r>
              <a:rPr lang="en-US" sz="2400" dirty="0">
                <a:solidFill>
                  <a:schemeClr val="bg1"/>
                </a:solidFill>
              </a:rPr>
              <a:t>describes what the robot needs to do:</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The start position</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The goal position</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err="1">
                <a:solidFill>
                  <a:schemeClr val="bg1"/>
                </a:solidFill>
              </a:rPr>
              <a:t>ObstaclesJoint</a:t>
            </a:r>
            <a:r>
              <a:rPr lang="en-US" sz="2400" dirty="0">
                <a:solidFill>
                  <a:schemeClr val="bg1"/>
                </a:solidFill>
              </a:rPr>
              <a:t> limits</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Other planning constraints</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This </a:t>
            </a:r>
            <a:r>
              <a:rPr lang="en-US" sz="2400" dirty="0">
                <a:solidFill>
                  <a:srgbClr val="00B050"/>
                </a:solidFill>
              </a:rPr>
              <a:t>single request is sent in parallel </a:t>
            </a:r>
            <a:r>
              <a:rPr lang="en-US" sz="2400" dirty="0">
                <a:solidFill>
                  <a:schemeClr val="bg1"/>
                </a:solidFill>
              </a:rPr>
              <a:t>to several planning pipelines.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How the Parallel Planning Architecture in MoveIt 2 Works</a:t>
            </a:r>
            <a:endParaRPr lang="en-US" sz="3600" dirty="0"/>
          </a:p>
        </p:txBody>
      </p:sp>
      <p:sp>
        <p:nvSpPr>
          <p:cNvPr id="2" name="TextBox 1"/>
          <p:cNvSpPr txBox="1"/>
          <p:nvPr/>
        </p:nvSpPr>
        <p:spPr>
          <a:xfrm>
            <a:off x="400881" y="1154257"/>
            <a:ext cx="11390238" cy="5224956"/>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2. Multiple Planners Run in Parallel</a:t>
            </a:r>
            <a:endParaRPr lang="en-US" sz="2400" dirty="0">
              <a:solidFill>
                <a:srgbClr val="FFC000"/>
              </a:solidFill>
            </a:endParaRPr>
          </a:p>
          <a:p>
            <a:pPr marL="342900" indent="-342900">
              <a:lnSpc>
                <a:spcPct val="120000"/>
              </a:lnSpc>
              <a:spcAft>
                <a:spcPts val="600"/>
              </a:spcAft>
              <a:buSzPct val="60000"/>
              <a:buBlip>
                <a:blip r:embed="rId1"/>
              </a:buBlip>
            </a:pPr>
            <a:r>
              <a:rPr lang="en-US" sz="2400" dirty="0">
                <a:solidFill>
                  <a:schemeClr val="bg1"/>
                </a:solidFill>
              </a:rPr>
              <a:t>Different planning pipelines try to solve the request at the same time. In the diagram, three planners are shown:</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OMPL (Open Motion Planning Library) Planning Pipeline</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Uses sampling-based planners.</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Good for quickly finding feasible paths.</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CHOMP (Covariant Hamiltonian Optimization for Motion Planning) Planning Pipeline</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Uses optimization-based methods.</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Produces smooth and refined trajectories.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How the Parallel Planning Architecture in MoveIt 2 Works</a:t>
            </a:r>
            <a:endParaRPr lang="en-US" sz="3600" dirty="0"/>
          </a:p>
        </p:txBody>
      </p:sp>
      <p:sp>
        <p:nvSpPr>
          <p:cNvPr id="2" name="TextBox 1"/>
          <p:cNvSpPr txBox="1"/>
          <p:nvPr/>
        </p:nvSpPr>
        <p:spPr>
          <a:xfrm>
            <a:off x="400881" y="1154257"/>
            <a:ext cx="11390238" cy="2778133"/>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2. Multiple Planners Run in Parallel</a:t>
            </a:r>
            <a:endParaRPr lang="en-US" sz="2400" dirty="0">
              <a:solidFill>
                <a:srgbClr val="FFC000"/>
              </a:solidFill>
            </a:endParaRPr>
          </a:p>
          <a:p>
            <a:pPr marL="342900" indent="-342900">
              <a:lnSpc>
                <a:spcPct val="120000"/>
              </a:lnSpc>
              <a:spcAft>
                <a:spcPts val="600"/>
              </a:spcAft>
              <a:buSzPct val="60000"/>
              <a:buBlip>
                <a:blip r:embed="rId1"/>
              </a:buBlip>
            </a:pPr>
            <a:r>
              <a:rPr lang="en-US" sz="2400" dirty="0">
                <a:solidFill>
                  <a:schemeClr val="bg1"/>
                </a:solidFill>
              </a:rPr>
              <a:t>PILZ (Named after Pilz GmbH &amp; Co. KG) Planning Pipeline</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Used for industrial-style motions.</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Very predictable and deterministic.</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Each planner works independently, using its own algorithmic approach.</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How the Parallel Planning Architecture in MoveIt 2 Works</a:t>
            </a:r>
            <a:endParaRPr lang="en-US" sz="3600" dirty="0"/>
          </a:p>
        </p:txBody>
      </p:sp>
      <p:sp>
        <p:nvSpPr>
          <p:cNvPr id="2" name="TextBox 1"/>
          <p:cNvSpPr txBox="1"/>
          <p:nvPr/>
        </p:nvSpPr>
        <p:spPr>
          <a:xfrm>
            <a:off x="400881" y="1154257"/>
            <a:ext cx="11390238" cy="3818418"/>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3. Each Planner Produces a </a:t>
            </a:r>
            <a:r>
              <a:rPr lang="en-US" sz="2400" dirty="0" err="1">
                <a:solidFill>
                  <a:srgbClr val="FFC000"/>
                </a:solidFill>
              </a:rPr>
              <a:t>MotionPlan</a:t>
            </a:r>
            <a:r>
              <a:rPr lang="en-US" sz="2400" dirty="0">
                <a:solidFill>
                  <a:srgbClr val="FFC000"/>
                </a:solidFill>
              </a:rPr>
              <a:t> Response</a:t>
            </a:r>
            <a:endParaRPr lang="en-US" sz="2400" dirty="0">
              <a:solidFill>
                <a:srgbClr val="FFC000"/>
              </a:solidFill>
            </a:endParaRPr>
          </a:p>
          <a:p>
            <a:pPr marL="342900" indent="-342900">
              <a:lnSpc>
                <a:spcPct val="120000"/>
              </a:lnSpc>
              <a:spcAft>
                <a:spcPts val="600"/>
              </a:spcAft>
              <a:buSzPct val="60000"/>
              <a:buBlip>
                <a:blip r:embed="rId1"/>
              </a:buBlip>
            </a:pPr>
            <a:r>
              <a:rPr lang="en-US" sz="2400" dirty="0">
                <a:solidFill>
                  <a:schemeClr val="bg1"/>
                </a:solidFill>
              </a:rPr>
              <a:t>Each pipeline outputs a </a:t>
            </a:r>
            <a:r>
              <a:rPr lang="en-US" sz="2400" dirty="0" err="1">
                <a:solidFill>
                  <a:schemeClr val="bg1"/>
                </a:solidFill>
              </a:rPr>
              <a:t>MotionPlan</a:t>
            </a:r>
            <a:r>
              <a:rPr lang="en-US" sz="2400" dirty="0">
                <a:solidFill>
                  <a:schemeClr val="bg1"/>
                </a:solidFill>
              </a:rPr>
              <a:t> Response, which contains:</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A trajectory</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Whether planning succeeded</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Planning time</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Path quality metrics</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So, after running, we have multiple candidate solutions to the same problem.</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How the Parallel Planning Architecture in MoveIt 2 Works</a:t>
            </a:r>
            <a:endParaRPr lang="en-US" sz="3600" dirty="0"/>
          </a:p>
        </p:txBody>
      </p:sp>
      <p:sp>
        <p:nvSpPr>
          <p:cNvPr id="2" name="TextBox 1"/>
          <p:cNvSpPr txBox="1"/>
          <p:nvPr/>
        </p:nvSpPr>
        <p:spPr>
          <a:xfrm>
            <a:off x="400881" y="1154257"/>
            <a:ext cx="11390238" cy="5224956"/>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4. The “Choose Solution” Step Selects the Best Path</a:t>
            </a:r>
            <a:endParaRPr lang="en-US" sz="2400" dirty="0">
              <a:solidFill>
                <a:srgbClr val="FFC000"/>
              </a:solidFill>
            </a:endParaRPr>
          </a:p>
          <a:p>
            <a:pPr marL="342900" indent="-342900">
              <a:lnSpc>
                <a:spcPct val="120000"/>
              </a:lnSpc>
              <a:spcAft>
                <a:spcPts val="600"/>
              </a:spcAft>
              <a:buSzPct val="60000"/>
              <a:buBlip>
                <a:blip r:embed="rId1"/>
              </a:buBlip>
            </a:pPr>
            <a:r>
              <a:rPr lang="en-US" sz="2400" dirty="0">
                <a:solidFill>
                  <a:schemeClr val="bg1"/>
                </a:solidFill>
              </a:rPr>
              <a:t>MoveIt 2 provides a solution selection callback, which is a user-defined function.</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This function compares all the planners’ responses and selects the best one according to chosen criteria, such as:</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Shortest path</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Smoothest trajectory</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Fastest planning time</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Safest (maximum clearance from obstacles)</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Lowest overall cost</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How the Parallel Planning Architecture in MoveIt 2 Works</a:t>
            </a:r>
            <a:endParaRPr lang="en-US" sz="3600" dirty="0"/>
          </a:p>
        </p:txBody>
      </p:sp>
      <p:sp>
        <p:nvSpPr>
          <p:cNvPr id="2" name="TextBox 1"/>
          <p:cNvSpPr txBox="1"/>
          <p:nvPr/>
        </p:nvSpPr>
        <p:spPr>
          <a:xfrm>
            <a:off x="400881" y="1154257"/>
            <a:ext cx="11390238" cy="1660904"/>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5. Final Output: A Single </a:t>
            </a:r>
            <a:r>
              <a:rPr lang="en-US" sz="2400" dirty="0" err="1">
                <a:solidFill>
                  <a:srgbClr val="FFC000"/>
                </a:solidFill>
              </a:rPr>
              <a:t>MotionPlan</a:t>
            </a:r>
            <a:r>
              <a:rPr lang="en-US" sz="2400" dirty="0">
                <a:solidFill>
                  <a:srgbClr val="FFC000"/>
                </a:solidFill>
              </a:rPr>
              <a:t> Response</a:t>
            </a:r>
            <a:endParaRPr lang="en-US" sz="2400" dirty="0">
              <a:solidFill>
                <a:srgbClr val="FFC000"/>
              </a:solidFill>
            </a:endParaRPr>
          </a:p>
          <a:p>
            <a:pPr marL="342900" indent="-342900">
              <a:lnSpc>
                <a:spcPct val="120000"/>
              </a:lnSpc>
              <a:spcAft>
                <a:spcPts val="600"/>
              </a:spcAft>
              <a:buSzPct val="60000"/>
              <a:buBlip>
                <a:blip r:embed="rId1"/>
              </a:buBlip>
            </a:pPr>
            <a:r>
              <a:rPr lang="en-US" sz="2400" dirty="0">
                <a:solidFill>
                  <a:schemeClr val="bg1"/>
                </a:solidFill>
              </a:rPr>
              <a:t>After the best trajectory is selected, it becomes the final </a:t>
            </a:r>
            <a:r>
              <a:rPr lang="en-US" sz="2400" dirty="0" err="1">
                <a:solidFill>
                  <a:schemeClr val="bg1"/>
                </a:solidFill>
              </a:rPr>
              <a:t>MotionPlan</a:t>
            </a:r>
            <a:r>
              <a:rPr lang="en-US" sz="2400" dirty="0">
                <a:solidFill>
                  <a:schemeClr val="bg1"/>
                </a:solidFill>
              </a:rPr>
              <a:t> Response returned to the user or to the robot’s controller for execution.</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Grasping using Deep Learning</a:t>
            </a:r>
            <a:endParaRPr lang="en-US" sz="3600" dirty="0"/>
          </a:p>
        </p:txBody>
      </p:sp>
      <p:sp>
        <p:nvSpPr>
          <p:cNvPr id="2" name="TextBox 1"/>
          <p:cNvSpPr txBox="1"/>
          <p:nvPr/>
        </p:nvSpPr>
        <p:spPr>
          <a:xfrm>
            <a:off x="400881" y="1154257"/>
            <a:ext cx="11390238" cy="4030783"/>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MoveIt now supports robust grasp pose generation using deep learning. </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Pick and place robots equipped with a depth camera and either a parallel jaw or suction gripper can increase productivity when paired with deep learning. </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The MoveIt Task Constructor provides an interface for any grasp pose generation algorithm making </a:t>
            </a:r>
            <a:r>
              <a:rPr lang="en-US" sz="2400" dirty="0" err="1">
                <a:solidFill>
                  <a:schemeClr val="bg1"/>
                </a:solidFill>
              </a:rPr>
              <a:t>MoveIt’s</a:t>
            </a:r>
            <a:r>
              <a:rPr lang="en-US" sz="2400" dirty="0">
                <a:solidFill>
                  <a:schemeClr val="bg1"/>
                </a:solidFill>
              </a:rPr>
              <a:t> pick and place capabilities more flexible and powerful.</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Currently, the Grasp Pose Detection (GPD) library and Dex-Net are being used to detect 6-DOF grasp poses given 3D sensor data. </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Grasping using Deep Learning</a:t>
            </a:r>
            <a:endParaRPr lang="en-US" sz="36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Advanced</a:t>
            </a:r>
            <a:r>
              <a:rPr lang="en-US" sz="3600" dirty="0"/>
              <a:t> Applications of </a:t>
            </a:r>
            <a:r>
              <a:rPr lang="en-US" sz="3600" dirty="0" err="1"/>
              <a:t>Moveit</a:t>
            </a:r>
            <a:endParaRPr lang="en-US" sz="3600" dirty="0">
              <a:solidFill>
                <a:srgbClr val="FF3399"/>
              </a:solidFill>
            </a:endParaRPr>
          </a:p>
        </p:txBody>
      </p:sp>
      <p:sp>
        <p:nvSpPr>
          <p:cNvPr id="2" name="TextBox 1"/>
          <p:cNvSpPr txBox="1"/>
          <p:nvPr/>
        </p:nvSpPr>
        <p:spPr>
          <a:xfrm>
            <a:off x="400881" y="1154257"/>
            <a:ext cx="11390238" cy="697563"/>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Complex Task Sequencing for Material Handling</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Advanced</a:t>
            </a:r>
            <a:r>
              <a:rPr lang="en-US" sz="3600" dirty="0"/>
              <a:t> Applications of </a:t>
            </a:r>
            <a:r>
              <a:rPr lang="en-US" sz="3600" dirty="0" err="1"/>
              <a:t>Moveit</a:t>
            </a:r>
            <a:endParaRPr lang="en-US" sz="3600" dirty="0">
              <a:solidFill>
                <a:srgbClr val="FF3399"/>
              </a:solidFill>
            </a:endParaRPr>
          </a:p>
        </p:txBody>
      </p:sp>
      <p:sp>
        <p:nvSpPr>
          <p:cNvPr id="2" name="TextBox 1"/>
          <p:cNvSpPr txBox="1"/>
          <p:nvPr/>
        </p:nvSpPr>
        <p:spPr>
          <a:xfrm>
            <a:off x="400881" y="1154257"/>
            <a:ext cx="11390238" cy="697563"/>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ML (Machine Learning)-Powered Bin Picking</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Advanced</a:t>
            </a:r>
            <a:r>
              <a:rPr lang="en-US" sz="3600" dirty="0"/>
              <a:t> Applications of </a:t>
            </a:r>
            <a:r>
              <a:rPr lang="en-US" sz="3600" dirty="0" err="1"/>
              <a:t>Moveit</a:t>
            </a:r>
            <a:endParaRPr lang="en-US" sz="3600" dirty="0">
              <a:solidFill>
                <a:srgbClr val="FF3399"/>
              </a:solidFill>
            </a:endParaRPr>
          </a:p>
        </p:txBody>
      </p:sp>
      <p:sp>
        <p:nvSpPr>
          <p:cNvPr id="2" name="TextBox 1"/>
          <p:cNvSpPr txBox="1"/>
          <p:nvPr/>
        </p:nvSpPr>
        <p:spPr>
          <a:xfrm>
            <a:off x="400881" y="1154257"/>
            <a:ext cx="11390238" cy="697563"/>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Whole Body Cartesian Planning</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Advanced</a:t>
            </a:r>
            <a:r>
              <a:rPr lang="en-US" sz="3600" dirty="0"/>
              <a:t> Applications of </a:t>
            </a:r>
            <a:r>
              <a:rPr lang="en-US" sz="3600" dirty="0" err="1"/>
              <a:t>Moveit</a:t>
            </a:r>
            <a:endParaRPr lang="en-US" sz="3600" dirty="0">
              <a:solidFill>
                <a:srgbClr val="FF3399"/>
              </a:solidFill>
            </a:endParaRPr>
          </a:p>
        </p:txBody>
      </p:sp>
      <p:sp>
        <p:nvSpPr>
          <p:cNvPr id="2" name="TextBox 1"/>
          <p:cNvSpPr txBox="1"/>
          <p:nvPr/>
        </p:nvSpPr>
        <p:spPr>
          <a:xfrm>
            <a:off x="335038" y="952126"/>
            <a:ext cx="11390238" cy="1660904"/>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Two robot arms, Robotic grippers</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Assembly tasks with Python examples for synchronous and simultaneous motions</a:t>
            </a:r>
            <a:endParaRPr lang="en-US" sz="2400" dirty="0">
              <a:solidFill>
                <a:schemeClr val="bg1"/>
              </a:solidFill>
            </a:endParaRPr>
          </a:p>
        </p:txBody>
      </p:sp>
      <p:sp>
        <p:nvSpPr>
          <p:cNvPr id="9" name="TextBox 8"/>
          <p:cNvSpPr txBox="1"/>
          <p:nvPr/>
        </p:nvSpPr>
        <p:spPr>
          <a:xfrm>
            <a:off x="3592629" y="6403599"/>
            <a:ext cx="6800248" cy="369332"/>
          </a:xfrm>
          <a:prstGeom prst="rect">
            <a:avLst/>
          </a:prstGeom>
          <a:noFill/>
        </p:spPr>
        <p:txBody>
          <a:bodyPr wrap="square">
            <a:spAutoFit/>
          </a:bodyPr>
          <a:lstStyle/>
          <a:p>
            <a:r>
              <a:rPr lang="en-US" dirty="0">
                <a:solidFill>
                  <a:schemeClr val="bg1"/>
                </a:solidFill>
              </a:rPr>
              <a:t>Team O2AC – World Robot Summit 2020</a:t>
            </a:r>
            <a:endParaRPr lang="en-US"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Advanced</a:t>
            </a:r>
            <a:r>
              <a:rPr lang="en-US" sz="3600" dirty="0"/>
              <a:t> Applications of </a:t>
            </a:r>
            <a:r>
              <a:rPr lang="en-US" sz="3600" dirty="0" err="1"/>
              <a:t>Moveit</a:t>
            </a:r>
            <a:endParaRPr lang="en-US" sz="3600" dirty="0">
              <a:solidFill>
                <a:srgbClr val="FF3399"/>
              </a:solidFill>
            </a:endParaRPr>
          </a:p>
        </p:txBody>
      </p:sp>
      <p:sp>
        <p:nvSpPr>
          <p:cNvPr id="2" name="TextBox 1"/>
          <p:cNvSpPr txBox="1"/>
          <p:nvPr/>
        </p:nvSpPr>
        <p:spPr>
          <a:xfrm>
            <a:off x="335038" y="952126"/>
            <a:ext cx="11390238" cy="1217706"/>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Three-arm robot work cell</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Parametrized motions, custom assembly generator using MoveIt</a:t>
            </a:r>
            <a:endParaRPr lang="en-US" sz="2400" dirty="0">
              <a:solidFill>
                <a:schemeClr val="bg1"/>
              </a:solidFill>
            </a:endParaRPr>
          </a:p>
        </p:txBody>
      </p:sp>
      <p:sp>
        <p:nvSpPr>
          <p:cNvPr id="9" name="TextBox 8"/>
          <p:cNvSpPr txBox="1"/>
          <p:nvPr/>
        </p:nvSpPr>
        <p:spPr>
          <a:xfrm>
            <a:off x="3416968" y="6075565"/>
            <a:ext cx="6800248" cy="369332"/>
          </a:xfrm>
          <a:prstGeom prst="rect">
            <a:avLst/>
          </a:prstGeom>
          <a:noFill/>
        </p:spPr>
        <p:txBody>
          <a:bodyPr wrap="square">
            <a:spAutoFit/>
          </a:bodyPr>
          <a:lstStyle/>
          <a:p>
            <a:r>
              <a:rPr lang="en-US" dirty="0">
                <a:solidFill>
                  <a:schemeClr val="bg1"/>
                </a:solidFill>
              </a:rPr>
              <a:t>Team O2AS – World Robot Summit 2018</a:t>
            </a:r>
            <a:endParaRPr lang="en-US"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Advanced</a:t>
            </a:r>
            <a:r>
              <a:rPr lang="en-US" sz="3600" dirty="0"/>
              <a:t> Applications of </a:t>
            </a:r>
            <a:r>
              <a:rPr lang="en-US" sz="3600" dirty="0" err="1"/>
              <a:t>Moveit</a:t>
            </a:r>
            <a:endParaRPr lang="en-US" sz="3600" dirty="0">
              <a:solidFill>
                <a:srgbClr val="FF3399"/>
              </a:solidFill>
            </a:endParaRPr>
          </a:p>
        </p:txBody>
      </p:sp>
      <p:sp>
        <p:nvSpPr>
          <p:cNvPr id="2" name="TextBox 1"/>
          <p:cNvSpPr txBox="1"/>
          <p:nvPr/>
        </p:nvSpPr>
        <p:spPr>
          <a:xfrm>
            <a:off x="335038" y="952126"/>
            <a:ext cx="11390238" cy="1217706"/>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400" dirty="0">
                <a:solidFill>
                  <a:schemeClr val="bg1"/>
                </a:solidFill>
              </a:rPr>
              <a:t>Two robot arms playing with a diabolo using sticks and string</a:t>
            </a:r>
            <a:endParaRPr lang="en-US" sz="2400" dirty="0">
              <a:solidFill>
                <a:schemeClr val="bg1"/>
              </a:solidFill>
            </a:endParaRPr>
          </a:p>
          <a:p>
            <a:pPr marL="342900" indent="-342900">
              <a:lnSpc>
                <a:spcPct val="120000"/>
              </a:lnSpc>
              <a:spcAft>
                <a:spcPts val="600"/>
              </a:spcAft>
              <a:buSzPct val="60000"/>
              <a:buBlip>
                <a:blip r:embed="rId1"/>
              </a:buBlip>
            </a:pPr>
            <a:r>
              <a:rPr lang="en-US" sz="2400" dirty="0">
                <a:solidFill>
                  <a:schemeClr val="bg1"/>
                </a:solidFill>
              </a:rPr>
              <a:t>Uses MoveIt and </a:t>
            </a:r>
            <a:r>
              <a:rPr lang="en-US" sz="2400" dirty="0" err="1">
                <a:solidFill>
                  <a:schemeClr val="bg1"/>
                </a:solidFill>
              </a:rPr>
              <a:t>bio_ik</a:t>
            </a:r>
            <a:r>
              <a:rPr lang="en-US" sz="2400" dirty="0">
                <a:solidFill>
                  <a:schemeClr val="bg1"/>
                </a:solidFill>
              </a:rPr>
              <a:t>, includes simulation and visualization</a:t>
            </a:r>
            <a:endParaRPr lang="en-US" sz="2400" dirty="0">
              <a:solidFill>
                <a:schemeClr val="bg1"/>
              </a:solidFill>
            </a:endParaRPr>
          </a:p>
        </p:txBody>
      </p:sp>
      <p:sp>
        <p:nvSpPr>
          <p:cNvPr id="9" name="TextBox 8"/>
          <p:cNvSpPr txBox="1"/>
          <p:nvPr/>
        </p:nvSpPr>
        <p:spPr>
          <a:xfrm>
            <a:off x="416993" y="5950918"/>
            <a:ext cx="10958364" cy="646331"/>
          </a:xfrm>
          <a:prstGeom prst="rect">
            <a:avLst/>
          </a:prstGeom>
          <a:noFill/>
        </p:spPr>
        <p:txBody>
          <a:bodyPr wrap="square">
            <a:spAutoFit/>
          </a:bodyPr>
          <a:lstStyle/>
          <a:p>
            <a:pPr algn="ctr"/>
            <a:r>
              <a:rPr lang="en-US" dirty="0">
                <a:solidFill>
                  <a:schemeClr val="bg1"/>
                </a:solidFill>
              </a:rPr>
              <a:t>Diabolo Play (it is a juggling or circus prop consisting of an axle and two cups, played with a string attached to two hand sticks)</a:t>
            </a:r>
            <a:endParaRPr lang="en-US"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2989586" y="2875002"/>
            <a:ext cx="5856240" cy="553998"/>
          </a:xfrm>
        </p:spPr>
        <p:txBody>
          <a:bodyPr/>
          <a:lstStyle/>
          <a:p>
            <a:r>
              <a:rPr lang="en-US" sz="3600" dirty="0">
                <a:solidFill>
                  <a:srgbClr val="FFC000"/>
                </a:solidFill>
              </a:rPr>
              <a:t>Land</a:t>
            </a:r>
            <a:r>
              <a:rPr lang="en-US" sz="3600" dirty="0"/>
              <a:t>, </a:t>
            </a:r>
            <a:r>
              <a:rPr lang="en-US" sz="3600" dirty="0">
                <a:solidFill>
                  <a:srgbClr val="0073FF"/>
                </a:solidFill>
              </a:rPr>
              <a:t>Sea</a:t>
            </a:r>
            <a:r>
              <a:rPr lang="en-US" sz="3600" dirty="0"/>
              <a:t>, </a:t>
            </a:r>
            <a:r>
              <a:rPr lang="en-US" sz="3600" dirty="0">
                <a:solidFill>
                  <a:srgbClr val="92D050"/>
                </a:solidFill>
              </a:rPr>
              <a:t>Air</a:t>
            </a:r>
            <a:r>
              <a:rPr lang="en-US" sz="3600" dirty="0"/>
              <a:t> with </a:t>
            </a:r>
            <a:r>
              <a:rPr lang="en-US" sz="3600" dirty="0" err="1"/>
              <a:t>MoveIt</a:t>
            </a:r>
            <a:r>
              <a:rPr lang="en-US" sz="3600" dirty="0"/>
              <a:t>!</a:t>
            </a:r>
            <a:endParaRPr lang="en-US" sz="3600" dirty="0">
              <a:solidFill>
                <a:srgbClr val="FF3399"/>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C000"/>
                </a:solidFill>
              </a:rPr>
              <a:t>Land </a:t>
            </a:r>
            <a:r>
              <a:rPr lang="en-US" sz="3600" dirty="0"/>
              <a:t>with </a:t>
            </a:r>
            <a:r>
              <a:rPr lang="en-US" sz="3600" dirty="0" err="1"/>
              <a:t>MoveIt</a:t>
            </a:r>
            <a:r>
              <a:rPr lang="en-US" sz="3600" dirty="0"/>
              <a:t>!</a:t>
            </a:r>
            <a:endParaRPr lang="en-US" sz="3600" dirty="0">
              <a:solidFill>
                <a:srgbClr val="FF3399"/>
              </a:solidFill>
            </a:endParaRPr>
          </a:p>
        </p:txBody>
      </p:sp>
      <p:pic>
        <p:nvPicPr>
          <p:cNvPr id="4" name="object 4"/>
          <p:cNvPicPr/>
          <p:nvPr/>
        </p:nvPicPr>
        <p:blipFill>
          <a:blip r:embed="rId1" cstate="print"/>
          <a:stretch>
            <a:fillRect/>
          </a:stretch>
        </p:blipFill>
        <p:spPr>
          <a:xfrm>
            <a:off x="815009" y="1749287"/>
            <a:ext cx="3473460" cy="2240147"/>
          </a:xfrm>
          <a:prstGeom prst="rect">
            <a:avLst/>
          </a:prstGeom>
        </p:spPr>
      </p:pic>
      <p:pic>
        <p:nvPicPr>
          <p:cNvPr id="5" name="object 5"/>
          <p:cNvPicPr/>
          <p:nvPr/>
        </p:nvPicPr>
        <p:blipFill>
          <a:blip r:embed="rId2" cstate="print"/>
          <a:stretch>
            <a:fillRect/>
          </a:stretch>
        </p:blipFill>
        <p:spPr>
          <a:xfrm>
            <a:off x="4605261" y="1749287"/>
            <a:ext cx="3152627" cy="2240147"/>
          </a:xfrm>
          <a:prstGeom prst="rect">
            <a:avLst/>
          </a:prstGeom>
        </p:spPr>
      </p:pic>
      <p:pic>
        <p:nvPicPr>
          <p:cNvPr id="7" name="object 6"/>
          <p:cNvPicPr/>
          <p:nvPr/>
        </p:nvPicPr>
        <p:blipFill>
          <a:blip r:embed="rId3" cstate="print"/>
          <a:stretch>
            <a:fillRect/>
          </a:stretch>
        </p:blipFill>
        <p:spPr>
          <a:xfrm>
            <a:off x="8074680" y="1749287"/>
            <a:ext cx="3302311" cy="2240147"/>
          </a:xfrm>
          <a:prstGeom prst="rect">
            <a:avLst/>
          </a:prstGeom>
        </p:spPr>
      </p:pic>
      <p:sp>
        <p:nvSpPr>
          <p:cNvPr id="11" name="object 7"/>
          <p:cNvSpPr txBox="1"/>
          <p:nvPr/>
        </p:nvSpPr>
        <p:spPr>
          <a:xfrm>
            <a:off x="1610986" y="4066195"/>
            <a:ext cx="1881505" cy="397545"/>
          </a:xfrm>
          <a:prstGeom prst="rect">
            <a:avLst/>
          </a:prstGeom>
        </p:spPr>
        <p:txBody>
          <a:bodyPr vert="horz" wrap="square" lIns="0" tIns="12700" rIns="0" bIns="0" rtlCol="0">
            <a:spAutoFit/>
          </a:bodyPr>
          <a:lstStyle/>
          <a:p>
            <a:pPr marL="635" algn="ctr">
              <a:lnSpc>
                <a:spcPts val="940"/>
              </a:lnSpc>
              <a:spcBef>
                <a:spcPts val="100"/>
              </a:spcBef>
            </a:pPr>
            <a:r>
              <a:rPr sz="800" spc="-10" dirty="0">
                <a:solidFill>
                  <a:schemeClr val="bg1"/>
                </a:solidFill>
                <a:latin typeface="+mj-lt"/>
                <a:cs typeface="Lucida Sans"/>
              </a:rPr>
              <a:t>Agriculture</a:t>
            </a:r>
            <a:endParaRPr sz="800">
              <a:solidFill>
                <a:schemeClr val="bg1"/>
              </a:solidFill>
              <a:latin typeface="+mj-lt"/>
              <a:cs typeface="Lucida Sans"/>
            </a:endParaRPr>
          </a:p>
          <a:p>
            <a:pPr algn="ctr">
              <a:lnSpc>
                <a:spcPts val="2140"/>
              </a:lnSpc>
            </a:pPr>
            <a:r>
              <a:rPr spc="50" dirty="0">
                <a:solidFill>
                  <a:schemeClr val="bg1"/>
                </a:solidFill>
                <a:latin typeface="+mj-lt"/>
                <a:cs typeface="Lucida Sans"/>
              </a:rPr>
              <a:t>Plant</a:t>
            </a:r>
            <a:r>
              <a:rPr spc="-160" dirty="0">
                <a:solidFill>
                  <a:schemeClr val="bg1"/>
                </a:solidFill>
                <a:latin typeface="+mj-lt"/>
                <a:cs typeface="Lucida Sans"/>
              </a:rPr>
              <a:t> </a:t>
            </a:r>
            <a:r>
              <a:rPr spc="-10" dirty="0">
                <a:solidFill>
                  <a:schemeClr val="bg1"/>
                </a:solidFill>
                <a:latin typeface="+mj-lt"/>
                <a:cs typeface="Lucida Sans"/>
              </a:rPr>
              <a:t>Harvesting</a:t>
            </a:r>
            <a:endParaRPr>
              <a:solidFill>
                <a:schemeClr val="bg1"/>
              </a:solidFill>
              <a:latin typeface="+mj-lt"/>
              <a:cs typeface="Lucida Sans"/>
            </a:endParaRPr>
          </a:p>
        </p:txBody>
      </p:sp>
      <p:sp>
        <p:nvSpPr>
          <p:cNvPr id="12" name="object 8"/>
          <p:cNvSpPr txBox="1"/>
          <p:nvPr/>
        </p:nvSpPr>
        <p:spPr>
          <a:xfrm>
            <a:off x="5078629" y="4193864"/>
            <a:ext cx="1985010" cy="397545"/>
          </a:xfrm>
          <a:prstGeom prst="rect">
            <a:avLst/>
          </a:prstGeom>
        </p:spPr>
        <p:txBody>
          <a:bodyPr vert="horz" wrap="square" lIns="0" tIns="12700" rIns="0" bIns="0" rtlCol="0">
            <a:spAutoFit/>
          </a:bodyPr>
          <a:lstStyle/>
          <a:p>
            <a:pPr marL="1905" algn="ctr">
              <a:lnSpc>
                <a:spcPts val="940"/>
              </a:lnSpc>
              <a:spcBef>
                <a:spcPts val="100"/>
              </a:spcBef>
            </a:pPr>
            <a:r>
              <a:rPr sz="800" spc="-20" dirty="0">
                <a:solidFill>
                  <a:schemeClr val="bg1"/>
                </a:solidFill>
                <a:latin typeface="+mj-lt"/>
                <a:cs typeface="Lucida Sans"/>
              </a:rPr>
              <a:t>Food</a:t>
            </a:r>
            <a:endParaRPr sz="800" dirty="0">
              <a:solidFill>
                <a:schemeClr val="bg1"/>
              </a:solidFill>
              <a:latin typeface="+mj-lt"/>
              <a:cs typeface="Lucida Sans"/>
            </a:endParaRPr>
          </a:p>
          <a:p>
            <a:pPr algn="ctr">
              <a:lnSpc>
                <a:spcPts val="2140"/>
              </a:lnSpc>
            </a:pPr>
            <a:r>
              <a:rPr sz="1800" dirty="0">
                <a:solidFill>
                  <a:schemeClr val="bg1"/>
                </a:solidFill>
                <a:latin typeface="+mj-lt"/>
                <a:cs typeface="Lucida Sans"/>
              </a:rPr>
              <a:t>Kitchen</a:t>
            </a:r>
            <a:r>
              <a:rPr sz="1800" spc="-15" dirty="0">
                <a:solidFill>
                  <a:schemeClr val="bg1"/>
                </a:solidFill>
                <a:latin typeface="+mj-lt"/>
                <a:cs typeface="Lucida Sans"/>
              </a:rPr>
              <a:t> </a:t>
            </a:r>
            <a:r>
              <a:rPr sz="1800" spc="-10" dirty="0">
                <a:solidFill>
                  <a:schemeClr val="bg1"/>
                </a:solidFill>
                <a:latin typeface="+mj-lt"/>
                <a:cs typeface="Lucida Sans"/>
              </a:rPr>
              <a:t>Assistant</a:t>
            </a:r>
            <a:endParaRPr sz="1800" dirty="0">
              <a:solidFill>
                <a:schemeClr val="bg1"/>
              </a:solidFill>
              <a:latin typeface="+mj-lt"/>
              <a:cs typeface="Lucida Sans"/>
            </a:endParaRPr>
          </a:p>
        </p:txBody>
      </p:sp>
      <p:sp>
        <p:nvSpPr>
          <p:cNvPr id="13" name="object 9"/>
          <p:cNvSpPr txBox="1"/>
          <p:nvPr/>
        </p:nvSpPr>
        <p:spPr>
          <a:xfrm>
            <a:off x="9100360" y="4066194"/>
            <a:ext cx="1250950" cy="397545"/>
          </a:xfrm>
          <a:prstGeom prst="rect">
            <a:avLst/>
          </a:prstGeom>
        </p:spPr>
        <p:txBody>
          <a:bodyPr vert="horz" wrap="square" lIns="0" tIns="12700" rIns="0" bIns="0" rtlCol="0">
            <a:spAutoFit/>
          </a:bodyPr>
          <a:lstStyle/>
          <a:p>
            <a:pPr marL="635" algn="ctr">
              <a:lnSpc>
                <a:spcPts val="940"/>
              </a:lnSpc>
              <a:spcBef>
                <a:spcPts val="100"/>
              </a:spcBef>
            </a:pPr>
            <a:r>
              <a:rPr sz="800" spc="-10" dirty="0">
                <a:solidFill>
                  <a:schemeClr val="bg1"/>
                </a:solidFill>
                <a:latin typeface="+mj-lt"/>
                <a:cs typeface="Lucida Sans"/>
              </a:rPr>
              <a:t>Logistics</a:t>
            </a:r>
            <a:endParaRPr sz="800" dirty="0">
              <a:solidFill>
                <a:schemeClr val="bg1"/>
              </a:solidFill>
              <a:latin typeface="+mj-lt"/>
              <a:cs typeface="Lucida Sans"/>
            </a:endParaRPr>
          </a:p>
          <a:p>
            <a:pPr algn="ctr">
              <a:lnSpc>
                <a:spcPts val="2140"/>
              </a:lnSpc>
            </a:pPr>
            <a:r>
              <a:rPr sz="1800" dirty="0">
                <a:solidFill>
                  <a:schemeClr val="bg1"/>
                </a:solidFill>
                <a:latin typeface="+mj-lt"/>
                <a:cs typeface="Lucida Sans"/>
              </a:rPr>
              <a:t>Bin</a:t>
            </a:r>
            <a:r>
              <a:rPr sz="1800" spc="-20" dirty="0">
                <a:solidFill>
                  <a:schemeClr val="bg1"/>
                </a:solidFill>
                <a:latin typeface="+mj-lt"/>
                <a:cs typeface="Lucida Sans"/>
              </a:rPr>
              <a:t> </a:t>
            </a:r>
            <a:r>
              <a:rPr sz="1800" spc="-10" dirty="0">
                <a:solidFill>
                  <a:schemeClr val="bg1"/>
                </a:solidFill>
                <a:latin typeface="+mj-lt"/>
                <a:cs typeface="Lucida Sans"/>
              </a:rPr>
              <a:t>Picking</a:t>
            </a:r>
            <a:endParaRPr sz="1800" dirty="0">
              <a:solidFill>
                <a:schemeClr val="bg1"/>
              </a:solidFill>
              <a:latin typeface="+mj-lt"/>
              <a:cs typeface="Lucida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0073FF"/>
                </a:solidFill>
              </a:rPr>
              <a:t>Sea</a:t>
            </a:r>
            <a:r>
              <a:rPr lang="en-US" sz="3600" dirty="0">
                <a:solidFill>
                  <a:srgbClr val="FFC000"/>
                </a:solidFill>
              </a:rPr>
              <a:t> </a:t>
            </a:r>
            <a:r>
              <a:rPr lang="en-US" sz="3600" dirty="0"/>
              <a:t>with </a:t>
            </a:r>
            <a:r>
              <a:rPr lang="en-US" sz="3600" dirty="0" err="1"/>
              <a:t>MoveIt</a:t>
            </a:r>
            <a:r>
              <a:rPr lang="en-US" sz="3600" dirty="0"/>
              <a:t>!</a:t>
            </a:r>
            <a:endParaRPr lang="en-US" sz="3600" dirty="0">
              <a:solidFill>
                <a:srgbClr val="FF3399"/>
              </a:solidFill>
            </a:endParaRPr>
          </a:p>
        </p:txBody>
      </p:sp>
      <p:sp>
        <p:nvSpPr>
          <p:cNvPr id="2" name="object 3"/>
          <p:cNvSpPr txBox="1"/>
          <p:nvPr/>
        </p:nvSpPr>
        <p:spPr>
          <a:xfrm>
            <a:off x="3535527" y="4875164"/>
            <a:ext cx="4579353" cy="692150"/>
          </a:xfrm>
          <a:prstGeom prst="rect">
            <a:avLst/>
          </a:prstGeom>
        </p:spPr>
        <p:txBody>
          <a:bodyPr vert="horz" wrap="square" lIns="0" tIns="12700" rIns="0" bIns="0" rtlCol="0">
            <a:spAutoFit/>
          </a:bodyPr>
          <a:lstStyle/>
          <a:p>
            <a:pPr algn="ctr">
              <a:lnSpc>
                <a:spcPts val="935"/>
              </a:lnSpc>
              <a:spcBef>
                <a:spcPts val="100"/>
              </a:spcBef>
            </a:pPr>
            <a:r>
              <a:rPr sz="800" spc="-10" dirty="0">
                <a:solidFill>
                  <a:schemeClr val="bg1"/>
                </a:solidFill>
                <a:latin typeface="Lucida Sans"/>
                <a:cs typeface="Lucida Sans"/>
              </a:rPr>
              <a:t>Subsea</a:t>
            </a:r>
            <a:endParaRPr sz="800" dirty="0">
              <a:solidFill>
                <a:schemeClr val="bg1"/>
              </a:solidFill>
              <a:latin typeface="Lucida Sans"/>
              <a:cs typeface="Lucida Sans"/>
            </a:endParaRPr>
          </a:p>
          <a:p>
            <a:pPr algn="ctr">
              <a:lnSpc>
                <a:spcPts val="2135"/>
              </a:lnSpc>
            </a:pPr>
            <a:r>
              <a:rPr sz="1800" dirty="0">
                <a:solidFill>
                  <a:schemeClr val="bg1"/>
                </a:solidFill>
                <a:latin typeface="Lucida Sans"/>
                <a:cs typeface="Lucida Sans"/>
              </a:rPr>
              <a:t>Remotely</a:t>
            </a:r>
            <a:r>
              <a:rPr sz="1800" spc="20" dirty="0">
                <a:solidFill>
                  <a:schemeClr val="bg1"/>
                </a:solidFill>
                <a:latin typeface="Lucida Sans"/>
                <a:cs typeface="Lucida Sans"/>
              </a:rPr>
              <a:t> </a:t>
            </a:r>
            <a:r>
              <a:rPr sz="1800" spc="-10" dirty="0">
                <a:solidFill>
                  <a:schemeClr val="bg1"/>
                </a:solidFill>
                <a:latin typeface="Lucida Sans"/>
                <a:cs typeface="Lucida Sans"/>
              </a:rPr>
              <a:t>Operated</a:t>
            </a:r>
            <a:endParaRPr sz="1800" dirty="0">
              <a:solidFill>
                <a:schemeClr val="bg1"/>
              </a:solidFill>
              <a:latin typeface="Lucida Sans"/>
              <a:cs typeface="Lucida Sans"/>
            </a:endParaRPr>
          </a:p>
          <a:p>
            <a:pPr algn="ctr">
              <a:lnSpc>
                <a:spcPct val="100000"/>
              </a:lnSpc>
              <a:spcBef>
                <a:spcPts val="15"/>
              </a:spcBef>
            </a:pPr>
            <a:r>
              <a:rPr sz="1800" dirty="0">
                <a:solidFill>
                  <a:schemeClr val="bg1"/>
                </a:solidFill>
                <a:latin typeface="Lucida Sans"/>
                <a:cs typeface="Lucida Sans"/>
              </a:rPr>
              <a:t>Underwater</a:t>
            </a:r>
            <a:r>
              <a:rPr sz="1800" spc="45" dirty="0">
                <a:solidFill>
                  <a:schemeClr val="bg1"/>
                </a:solidFill>
                <a:latin typeface="Lucida Sans"/>
                <a:cs typeface="Lucida Sans"/>
              </a:rPr>
              <a:t> </a:t>
            </a:r>
            <a:r>
              <a:rPr sz="1800" dirty="0">
                <a:solidFill>
                  <a:schemeClr val="bg1"/>
                </a:solidFill>
                <a:latin typeface="Lucida Sans"/>
                <a:cs typeface="Lucida Sans"/>
              </a:rPr>
              <a:t>Vehicles</a:t>
            </a:r>
            <a:r>
              <a:rPr sz="1800" spc="50" dirty="0">
                <a:solidFill>
                  <a:schemeClr val="bg1"/>
                </a:solidFill>
                <a:latin typeface="Lucida Sans"/>
                <a:cs typeface="Lucida Sans"/>
              </a:rPr>
              <a:t> </a:t>
            </a:r>
            <a:r>
              <a:rPr sz="1800" spc="-10" dirty="0">
                <a:solidFill>
                  <a:schemeClr val="bg1"/>
                </a:solidFill>
                <a:latin typeface="Lucida Sans"/>
                <a:cs typeface="Lucida Sans"/>
              </a:rPr>
              <a:t>(ROVs)</a:t>
            </a:r>
            <a:endParaRPr sz="1800" dirty="0">
              <a:solidFill>
                <a:schemeClr val="bg1"/>
              </a:solidFill>
              <a:latin typeface="Lucida Sans"/>
              <a:cs typeface="Lucida Sans"/>
            </a:endParaRPr>
          </a:p>
        </p:txBody>
      </p:sp>
      <p:pic>
        <p:nvPicPr>
          <p:cNvPr id="6" name="object 5"/>
          <p:cNvPicPr/>
          <p:nvPr/>
        </p:nvPicPr>
        <p:blipFill>
          <a:blip r:embed="rId1" cstate="print"/>
          <a:stretch>
            <a:fillRect/>
          </a:stretch>
        </p:blipFill>
        <p:spPr>
          <a:xfrm>
            <a:off x="1033670" y="1636761"/>
            <a:ext cx="4579353" cy="2878784"/>
          </a:xfrm>
          <a:prstGeom prst="rect">
            <a:avLst/>
          </a:prstGeom>
        </p:spPr>
      </p:pic>
      <p:pic>
        <p:nvPicPr>
          <p:cNvPr id="9" name="object 6"/>
          <p:cNvPicPr/>
          <p:nvPr/>
        </p:nvPicPr>
        <p:blipFill>
          <a:blip r:embed="rId2" cstate="print"/>
          <a:stretch>
            <a:fillRect/>
          </a:stretch>
        </p:blipFill>
        <p:spPr>
          <a:xfrm>
            <a:off x="6231568" y="1636760"/>
            <a:ext cx="4443059" cy="28787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92D050"/>
                </a:solidFill>
              </a:rPr>
              <a:t>Air</a:t>
            </a:r>
            <a:r>
              <a:rPr lang="en-US" sz="3600" dirty="0">
                <a:solidFill>
                  <a:srgbClr val="FFC000"/>
                </a:solidFill>
              </a:rPr>
              <a:t> </a:t>
            </a:r>
            <a:r>
              <a:rPr lang="en-US" sz="3600" dirty="0"/>
              <a:t>with </a:t>
            </a:r>
            <a:r>
              <a:rPr lang="en-US" sz="3600" dirty="0" err="1"/>
              <a:t>MoveIt</a:t>
            </a:r>
            <a:r>
              <a:rPr lang="en-US" sz="3600" dirty="0"/>
              <a:t>!</a:t>
            </a:r>
            <a:endParaRPr lang="en-US" sz="3600" dirty="0">
              <a:solidFill>
                <a:srgbClr val="FF3399"/>
              </a:solidFill>
            </a:endParaRPr>
          </a:p>
        </p:txBody>
      </p:sp>
      <p:sp>
        <p:nvSpPr>
          <p:cNvPr id="4" name="object 4"/>
          <p:cNvSpPr txBox="1"/>
          <p:nvPr/>
        </p:nvSpPr>
        <p:spPr>
          <a:xfrm>
            <a:off x="1826707" y="4175179"/>
            <a:ext cx="1428115" cy="692150"/>
          </a:xfrm>
          <a:prstGeom prst="rect">
            <a:avLst/>
          </a:prstGeom>
        </p:spPr>
        <p:txBody>
          <a:bodyPr vert="horz" wrap="square" lIns="0" tIns="12700" rIns="0" bIns="0" rtlCol="0">
            <a:spAutoFit/>
          </a:bodyPr>
          <a:lstStyle/>
          <a:p>
            <a:pPr marL="635" algn="ctr">
              <a:lnSpc>
                <a:spcPts val="935"/>
              </a:lnSpc>
              <a:spcBef>
                <a:spcPts val="100"/>
              </a:spcBef>
            </a:pPr>
            <a:r>
              <a:rPr sz="800" spc="-10" dirty="0">
                <a:solidFill>
                  <a:schemeClr val="bg1"/>
                </a:solidFill>
                <a:latin typeface="Lucida Sans"/>
                <a:cs typeface="Lucida Sans"/>
              </a:rPr>
              <a:t>Space</a:t>
            </a:r>
            <a:endParaRPr sz="800" dirty="0">
              <a:solidFill>
                <a:schemeClr val="bg1"/>
              </a:solidFill>
              <a:latin typeface="Lucida Sans"/>
              <a:cs typeface="Lucida Sans"/>
            </a:endParaRPr>
          </a:p>
          <a:p>
            <a:pPr algn="ctr">
              <a:lnSpc>
                <a:spcPts val="2135"/>
              </a:lnSpc>
            </a:pPr>
            <a:r>
              <a:rPr sz="1800" dirty="0">
                <a:solidFill>
                  <a:schemeClr val="bg1"/>
                </a:solidFill>
                <a:latin typeface="Lucida Sans"/>
                <a:cs typeface="Lucida Sans"/>
              </a:rPr>
              <a:t>Inter</a:t>
            </a:r>
            <a:r>
              <a:rPr sz="1800" spc="-10" dirty="0">
                <a:solidFill>
                  <a:schemeClr val="bg1"/>
                </a:solidFill>
                <a:latin typeface="Lucida Sans"/>
                <a:cs typeface="Lucida Sans"/>
              </a:rPr>
              <a:t> Vehicle</a:t>
            </a:r>
            <a:endParaRPr sz="1800" dirty="0">
              <a:solidFill>
                <a:schemeClr val="bg1"/>
              </a:solidFill>
              <a:latin typeface="Lucida Sans"/>
              <a:cs typeface="Lucida Sans"/>
            </a:endParaRPr>
          </a:p>
          <a:p>
            <a:pPr algn="ctr">
              <a:lnSpc>
                <a:spcPct val="100000"/>
              </a:lnSpc>
              <a:spcBef>
                <a:spcPts val="15"/>
              </a:spcBef>
            </a:pPr>
            <a:r>
              <a:rPr sz="1800" spc="-10" dirty="0">
                <a:solidFill>
                  <a:schemeClr val="bg1"/>
                </a:solidFill>
                <a:latin typeface="Lucida Sans"/>
                <a:cs typeface="Lucida Sans"/>
              </a:rPr>
              <a:t>Robotics</a:t>
            </a:r>
            <a:endParaRPr sz="1800" dirty="0">
              <a:solidFill>
                <a:schemeClr val="bg1"/>
              </a:solidFill>
              <a:latin typeface="Lucida Sans"/>
              <a:cs typeface="Lucida Sans"/>
            </a:endParaRPr>
          </a:p>
        </p:txBody>
      </p:sp>
      <p:sp>
        <p:nvSpPr>
          <p:cNvPr id="5" name="object 5"/>
          <p:cNvSpPr txBox="1"/>
          <p:nvPr/>
        </p:nvSpPr>
        <p:spPr>
          <a:xfrm>
            <a:off x="5164354" y="4275884"/>
            <a:ext cx="1813560" cy="692150"/>
          </a:xfrm>
          <a:prstGeom prst="rect">
            <a:avLst/>
          </a:prstGeom>
        </p:spPr>
        <p:txBody>
          <a:bodyPr vert="horz" wrap="square" lIns="0" tIns="12700" rIns="0" bIns="0" rtlCol="0">
            <a:spAutoFit/>
          </a:bodyPr>
          <a:lstStyle/>
          <a:p>
            <a:pPr marL="2540" algn="ctr">
              <a:lnSpc>
                <a:spcPts val="935"/>
              </a:lnSpc>
              <a:spcBef>
                <a:spcPts val="100"/>
              </a:spcBef>
            </a:pPr>
            <a:r>
              <a:rPr sz="800" spc="-10" dirty="0">
                <a:solidFill>
                  <a:schemeClr val="bg1"/>
                </a:solidFill>
                <a:latin typeface="Lucida Sans"/>
                <a:cs typeface="Lucida Sans"/>
              </a:rPr>
              <a:t>Space</a:t>
            </a:r>
            <a:endParaRPr sz="800" dirty="0">
              <a:solidFill>
                <a:schemeClr val="bg1"/>
              </a:solidFill>
              <a:latin typeface="Lucida Sans"/>
              <a:cs typeface="Lucida Sans"/>
            </a:endParaRPr>
          </a:p>
          <a:p>
            <a:pPr marL="12065" marR="5080" algn="ctr">
              <a:lnSpc>
                <a:spcPts val="2170"/>
              </a:lnSpc>
              <a:spcBef>
                <a:spcPts val="40"/>
              </a:spcBef>
            </a:pPr>
            <a:r>
              <a:rPr sz="1800" dirty="0">
                <a:solidFill>
                  <a:schemeClr val="bg1"/>
                </a:solidFill>
                <a:latin typeface="Lucida Sans"/>
                <a:cs typeface="Lucida Sans"/>
              </a:rPr>
              <a:t>In</a:t>
            </a:r>
            <a:r>
              <a:rPr sz="1800" spc="-125" dirty="0">
                <a:solidFill>
                  <a:schemeClr val="bg1"/>
                </a:solidFill>
                <a:latin typeface="Lucida Sans"/>
                <a:cs typeface="Lucida Sans"/>
              </a:rPr>
              <a:t> </a:t>
            </a:r>
            <a:r>
              <a:rPr sz="1800" spc="-40" dirty="0">
                <a:solidFill>
                  <a:schemeClr val="bg1"/>
                </a:solidFill>
                <a:latin typeface="Lucida Sans"/>
                <a:cs typeface="Lucida Sans"/>
              </a:rPr>
              <a:t>Orbit</a:t>
            </a:r>
            <a:r>
              <a:rPr sz="1800" spc="-125" dirty="0">
                <a:solidFill>
                  <a:schemeClr val="bg1"/>
                </a:solidFill>
                <a:latin typeface="Lucida Sans"/>
                <a:cs typeface="Lucida Sans"/>
              </a:rPr>
              <a:t> </a:t>
            </a:r>
            <a:r>
              <a:rPr sz="1800" spc="-10" dirty="0">
                <a:solidFill>
                  <a:schemeClr val="bg1"/>
                </a:solidFill>
                <a:latin typeface="Lucida Sans"/>
                <a:cs typeface="Lucida Sans"/>
              </a:rPr>
              <a:t>Satellite Servicing</a:t>
            </a:r>
            <a:endParaRPr sz="1800" dirty="0">
              <a:solidFill>
                <a:schemeClr val="bg1"/>
              </a:solidFill>
              <a:latin typeface="Lucida Sans"/>
              <a:cs typeface="Lucida Sans"/>
            </a:endParaRPr>
          </a:p>
        </p:txBody>
      </p:sp>
      <p:pic>
        <p:nvPicPr>
          <p:cNvPr id="7" name="object 6"/>
          <p:cNvPicPr/>
          <p:nvPr/>
        </p:nvPicPr>
        <p:blipFill>
          <a:blip r:embed="rId1" cstate="print"/>
          <a:stretch>
            <a:fillRect/>
          </a:stretch>
        </p:blipFill>
        <p:spPr>
          <a:xfrm>
            <a:off x="4494437" y="2030932"/>
            <a:ext cx="3355528" cy="2044084"/>
          </a:xfrm>
          <a:prstGeom prst="rect">
            <a:avLst/>
          </a:prstGeom>
        </p:spPr>
      </p:pic>
      <p:sp>
        <p:nvSpPr>
          <p:cNvPr id="10" name="object 7"/>
          <p:cNvSpPr txBox="1"/>
          <p:nvPr/>
        </p:nvSpPr>
        <p:spPr>
          <a:xfrm>
            <a:off x="8937179" y="4252181"/>
            <a:ext cx="1485900" cy="692150"/>
          </a:xfrm>
          <a:prstGeom prst="rect">
            <a:avLst/>
          </a:prstGeom>
        </p:spPr>
        <p:txBody>
          <a:bodyPr vert="horz" wrap="square" lIns="0" tIns="12700" rIns="0" bIns="0" rtlCol="0">
            <a:spAutoFit/>
          </a:bodyPr>
          <a:lstStyle/>
          <a:p>
            <a:pPr marL="1270" algn="ctr">
              <a:lnSpc>
                <a:spcPts val="935"/>
              </a:lnSpc>
              <a:spcBef>
                <a:spcPts val="100"/>
              </a:spcBef>
            </a:pPr>
            <a:r>
              <a:rPr sz="800" spc="-10" dirty="0">
                <a:solidFill>
                  <a:schemeClr val="bg1"/>
                </a:solidFill>
                <a:latin typeface="Lucida Sans"/>
                <a:cs typeface="Lucida Sans"/>
              </a:rPr>
              <a:t>Space</a:t>
            </a:r>
            <a:endParaRPr sz="800" dirty="0">
              <a:solidFill>
                <a:schemeClr val="bg1"/>
              </a:solidFill>
              <a:latin typeface="Lucida Sans"/>
              <a:cs typeface="Lucida Sans"/>
            </a:endParaRPr>
          </a:p>
          <a:p>
            <a:pPr marL="12700" marR="5080" indent="-1905" algn="ctr">
              <a:lnSpc>
                <a:spcPts val="2170"/>
              </a:lnSpc>
              <a:spcBef>
                <a:spcPts val="40"/>
              </a:spcBef>
            </a:pPr>
            <a:r>
              <a:rPr sz="1800" dirty="0">
                <a:solidFill>
                  <a:schemeClr val="bg1"/>
                </a:solidFill>
                <a:latin typeface="Lucida Sans"/>
                <a:cs typeface="Lucida Sans"/>
              </a:rPr>
              <a:t>Lunar</a:t>
            </a:r>
            <a:r>
              <a:rPr sz="1800" spc="-75" dirty="0">
                <a:solidFill>
                  <a:schemeClr val="bg1"/>
                </a:solidFill>
                <a:latin typeface="Lucida Sans"/>
                <a:cs typeface="Lucida Sans"/>
              </a:rPr>
              <a:t> </a:t>
            </a:r>
            <a:r>
              <a:rPr sz="1800" spc="55" dirty="0">
                <a:solidFill>
                  <a:schemeClr val="bg1"/>
                </a:solidFill>
                <a:latin typeface="Lucida Sans"/>
                <a:cs typeface="Lucida Sans"/>
              </a:rPr>
              <a:t>Base </a:t>
            </a:r>
            <a:r>
              <a:rPr sz="1800" spc="-10" dirty="0">
                <a:solidFill>
                  <a:schemeClr val="bg1"/>
                </a:solidFill>
                <a:latin typeface="Lucida Sans"/>
                <a:cs typeface="Lucida Sans"/>
              </a:rPr>
              <a:t>Construction</a:t>
            </a:r>
            <a:endParaRPr sz="1800" dirty="0">
              <a:solidFill>
                <a:schemeClr val="bg1"/>
              </a:solidFill>
              <a:latin typeface="Lucida Sans"/>
              <a:cs typeface="Lucida Sans"/>
            </a:endParaRPr>
          </a:p>
        </p:txBody>
      </p:sp>
      <p:pic>
        <p:nvPicPr>
          <p:cNvPr id="11" name="object 8"/>
          <p:cNvPicPr/>
          <p:nvPr/>
        </p:nvPicPr>
        <p:blipFill>
          <a:blip r:embed="rId2" cstate="print"/>
          <a:stretch>
            <a:fillRect/>
          </a:stretch>
        </p:blipFill>
        <p:spPr>
          <a:xfrm>
            <a:off x="750771" y="2030932"/>
            <a:ext cx="3591266" cy="2030368"/>
          </a:xfrm>
          <a:prstGeom prst="rect">
            <a:avLst/>
          </a:prstGeom>
        </p:spPr>
      </p:pic>
      <p:pic>
        <p:nvPicPr>
          <p:cNvPr id="12" name="object 9"/>
          <p:cNvPicPr/>
          <p:nvPr/>
        </p:nvPicPr>
        <p:blipFill>
          <a:blip r:embed="rId3" cstate="print"/>
          <a:stretch>
            <a:fillRect/>
          </a:stretch>
        </p:blipFill>
        <p:spPr>
          <a:xfrm>
            <a:off x="8002365" y="2098789"/>
            <a:ext cx="3355528" cy="196251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ROS2 Grasp Library</a:t>
            </a:r>
            <a:endParaRPr lang="en-US" sz="3600" dirty="0">
              <a:solidFill>
                <a:srgbClr val="FF3399"/>
              </a:solidFill>
            </a:endParaRPr>
          </a:p>
        </p:txBody>
      </p:sp>
      <p:sp>
        <p:nvSpPr>
          <p:cNvPr id="2" name="TextBox 1"/>
          <p:cNvSpPr txBox="1"/>
          <p:nvPr/>
        </p:nvSpPr>
        <p:spPr>
          <a:xfrm>
            <a:off x="416993" y="1953671"/>
            <a:ext cx="11640323" cy="4320413"/>
          </a:xfrm>
          <a:prstGeom prst="rect">
            <a:avLst/>
          </a:prstGeom>
          <a:noFill/>
        </p:spPr>
        <p:txBody>
          <a:bodyPr wrap="square" lIns="182880" tIns="146304" rIns="182880" bIns="146304" rtlCol="0">
            <a:spAutoFit/>
          </a:bodyPr>
          <a:lstStyle/>
          <a:p>
            <a:pPr marL="342900" indent="-342900" algn="just">
              <a:lnSpc>
                <a:spcPct val="120000"/>
              </a:lnSpc>
              <a:spcAft>
                <a:spcPts val="600"/>
              </a:spcAft>
              <a:buSzPct val="60000"/>
              <a:buBlip>
                <a:blip r:embed="rId1"/>
              </a:buBlip>
            </a:pPr>
            <a:r>
              <a:rPr lang="en-US" sz="2200" dirty="0">
                <a:solidFill>
                  <a:schemeClr val="bg1"/>
                </a:solidFill>
              </a:rPr>
              <a:t>The ROS2 Grasp Library is a ROS 2 package that brings state-of-the-art, CNN-based deep learning grasp detection to industrial robot manipulation, allowing robots to automatically identify good grasp poses from visual data such as depth images. It provides ROS 2–native interfaces that seamlessly integrate with the MoveIt motion planning framework, enabling detected grasp poses to be used directly for collision-free trajectory planning and execution. Because MoveIt and ROS-Industrial already support a wide range of industrial robot models, the ROS2 Grasp Library allows many existing robots to perform flexible, vision-guided pick-and-place tasks without the need for manually programmed grasp positions, improving adaptability, efficiency, and automation in real-world industrial environments.</a:t>
            </a:r>
            <a:endParaRPr lang="en-US" sz="2200" dirty="0">
              <a:solidFill>
                <a:srgbClr val="0073FF"/>
              </a:solidFill>
            </a:endParaRPr>
          </a:p>
        </p:txBody>
      </p:sp>
      <p:sp>
        <p:nvSpPr>
          <p:cNvPr id="5" name="TextBox 4"/>
          <p:cNvSpPr txBox="1"/>
          <p:nvPr/>
        </p:nvSpPr>
        <p:spPr>
          <a:xfrm>
            <a:off x="466724" y="1137914"/>
            <a:ext cx="11112468" cy="769441"/>
          </a:xfrm>
          <a:prstGeom prst="rect">
            <a:avLst/>
          </a:prstGeom>
          <a:noFill/>
        </p:spPr>
        <p:txBody>
          <a:bodyPr wrap="square">
            <a:spAutoFit/>
          </a:bodyPr>
          <a:lstStyle/>
          <a:p>
            <a:r>
              <a:rPr lang="en-US" sz="2200" dirty="0">
                <a:solidFill>
                  <a:schemeClr val="bg1"/>
                </a:solidFill>
              </a:rPr>
              <a:t>Q: What is the ROS2 Grasp Library, and how does it enable deep-learning-based grasp detection and integration with MoveIt for industrial robot manipulation?</a:t>
            </a:r>
            <a:endParaRPr lang="en-US" sz="22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Hardware Integration Challenges</a:t>
            </a:r>
            <a:endParaRPr lang="en-US" sz="3600" dirty="0">
              <a:solidFill>
                <a:srgbClr val="FF3399"/>
              </a:solidFill>
            </a:endParaRPr>
          </a:p>
        </p:txBody>
      </p:sp>
      <p:sp>
        <p:nvSpPr>
          <p:cNvPr id="2" name="TextBox 1"/>
          <p:cNvSpPr txBox="1"/>
          <p:nvPr/>
        </p:nvSpPr>
        <p:spPr>
          <a:xfrm>
            <a:off x="416993" y="1953671"/>
            <a:ext cx="11640323" cy="3914148"/>
          </a:xfrm>
          <a:prstGeom prst="rect">
            <a:avLst/>
          </a:prstGeom>
          <a:noFill/>
        </p:spPr>
        <p:txBody>
          <a:bodyPr wrap="square" lIns="182880" tIns="146304" rIns="182880" bIns="146304" rtlCol="0">
            <a:spAutoFit/>
          </a:bodyPr>
          <a:lstStyle/>
          <a:p>
            <a:pPr marL="342900" indent="-342900" algn="just">
              <a:lnSpc>
                <a:spcPct val="120000"/>
              </a:lnSpc>
              <a:spcAft>
                <a:spcPts val="600"/>
              </a:spcAft>
              <a:buSzPct val="60000"/>
              <a:buBlip>
                <a:blip r:embed="rId1"/>
              </a:buBlip>
            </a:pPr>
            <a:r>
              <a:rPr lang="en-US" sz="2200" dirty="0">
                <a:solidFill>
                  <a:schemeClr val="bg1"/>
                </a:solidFill>
              </a:rPr>
              <a:t>The “Chicken and Egg” problem in MoveIt happens because both users and hardware companies depend on each other to move forward, but neither wants to go first. Many users want to use ROS 2 and MoveIt 2, but they hesitate because their robot arms, sensors, or grippers don’t yet have full ROS 2 or MoveIt support. At the same time, hardware manufacturers wait for proof that many users actually need ROS 2 support before they spend time and money developing new drivers and interfaces. As a result, users don’t switch because hardware isn’t ready, and hardware doesn’t improve because users haven’t switched. This loop slows down the overall adoption of MoveIt 2 in real robots, even though the software is ready and powerful.</a:t>
            </a:r>
            <a:endParaRPr lang="en-US" sz="2200" dirty="0">
              <a:solidFill>
                <a:srgbClr val="0073FF"/>
              </a:solidFill>
            </a:endParaRPr>
          </a:p>
        </p:txBody>
      </p:sp>
      <p:sp>
        <p:nvSpPr>
          <p:cNvPr id="5" name="TextBox 4"/>
          <p:cNvSpPr txBox="1"/>
          <p:nvPr/>
        </p:nvSpPr>
        <p:spPr>
          <a:xfrm>
            <a:off x="466724" y="1137914"/>
            <a:ext cx="11112468" cy="769441"/>
          </a:xfrm>
          <a:prstGeom prst="rect">
            <a:avLst/>
          </a:prstGeom>
          <a:noFill/>
        </p:spPr>
        <p:txBody>
          <a:bodyPr wrap="square">
            <a:spAutoFit/>
          </a:bodyPr>
          <a:lstStyle/>
          <a:p>
            <a:r>
              <a:rPr lang="en-US" sz="2200" dirty="0">
                <a:solidFill>
                  <a:schemeClr val="bg1"/>
                </a:solidFill>
              </a:rPr>
              <a:t>Q: What is the “Chicken and Egg” problem in </a:t>
            </a:r>
            <a:r>
              <a:rPr lang="en-US" sz="2200" dirty="0" err="1">
                <a:solidFill>
                  <a:schemeClr val="bg1"/>
                </a:solidFill>
              </a:rPr>
              <a:t>MoveIt’s</a:t>
            </a:r>
            <a:r>
              <a:rPr lang="en-US" sz="2200" dirty="0">
                <a:solidFill>
                  <a:schemeClr val="bg1"/>
                </a:solidFill>
              </a:rPr>
              <a:t> hardware integration, and why does it slow down the adoption of ROS 2 and MoveIt 2?</a:t>
            </a:r>
            <a:endParaRPr lang="en-US" sz="22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ECECE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ROS2 Grasp Library</a:t>
            </a:r>
            <a:endParaRPr lang="en-US" sz="3600" dirty="0">
              <a:solidFill>
                <a:srgbClr val="FF3399"/>
              </a:solidFill>
            </a:endParaRPr>
          </a:p>
        </p:txBody>
      </p:sp>
      <p:sp>
        <p:nvSpPr>
          <p:cNvPr id="4" name="TextBox 3"/>
          <p:cNvSpPr txBox="1"/>
          <p:nvPr/>
        </p:nvSpPr>
        <p:spPr>
          <a:xfrm>
            <a:off x="4654407" y="6144895"/>
            <a:ext cx="2561983" cy="572464"/>
          </a:xfrm>
          <a:prstGeom prst="rect">
            <a:avLst/>
          </a:prstGeom>
          <a:noFill/>
        </p:spPr>
        <p:txBody>
          <a:bodyPr wrap="none" lIns="182880" tIns="146304" rIns="182880" bIns="146304" rtlCol="0">
            <a:spAutoFit/>
          </a:bodyPr>
          <a:lstStyle/>
          <a:p>
            <a:pPr>
              <a:lnSpc>
                <a:spcPct val="90000"/>
              </a:lnSpc>
              <a:spcAft>
                <a:spcPts val="600"/>
              </a:spcAft>
            </a:pPr>
            <a:r>
              <a:rPr lang="en-US" sz="2000" dirty="0">
                <a:solidFill>
                  <a:srgbClr val="236BAF"/>
                </a:solidFill>
              </a:rPr>
              <a:t>ROS2 Grasp Library</a:t>
            </a:r>
            <a:endParaRPr lang="en-US" sz="2000" dirty="0">
              <a:solidFill>
                <a:srgbClr val="236BA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What is </a:t>
            </a:r>
            <a:r>
              <a:rPr lang="en-US" sz="3600" dirty="0">
                <a:solidFill>
                  <a:srgbClr val="FF3399"/>
                </a:solidFill>
              </a:rPr>
              <a:t>TracIK</a:t>
            </a:r>
            <a:r>
              <a:rPr lang="en-US" sz="3600" dirty="0"/>
              <a:t>? </a:t>
            </a:r>
            <a:endParaRPr lang="en-US" sz="3600" dirty="0">
              <a:solidFill>
                <a:srgbClr val="FF3399"/>
              </a:solidFill>
            </a:endParaRPr>
          </a:p>
        </p:txBody>
      </p:sp>
      <p:sp>
        <p:nvSpPr>
          <p:cNvPr id="2" name="TextBox 1"/>
          <p:cNvSpPr txBox="1"/>
          <p:nvPr/>
        </p:nvSpPr>
        <p:spPr>
          <a:xfrm>
            <a:off x="416993" y="1232501"/>
            <a:ext cx="10504544" cy="3661772"/>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200" dirty="0">
                <a:solidFill>
                  <a:schemeClr val="bg1"/>
                </a:solidFill>
              </a:rPr>
              <a:t>TracIK is an </a:t>
            </a:r>
            <a:r>
              <a:rPr lang="en-US" sz="2200" dirty="0">
                <a:solidFill>
                  <a:srgbClr val="FFC000"/>
                </a:solidFill>
              </a:rPr>
              <a:t>alternative Inverse Kinematics (IK) solver </a:t>
            </a:r>
            <a:r>
              <a:rPr lang="en-US" sz="2200" dirty="0">
                <a:solidFill>
                  <a:schemeClr val="bg1"/>
                </a:solidFill>
              </a:rPr>
              <a:t>designed to outperform the standard inverse Jacobian–based methods found in KDL (</a:t>
            </a:r>
            <a:r>
              <a:rPr lang="en-US" sz="2200" dirty="0">
                <a:solidFill>
                  <a:srgbClr val="0073FF"/>
                </a:solidFill>
              </a:rPr>
              <a:t>Kinematics and Dynamics Library</a:t>
            </a:r>
            <a:r>
              <a:rPr lang="en-US" sz="2200" dirty="0">
                <a:solidFill>
                  <a:schemeClr val="bg1"/>
                </a:solidFill>
              </a:rPr>
              <a:t>).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It uses smarter search and optimization methods to quickly find joint angles that put the robot’s end-effector (hand/tool) at the desired position and orientation, without breaking any joint limits.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This makes TracIK more reliable and practical for real robots, where joints cannot rotate freely forever and the robot still needs a fast, good IK solution.</a:t>
            </a:r>
            <a:endParaRPr lang="en-US" sz="2200" dirty="0">
              <a:solidFill>
                <a:srgbClr val="0073F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What is </a:t>
            </a:r>
            <a:r>
              <a:rPr lang="en-US" sz="3600" dirty="0">
                <a:solidFill>
                  <a:srgbClr val="FF3399"/>
                </a:solidFill>
              </a:rPr>
              <a:t>REACH</a:t>
            </a:r>
            <a:r>
              <a:rPr lang="en-US" sz="3600" dirty="0"/>
              <a:t>? </a:t>
            </a:r>
            <a:endParaRPr lang="en-US" sz="3600" dirty="0">
              <a:solidFill>
                <a:srgbClr val="FF3399"/>
              </a:solidFill>
            </a:endParaRPr>
          </a:p>
        </p:txBody>
      </p:sp>
      <p:sp>
        <p:nvSpPr>
          <p:cNvPr id="2" name="TextBox 1"/>
          <p:cNvSpPr txBox="1"/>
          <p:nvPr/>
        </p:nvSpPr>
        <p:spPr>
          <a:xfrm>
            <a:off x="416993" y="1232501"/>
            <a:ext cx="10504544" cy="4068037"/>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200" dirty="0">
                <a:solidFill>
                  <a:schemeClr val="bg1"/>
                </a:solidFill>
              </a:rPr>
              <a:t>REACH is a tool that helps you check which parts of a large object—like the airplane in the image—a robot can physically reach. It does this by testing many different points on the surface and marking them with arrows.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Points the robot can reach are shown clearly, while unreachable points are marked differently.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This gives you a quick visual map of where the robot arm can or cannot work. REACH is useful for planning tasks like inspection, cleaning, painting, or maintenance because it shows whether the robot’s position, size, or configuration is suitable for the job.</a:t>
            </a:r>
            <a:endParaRPr lang="en-US" sz="2200" dirty="0">
              <a:solidFill>
                <a:srgbClr val="0073F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303030"/>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30303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What is </a:t>
            </a:r>
            <a:r>
              <a:rPr lang="en-US" sz="3600" dirty="0">
                <a:solidFill>
                  <a:srgbClr val="FF3399"/>
                </a:solidFill>
              </a:rPr>
              <a:t>REACH</a:t>
            </a:r>
            <a:r>
              <a:rPr lang="en-US" sz="3600" dirty="0"/>
              <a:t>? </a:t>
            </a:r>
            <a:endParaRPr lang="en-US" sz="3600" dirty="0">
              <a:solidFill>
                <a:srgbClr val="FF3399"/>
              </a:solidFill>
            </a:endParaRPr>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0460" y="1408743"/>
            <a:ext cx="6313103" cy="46311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What is </a:t>
            </a:r>
            <a:r>
              <a:rPr lang="en-US" sz="3600" dirty="0">
                <a:solidFill>
                  <a:srgbClr val="FF3399"/>
                </a:solidFill>
              </a:rPr>
              <a:t>Pilz Industrial Motion</a:t>
            </a:r>
            <a:r>
              <a:rPr lang="en-US" sz="3600" dirty="0"/>
              <a:t>? </a:t>
            </a:r>
            <a:endParaRPr lang="en-US" sz="3600" dirty="0">
              <a:solidFill>
                <a:srgbClr val="FF3399"/>
              </a:solidFill>
            </a:endParaRPr>
          </a:p>
        </p:txBody>
      </p:sp>
      <p:sp>
        <p:nvSpPr>
          <p:cNvPr id="2" name="TextBox 1"/>
          <p:cNvSpPr txBox="1"/>
          <p:nvPr/>
        </p:nvSpPr>
        <p:spPr>
          <a:xfrm>
            <a:off x="416993" y="1137914"/>
            <a:ext cx="11508708" cy="5517664"/>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200" dirty="0">
                <a:solidFill>
                  <a:schemeClr val="bg1"/>
                </a:solidFill>
              </a:rPr>
              <a:t>Pilz Industrial Motion is a </a:t>
            </a:r>
            <a:r>
              <a:rPr lang="en-US" sz="2200" dirty="0">
                <a:solidFill>
                  <a:srgbClr val="0073FF"/>
                </a:solidFill>
              </a:rPr>
              <a:t>tool</a:t>
            </a:r>
            <a:r>
              <a:rPr lang="en-US" sz="2200" dirty="0">
                <a:solidFill>
                  <a:schemeClr val="bg1"/>
                </a:solidFill>
              </a:rPr>
              <a:t> that makes it simple to create </a:t>
            </a:r>
            <a:r>
              <a:rPr lang="en-US" sz="2200" dirty="0">
                <a:solidFill>
                  <a:srgbClr val="FFC000"/>
                </a:solidFill>
              </a:rPr>
              <a:t>Cartesian motions for industrial robots using MoveIt</a:t>
            </a:r>
            <a:r>
              <a:rPr lang="en-US" sz="2200" dirty="0">
                <a:solidFill>
                  <a:schemeClr val="bg1"/>
                </a:solidFill>
              </a:rPr>
              <a:t>.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While most robots in ROS already support basic motion planning through RViz and MoveIt, those tools mainly focus on </a:t>
            </a:r>
            <a:r>
              <a:rPr lang="en-US" sz="2200" dirty="0">
                <a:solidFill>
                  <a:srgbClr val="FFFF00"/>
                </a:solidFill>
              </a:rPr>
              <a:t>free-space motion</a:t>
            </a:r>
            <a:r>
              <a:rPr lang="en-US" sz="2200" dirty="0">
                <a:solidFill>
                  <a:schemeClr val="bg1"/>
                </a:solidFill>
              </a:rPr>
              <a:t>.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Pilz adds an easier way to plan </a:t>
            </a:r>
            <a:r>
              <a:rPr lang="en-US" sz="2200" dirty="0">
                <a:solidFill>
                  <a:schemeClr val="accent5"/>
                </a:solidFill>
              </a:rPr>
              <a:t>straight-line (LIN)</a:t>
            </a:r>
            <a:r>
              <a:rPr lang="en-US" sz="2200" dirty="0">
                <a:solidFill>
                  <a:schemeClr val="bg1"/>
                </a:solidFill>
              </a:rPr>
              <a:t>, </a:t>
            </a:r>
            <a:r>
              <a:rPr lang="en-US" sz="2200" dirty="0">
                <a:solidFill>
                  <a:schemeClr val="accent5"/>
                </a:solidFill>
              </a:rPr>
              <a:t>point-to-point (PTP), </a:t>
            </a:r>
            <a:r>
              <a:rPr lang="en-US" sz="2200" dirty="0">
                <a:solidFill>
                  <a:schemeClr val="bg1"/>
                </a:solidFill>
              </a:rPr>
              <a:t>and </a:t>
            </a:r>
            <a:r>
              <a:rPr lang="en-US" sz="2200" dirty="0">
                <a:solidFill>
                  <a:schemeClr val="accent5"/>
                </a:solidFill>
              </a:rPr>
              <a:t>circular (CIRC) paths </a:t>
            </a:r>
            <a:r>
              <a:rPr lang="en-US" sz="2200" dirty="0">
                <a:solidFill>
                  <a:schemeClr val="bg1"/>
                </a:solidFill>
              </a:rPr>
              <a:t>in </a:t>
            </a:r>
            <a:r>
              <a:rPr lang="en-US" sz="2200" dirty="0">
                <a:solidFill>
                  <a:srgbClr val="FF0000"/>
                </a:solidFill>
              </a:rPr>
              <a:t>Cartesian space</a:t>
            </a:r>
            <a:r>
              <a:rPr lang="en-US" sz="2200" dirty="0">
                <a:solidFill>
                  <a:schemeClr val="bg1"/>
                </a:solidFill>
              </a:rPr>
              <a:t>, which are commonly used in factories for tasks like welding, painting, and inspection.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It provides a clean MoveIt interface so users can plan and run these motions without dealing with complex math.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It also lets you blend several motions together smoothly, so the robot can perform a series of moves without stopping between them.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This makes industrial-style robot programming easier, safer, and more predictable.</a:t>
            </a:r>
            <a:endParaRPr lang="en-US" sz="2200" dirty="0">
              <a:solidFill>
                <a:srgbClr val="0073F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What is </a:t>
            </a:r>
            <a:r>
              <a:rPr lang="en-US" sz="3600" dirty="0">
                <a:solidFill>
                  <a:srgbClr val="FF3399"/>
                </a:solidFill>
              </a:rPr>
              <a:t>MoveIt Grasps</a:t>
            </a:r>
            <a:r>
              <a:rPr lang="en-US" sz="3600" dirty="0"/>
              <a:t>? </a:t>
            </a:r>
            <a:endParaRPr lang="en-US" sz="3600" dirty="0">
              <a:solidFill>
                <a:srgbClr val="FF3399"/>
              </a:solidFill>
            </a:endParaRPr>
          </a:p>
        </p:txBody>
      </p:sp>
      <p:sp>
        <p:nvSpPr>
          <p:cNvPr id="2" name="TextBox 1"/>
          <p:cNvSpPr txBox="1"/>
          <p:nvPr/>
        </p:nvSpPr>
        <p:spPr>
          <a:xfrm>
            <a:off x="275751" y="1059246"/>
            <a:ext cx="10504544" cy="4628190"/>
          </a:xfrm>
          <a:prstGeom prst="rect">
            <a:avLst/>
          </a:prstGeom>
          <a:noFill/>
        </p:spPr>
        <p:txBody>
          <a:bodyPr wrap="square" lIns="182880" tIns="146304" rIns="182880" bIns="146304" rtlCol="0">
            <a:spAutoFit/>
          </a:bodyPr>
          <a:lstStyle/>
          <a:p>
            <a:pPr marL="342900" indent="-342900">
              <a:lnSpc>
                <a:spcPct val="120000"/>
              </a:lnSpc>
              <a:spcAft>
                <a:spcPts val="600"/>
              </a:spcAft>
              <a:buSzPct val="60000"/>
              <a:buBlip>
                <a:blip r:embed="rId1"/>
              </a:buBlip>
            </a:pPr>
            <a:r>
              <a:rPr lang="en-US" sz="2200" dirty="0">
                <a:solidFill>
                  <a:schemeClr val="bg1"/>
                </a:solidFill>
              </a:rPr>
              <a:t>MoveIt Grasps is a simple tool that helps a robot figure out how to pick up basic shapes like boxes and cylinders using </a:t>
            </a:r>
            <a:r>
              <a:rPr lang="en-US" sz="2200" dirty="0" err="1">
                <a:solidFill>
                  <a:schemeClr val="bg1"/>
                </a:solidFill>
              </a:rPr>
              <a:t>MoveIt’s</a:t>
            </a:r>
            <a:r>
              <a:rPr lang="en-US" sz="2200" dirty="0">
                <a:solidFill>
                  <a:schemeClr val="bg1"/>
                </a:solidFill>
              </a:rPr>
              <a:t> pick-and-place pipeline.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It does not worry about advanced physics like friction; instead, it just uses geometry.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You give it the pose of the object (where it is and how it’s oriented), and it automatically creates many possible ways the gripper could approach and grasp the object.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Then it runs inverse kinematics (IK) checks in the background to remove any grasps the robot arm cannot actually reach or perform. </a:t>
            </a:r>
            <a:endParaRPr lang="en-US" sz="2200" dirty="0">
              <a:solidFill>
                <a:schemeClr val="bg1"/>
              </a:solidFill>
            </a:endParaRPr>
          </a:p>
          <a:p>
            <a:pPr marL="342900" indent="-342900">
              <a:lnSpc>
                <a:spcPct val="120000"/>
              </a:lnSpc>
              <a:spcAft>
                <a:spcPts val="600"/>
              </a:spcAft>
              <a:buSzPct val="60000"/>
              <a:buBlip>
                <a:blip r:embed="rId1"/>
              </a:buBlip>
            </a:pPr>
            <a:r>
              <a:rPr lang="en-US" sz="2200" dirty="0">
                <a:solidFill>
                  <a:schemeClr val="bg1"/>
                </a:solidFill>
              </a:rPr>
              <a:t>The result is a list of realistic, collision-free grasp options the robot can try.</a:t>
            </a:r>
            <a:endParaRPr lang="en-US" sz="22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303030"/>
        </a:solidFill>
        <a:effectLst/>
      </p:bgPr>
    </p:bg>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30303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t>What is </a:t>
            </a:r>
            <a:r>
              <a:rPr lang="en-US" sz="3600" dirty="0">
                <a:solidFill>
                  <a:srgbClr val="FF3399"/>
                </a:solidFill>
              </a:rPr>
              <a:t>MoveIt Grasps</a:t>
            </a:r>
            <a:r>
              <a:rPr lang="en-US" sz="3600" dirty="0"/>
              <a:t>? </a:t>
            </a:r>
            <a:endParaRPr lang="en-US" sz="3600" dirty="0">
              <a:solidFill>
                <a:srgbClr val="FF3399"/>
              </a:solidFill>
            </a:endParaRPr>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8208" y="1216309"/>
            <a:ext cx="6791325" cy="5057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9FA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6991" y="150779"/>
            <a:ext cx="11308283" cy="553998"/>
          </a:xfrm>
        </p:spPr>
        <p:txBody>
          <a:bodyPr/>
          <a:lstStyle/>
          <a:p>
            <a:r>
              <a:rPr lang="en-US" sz="3600" dirty="0">
                <a:solidFill>
                  <a:schemeClr val="tx1"/>
                </a:solidFill>
              </a:rPr>
              <a:t>RViz vs MoveIt</a:t>
            </a:r>
            <a:endParaRPr lang="en-US" sz="3600" dirty="0">
              <a:solidFill>
                <a:schemeClr val="tx1"/>
              </a:solidFill>
            </a:endParaRPr>
          </a:p>
        </p:txBody>
      </p:sp>
      <p:graphicFrame>
        <p:nvGraphicFramePr>
          <p:cNvPr id="3" name="Table 2"/>
          <p:cNvGraphicFramePr>
            <a:graphicFrameLocks noGrp="1"/>
          </p:cNvGraphicFramePr>
          <p:nvPr/>
        </p:nvGraphicFramePr>
        <p:xfrm>
          <a:off x="416990" y="835603"/>
          <a:ext cx="11308283" cy="5648078"/>
        </p:xfrm>
        <a:graphic>
          <a:graphicData uri="http://schemas.openxmlformats.org/drawingml/2006/table">
            <a:tbl>
              <a:tblPr firstRow="1" bandRow="1">
                <a:tableStyleId>{93296810-A885-4BE3-A3E7-6D5BEEA58F35}</a:tableStyleId>
              </a:tblPr>
              <a:tblGrid>
                <a:gridCol w="5801867"/>
                <a:gridCol w="5506416"/>
              </a:tblGrid>
              <a:tr h="542558">
                <a:tc>
                  <a:txBody>
                    <a:bodyPr/>
                    <a:lstStyle/>
                    <a:p>
                      <a:pPr algn="ctr"/>
                      <a:r>
                        <a:rPr lang="en-US" sz="1600" b="1" dirty="0"/>
                        <a:t>RViz</a:t>
                      </a:r>
                      <a:endParaRPr lang="en-US" sz="1600" dirty="0"/>
                    </a:p>
                  </a:txBody>
                  <a:tcPr marL="57447" marR="57447" marT="28723" marB="28723" anchor="ctr"/>
                </a:tc>
                <a:tc>
                  <a:txBody>
                    <a:bodyPr/>
                    <a:lstStyle/>
                    <a:p>
                      <a:pPr algn="ctr"/>
                      <a:r>
                        <a:rPr lang="en-US" sz="1600" b="1"/>
                        <a:t>MoveIt</a:t>
                      </a:r>
                      <a:endParaRPr lang="en-US" sz="1600"/>
                    </a:p>
                  </a:txBody>
                  <a:tcPr marL="57447" marR="57447" marT="28723" marB="28723" anchor="ctr"/>
                </a:tc>
              </a:tr>
              <a:tr h="729360">
                <a:tc>
                  <a:txBody>
                    <a:bodyPr/>
                    <a:lstStyle/>
                    <a:p>
                      <a:pPr algn="ctr"/>
                      <a:r>
                        <a:rPr lang="en-US" sz="1600"/>
                        <a:t>A 3D </a:t>
                      </a:r>
                      <a:r>
                        <a:rPr lang="en-US" sz="1600" b="1"/>
                        <a:t>visualization tool</a:t>
                      </a:r>
                      <a:r>
                        <a:rPr lang="en-US" sz="1600"/>
                        <a:t> in ROS</a:t>
                      </a:r>
                      <a:endParaRPr lang="en-US" sz="1600"/>
                    </a:p>
                  </a:txBody>
                  <a:tcPr marL="57447" marR="57447" marT="28723" marB="28723" anchor="ctr"/>
                </a:tc>
                <a:tc>
                  <a:txBody>
                    <a:bodyPr/>
                    <a:lstStyle/>
                    <a:p>
                      <a:pPr algn="ctr"/>
                      <a:r>
                        <a:rPr lang="en-US" sz="1600"/>
                        <a:t>A </a:t>
                      </a:r>
                      <a:r>
                        <a:rPr lang="en-US" sz="1600" b="1"/>
                        <a:t>motion planning and manipulation framework</a:t>
                      </a:r>
                      <a:endParaRPr lang="en-US" sz="1600"/>
                    </a:p>
                  </a:txBody>
                  <a:tcPr marL="57447" marR="57447" marT="28723" marB="28723" anchor="ctr"/>
                </a:tc>
              </a:tr>
              <a:tr h="729360">
                <a:tc>
                  <a:txBody>
                    <a:bodyPr/>
                    <a:lstStyle/>
                    <a:p>
                      <a:pPr algn="ctr"/>
                      <a:r>
                        <a:rPr lang="en-US" sz="1600" dirty="0"/>
                        <a:t>Shows the robot, sensors, maps, and trajectories</a:t>
                      </a:r>
                      <a:endParaRPr lang="en-US" sz="1600" dirty="0"/>
                    </a:p>
                  </a:txBody>
                  <a:tcPr marL="57447" marR="57447" marT="28723" marB="28723" anchor="ctr"/>
                </a:tc>
                <a:tc>
                  <a:txBody>
                    <a:bodyPr/>
                    <a:lstStyle/>
                    <a:p>
                      <a:pPr algn="ctr"/>
                      <a:r>
                        <a:rPr lang="en-US" sz="1600"/>
                        <a:t>Computes collision-free paths and robot motions</a:t>
                      </a:r>
                      <a:endParaRPr lang="en-US" sz="1600"/>
                    </a:p>
                  </a:txBody>
                  <a:tcPr marL="57447" marR="57447" marT="28723" marB="28723" anchor="ctr"/>
                </a:tc>
              </a:tr>
              <a:tr h="729360">
                <a:tc>
                  <a:txBody>
                    <a:bodyPr/>
                    <a:lstStyle/>
                    <a:p>
                      <a:pPr algn="ctr"/>
                      <a:r>
                        <a:rPr lang="en-US" sz="1600"/>
                        <a:t>Used to </a:t>
                      </a:r>
                      <a:r>
                        <a:rPr lang="en-US" sz="1600" b="1"/>
                        <a:t>view</a:t>
                      </a:r>
                      <a:r>
                        <a:rPr lang="en-US" sz="1600"/>
                        <a:t> what the robot is doing</a:t>
                      </a:r>
                      <a:endParaRPr lang="en-US" sz="1600"/>
                    </a:p>
                  </a:txBody>
                  <a:tcPr marL="57447" marR="57447" marT="28723" marB="28723" anchor="ctr"/>
                </a:tc>
                <a:tc>
                  <a:txBody>
                    <a:bodyPr/>
                    <a:lstStyle/>
                    <a:p>
                      <a:pPr algn="ctr"/>
                      <a:r>
                        <a:rPr lang="en-US" sz="1600"/>
                        <a:t>Used to </a:t>
                      </a:r>
                      <a:r>
                        <a:rPr lang="en-US" sz="1600" b="1"/>
                        <a:t>plan</a:t>
                      </a:r>
                      <a:r>
                        <a:rPr lang="en-US" sz="1600"/>
                        <a:t> how the robot should move</a:t>
                      </a:r>
                      <a:endParaRPr lang="en-US" sz="1600"/>
                    </a:p>
                  </a:txBody>
                  <a:tcPr marL="57447" marR="57447" marT="28723" marB="28723" anchor="ctr"/>
                </a:tc>
              </a:tr>
              <a:tr h="729360">
                <a:tc>
                  <a:txBody>
                    <a:bodyPr/>
                    <a:lstStyle/>
                    <a:p>
                      <a:pPr algn="ctr"/>
                      <a:r>
                        <a:rPr lang="en-US" sz="1600"/>
                        <a:t>Cannot generate motion plans</a:t>
                      </a:r>
                      <a:endParaRPr lang="en-US" sz="1600"/>
                    </a:p>
                  </a:txBody>
                  <a:tcPr marL="57447" marR="57447" marT="28723" marB="28723" anchor="ctr"/>
                </a:tc>
                <a:tc>
                  <a:txBody>
                    <a:bodyPr/>
                    <a:lstStyle/>
                    <a:p>
                      <a:pPr algn="ctr"/>
                      <a:r>
                        <a:rPr lang="en-US" sz="1600"/>
                        <a:t>Generates motion plans using IK, planners, and controllers</a:t>
                      </a:r>
                      <a:endParaRPr lang="en-US" sz="1600"/>
                    </a:p>
                  </a:txBody>
                  <a:tcPr marL="57447" marR="57447" marT="28723" marB="28723" anchor="ctr"/>
                </a:tc>
              </a:tr>
              <a:tr h="729360">
                <a:tc>
                  <a:txBody>
                    <a:bodyPr/>
                    <a:lstStyle/>
                    <a:p>
                      <a:pPr algn="ctr"/>
                      <a:r>
                        <a:rPr lang="en-US" sz="1600"/>
                        <a:t>Helps users interact with and inspect the robot visually</a:t>
                      </a:r>
                      <a:endParaRPr lang="en-US" sz="1600"/>
                    </a:p>
                  </a:txBody>
                  <a:tcPr marL="57447" marR="57447" marT="28723" marB="28723" anchor="ctr"/>
                </a:tc>
                <a:tc>
                  <a:txBody>
                    <a:bodyPr/>
                    <a:lstStyle/>
                    <a:p>
                      <a:pPr algn="ctr"/>
                      <a:r>
                        <a:rPr lang="en-US" sz="1600"/>
                        <a:t>Helps robots perform tasks like grasping, picking, placing, and trajectory execution</a:t>
                      </a:r>
                      <a:endParaRPr lang="en-US" sz="1600"/>
                    </a:p>
                  </a:txBody>
                  <a:tcPr marL="57447" marR="57447" marT="28723" marB="28723" anchor="ctr"/>
                </a:tc>
              </a:tr>
              <a:tr h="729360">
                <a:tc>
                  <a:txBody>
                    <a:bodyPr/>
                    <a:lstStyle/>
                    <a:p>
                      <a:pPr algn="ctr"/>
                      <a:r>
                        <a:rPr lang="en-US" sz="1600"/>
                        <a:t>Mainly for simulation and debugging</a:t>
                      </a:r>
                      <a:endParaRPr lang="en-US" sz="1600"/>
                    </a:p>
                  </a:txBody>
                  <a:tcPr marL="57447" marR="57447" marT="28723" marB="28723" anchor="ctr"/>
                </a:tc>
                <a:tc>
                  <a:txBody>
                    <a:bodyPr/>
                    <a:lstStyle/>
                    <a:p>
                      <a:pPr algn="ctr"/>
                      <a:r>
                        <a:rPr lang="en-US" sz="1600"/>
                        <a:t>Used for both simulation </a:t>
                      </a:r>
                      <a:r>
                        <a:rPr lang="en-US" sz="1600" b="1"/>
                        <a:t>and real robot execution</a:t>
                      </a:r>
                      <a:endParaRPr lang="en-US" sz="1600"/>
                    </a:p>
                  </a:txBody>
                  <a:tcPr marL="57447" marR="57447" marT="28723" marB="28723" anchor="ctr"/>
                </a:tc>
              </a:tr>
              <a:tr h="729360">
                <a:tc>
                  <a:txBody>
                    <a:bodyPr/>
                    <a:lstStyle/>
                    <a:p>
                      <a:pPr algn="ctr"/>
                      <a:r>
                        <a:rPr lang="en-US" sz="1600"/>
                        <a:t>Displays results from MoveIt</a:t>
                      </a:r>
                      <a:endParaRPr lang="en-US" sz="1600"/>
                    </a:p>
                  </a:txBody>
                  <a:tcPr marL="57447" marR="57447" marT="28723" marB="28723" anchor="ctr"/>
                </a:tc>
                <a:tc>
                  <a:txBody>
                    <a:bodyPr/>
                    <a:lstStyle/>
                    <a:p>
                      <a:pPr algn="ctr"/>
                      <a:r>
                        <a:rPr lang="en-US" sz="1600" dirty="0"/>
                        <a:t>Sends planned motions </a:t>
                      </a:r>
                      <a:r>
                        <a:rPr lang="en-US" sz="1600" b="1" dirty="0"/>
                        <a:t>to RViz</a:t>
                      </a:r>
                      <a:r>
                        <a:rPr lang="en-US" sz="1600" dirty="0"/>
                        <a:t> for display</a:t>
                      </a:r>
                      <a:endParaRPr lang="en-US" sz="1600" dirty="0"/>
                    </a:p>
                  </a:txBody>
                  <a:tcPr marL="57447" marR="57447" marT="28723" marB="28723" anchor="ctr"/>
                </a:tc>
              </a:tr>
            </a:tbl>
          </a:graphicData>
        </a:graphic>
      </p:graphicFrame>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9FA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6991" y="150779"/>
            <a:ext cx="11308283" cy="553998"/>
          </a:xfrm>
        </p:spPr>
        <p:txBody>
          <a:bodyPr/>
          <a:lstStyle/>
          <a:p>
            <a:r>
              <a:rPr lang="en-US" sz="3600" dirty="0">
                <a:solidFill>
                  <a:schemeClr val="tx1"/>
                </a:solidFill>
              </a:rPr>
              <a:t>MoveIt vs ROS 2</a:t>
            </a:r>
            <a:endParaRPr lang="en-US" sz="3600" dirty="0">
              <a:solidFill>
                <a:schemeClr val="tx1"/>
              </a:solidFill>
            </a:endParaRPr>
          </a:p>
        </p:txBody>
      </p:sp>
      <p:graphicFrame>
        <p:nvGraphicFramePr>
          <p:cNvPr id="3" name="Table 2"/>
          <p:cNvGraphicFramePr>
            <a:graphicFrameLocks noGrp="1"/>
          </p:cNvGraphicFramePr>
          <p:nvPr/>
        </p:nvGraphicFramePr>
        <p:xfrm>
          <a:off x="416990" y="835603"/>
          <a:ext cx="11308283" cy="5648078"/>
        </p:xfrm>
        <a:graphic>
          <a:graphicData uri="http://schemas.openxmlformats.org/drawingml/2006/table">
            <a:tbl>
              <a:tblPr firstRow="1" bandRow="1">
                <a:tableStyleId>{93296810-A885-4BE3-A3E7-6D5BEEA58F35}</a:tableStyleId>
              </a:tblPr>
              <a:tblGrid>
                <a:gridCol w="5801867"/>
                <a:gridCol w="5506416"/>
              </a:tblGrid>
              <a:tr h="542558">
                <a:tc>
                  <a:txBody>
                    <a:bodyPr/>
                    <a:lstStyle/>
                    <a:p>
                      <a:pPr algn="ctr"/>
                      <a:r>
                        <a:rPr lang="en-US" sz="1600" b="1"/>
                        <a:t>MoveIt</a:t>
                      </a:r>
                      <a:endParaRPr lang="en-US" sz="1600"/>
                    </a:p>
                  </a:txBody>
                  <a:tcPr marL="43703" marR="43703" marT="21852" marB="21852" anchor="ctr"/>
                </a:tc>
                <a:tc>
                  <a:txBody>
                    <a:bodyPr/>
                    <a:lstStyle/>
                    <a:p>
                      <a:pPr algn="ctr"/>
                      <a:r>
                        <a:rPr lang="en-US" sz="1600" b="1"/>
                        <a:t>ROS 2</a:t>
                      </a:r>
                      <a:endParaRPr lang="en-US" sz="1600"/>
                    </a:p>
                  </a:txBody>
                  <a:tcPr marL="43703" marR="43703" marT="21852" marB="21852" anchor="ctr"/>
                </a:tc>
              </a:tr>
              <a:tr h="729360">
                <a:tc>
                  <a:txBody>
                    <a:bodyPr/>
                    <a:lstStyle/>
                    <a:p>
                      <a:pPr algn="ctr"/>
                      <a:r>
                        <a:rPr lang="en-US" sz="1600"/>
                        <a:t>A </a:t>
                      </a:r>
                      <a:r>
                        <a:rPr lang="en-US" sz="1600" b="1"/>
                        <a:t>motion planning and manipulation framework</a:t>
                      </a:r>
                      <a:endParaRPr lang="en-US" sz="1600"/>
                    </a:p>
                  </a:txBody>
                  <a:tcPr marL="43703" marR="43703" marT="21852" marB="21852" anchor="ctr"/>
                </a:tc>
                <a:tc>
                  <a:txBody>
                    <a:bodyPr/>
                    <a:lstStyle/>
                    <a:p>
                      <a:pPr algn="ctr"/>
                      <a:r>
                        <a:rPr lang="en-US" sz="1600"/>
                        <a:t>A </a:t>
                      </a:r>
                      <a:r>
                        <a:rPr lang="en-US" sz="1600" b="1"/>
                        <a:t>robot operating system</a:t>
                      </a:r>
                      <a:r>
                        <a:rPr lang="en-US" sz="1600"/>
                        <a:t> (middleware layer)</a:t>
                      </a:r>
                      <a:endParaRPr lang="en-US" sz="1600"/>
                    </a:p>
                  </a:txBody>
                  <a:tcPr marL="43703" marR="43703" marT="21852" marB="21852" anchor="ctr"/>
                </a:tc>
              </a:tr>
              <a:tr h="729360">
                <a:tc>
                  <a:txBody>
                    <a:bodyPr/>
                    <a:lstStyle/>
                    <a:p>
                      <a:pPr algn="ctr"/>
                      <a:r>
                        <a:rPr lang="en-US" sz="1600"/>
                        <a:t>Handles tasks like IK, collision checking, trajectory planning, and manipulation</a:t>
                      </a:r>
                      <a:endParaRPr lang="en-US" sz="1600"/>
                    </a:p>
                  </a:txBody>
                  <a:tcPr marL="43703" marR="43703" marT="21852" marB="21852" anchor="ctr"/>
                </a:tc>
                <a:tc>
                  <a:txBody>
                    <a:bodyPr/>
                    <a:lstStyle/>
                    <a:p>
                      <a:pPr algn="ctr"/>
                      <a:r>
                        <a:rPr lang="en-US" sz="1600"/>
                        <a:t>Handles communication between nodes (topics, services, actions)</a:t>
                      </a:r>
                      <a:endParaRPr lang="en-US" sz="1600"/>
                    </a:p>
                  </a:txBody>
                  <a:tcPr marL="43703" marR="43703" marT="21852" marB="21852" anchor="ctr"/>
                </a:tc>
              </a:tr>
              <a:tr h="729360">
                <a:tc>
                  <a:txBody>
                    <a:bodyPr/>
                    <a:lstStyle/>
                    <a:p>
                      <a:pPr algn="ctr"/>
                      <a:r>
                        <a:rPr lang="en-US" sz="1600"/>
                        <a:t>Provides high-level robotics capabilities</a:t>
                      </a:r>
                      <a:endParaRPr lang="en-US" sz="1600"/>
                    </a:p>
                  </a:txBody>
                  <a:tcPr marL="43703" marR="43703" marT="21852" marB="21852" anchor="ctr"/>
                </a:tc>
                <a:tc>
                  <a:txBody>
                    <a:bodyPr/>
                    <a:lstStyle/>
                    <a:p>
                      <a:pPr algn="ctr"/>
                      <a:r>
                        <a:rPr lang="en-US" sz="1600"/>
                        <a:t>Provides the foundational tools robots need to run (DDS, nodes, QoS)</a:t>
                      </a:r>
                      <a:endParaRPr lang="en-US" sz="1600"/>
                    </a:p>
                  </a:txBody>
                  <a:tcPr marL="43703" marR="43703" marT="21852" marB="21852" anchor="ctr"/>
                </a:tc>
              </a:tr>
              <a:tr h="729360">
                <a:tc>
                  <a:txBody>
                    <a:bodyPr/>
                    <a:lstStyle/>
                    <a:p>
                      <a:pPr algn="ctr"/>
                      <a:r>
                        <a:rPr lang="en-US" sz="1600"/>
                        <a:t>Works on top of ROS 2</a:t>
                      </a:r>
                      <a:endParaRPr lang="en-US" sz="1600"/>
                    </a:p>
                  </a:txBody>
                  <a:tcPr marL="43703" marR="43703" marT="21852" marB="21852" anchor="ctr"/>
                </a:tc>
                <a:tc>
                  <a:txBody>
                    <a:bodyPr/>
                    <a:lstStyle/>
                    <a:p>
                      <a:pPr algn="ctr"/>
                      <a:r>
                        <a:rPr lang="en-US" sz="1600"/>
                        <a:t>MoveIt depends on ROS 2 to communicate and operate</a:t>
                      </a:r>
                      <a:endParaRPr lang="en-US" sz="1600"/>
                    </a:p>
                  </a:txBody>
                  <a:tcPr marL="43703" marR="43703" marT="21852" marB="21852" anchor="ctr"/>
                </a:tc>
              </a:tr>
              <a:tr h="729360">
                <a:tc>
                  <a:txBody>
                    <a:bodyPr/>
                    <a:lstStyle/>
                    <a:p>
                      <a:pPr algn="ctr"/>
                      <a:r>
                        <a:rPr lang="en-US" sz="1600"/>
                        <a:t>Focused on arm robots, pick-and-place, and planning</a:t>
                      </a:r>
                      <a:endParaRPr lang="en-US" sz="1600"/>
                    </a:p>
                  </a:txBody>
                  <a:tcPr marL="43703" marR="43703" marT="21852" marB="21852" anchor="ctr"/>
                </a:tc>
                <a:tc>
                  <a:txBody>
                    <a:bodyPr/>
                    <a:lstStyle/>
                    <a:p>
                      <a:pPr algn="ctr"/>
                      <a:r>
                        <a:rPr lang="en-US" sz="1600"/>
                        <a:t>Supports all types of robots: arms, drones, mobile robots, sensors, etc.</a:t>
                      </a:r>
                      <a:endParaRPr lang="en-US" sz="1600"/>
                    </a:p>
                  </a:txBody>
                  <a:tcPr marL="43703" marR="43703" marT="21852" marB="21852" anchor="ctr"/>
                </a:tc>
              </a:tr>
              <a:tr h="729360">
                <a:tc>
                  <a:txBody>
                    <a:bodyPr/>
                    <a:lstStyle/>
                    <a:p>
                      <a:pPr algn="ctr"/>
                      <a:r>
                        <a:rPr lang="en-US" sz="1600"/>
                        <a:t>Includes planners, kinematics solvers, and perception integration</a:t>
                      </a:r>
                      <a:endParaRPr lang="en-US" sz="1600"/>
                    </a:p>
                  </a:txBody>
                  <a:tcPr marL="43703" marR="43703" marT="21852" marB="21852" anchor="ctr"/>
                </a:tc>
                <a:tc>
                  <a:txBody>
                    <a:bodyPr/>
                    <a:lstStyle/>
                    <a:p>
                      <a:pPr algn="ctr"/>
                      <a:r>
                        <a:rPr lang="en-US" sz="1600"/>
                        <a:t>Includes communication, package management, execution, and real-time support</a:t>
                      </a:r>
                      <a:endParaRPr lang="en-US" sz="1600"/>
                    </a:p>
                  </a:txBody>
                  <a:tcPr marL="43703" marR="43703" marT="21852" marB="21852" anchor="ctr"/>
                </a:tc>
              </a:tr>
              <a:tr h="729360">
                <a:tc>
                  <a:txBody>
                    <a:bodyPr/>
                    <a:lstStyle/>
                    <a:p>
                      <a:pPr algn="ctr"/>
                      <a:r>
                        <a:rPr lang="en-US" sz="1600"/>
                        <a:t>Helps robots decide </a:t>
                      </a:r>
                      <a:r>
                        <a:rPr lang="en-US" sz="1600" b="1"/>
                        <a:t>how to move</a:t>
                      </a:r>
                      <a:endParaRPr lang="en-US" sz="1600"/>
                    </a:p>
                  </a:txBody>
                  <a:tcPr marL="43703" marR="43703" marT="21852" marB="21852" anchor="ctr"/>
                </a:tc>
                <a:tc>
                  <a:txBody>
                    <a:bodyPr/>
                    <a:lstStyle/>
                    <a:p>
                      <a:pPr algn="ctr"/>
                      <a:r>
                        <a:rPr lang="en-US" sz="1600" dirty="0"/>
                        <a:t>Helps robotics software components </a:t>
                      </a:r>
                      <a:r>
                        <a:rPr lang="en-US" sz="1600" b="1" dirty="0"/>
                        <a:t>talk to each other</a:t>
                      </a:r>
                      <a:endParaRPr lang="en-US" sz="1600" dirty="0"/>
                    </a:p>
                  </a:txBody>
                  <a:tcPr marL="43703" marR="43703" marT="21852" marB="21852" anchor="ctr"/>
                </a:tc>
              </a:tr>
            </a:tbl>
          </a:graphicData>
        </a:graphic>
      </p:graphicFrame>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2181046"/>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1. Real-time capability</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2 uses DDS, which supports real-time communication.</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This lets MoveIt perform faster and more predictable motion planning, especially in dynamic environments.</a:t>
            </a:r>
            <a:endParaRPr lang="en-US" sz="2400" dirty="0">
              <a:solidFill>
                <a:schemeClr val="bg1"/>
              </a:solidFill>
            </a:endParaRPr>
          </a:p>
        </p:txBody>
      </p:sp>
      <p:sp>
        <p:nvSpPr>
          <p:cNvPr id="7" name="TextBox 6"/>
          <p:cNvSpPr txBox="1"/>
          <p:nvPr/>
        </p:nvSpPr>
        <p:spPr>
          <a:xfrm>
            <a:off x="376015" y="3394686"/>
            <a:ext cx="11390238"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2. Better performance and responsiveness</a:t>
            </a:r>
            <a:endParaRPr lang="en-US" sz="2400" dirty="0">
              <a:solidFill>
                <a:srgbClr val="FFC000"/>
              </a:solidFill>
            </a:endParaRPr>
          </a:p>
          <a:p>
            <a:pPr marL="1257300" lvl="2" indent="-342900">
              <a:lnSpc>
                <a:spcPct val="120000"/>
              </a:lnSpc>
              <a:spcAft>
                <a:spcPts val="600"/>
              </a:spcAft>
              <a:buSzPct val="60000"/>
              <a:buBlip>
                <a:blip r:embed="rId1"/>
              </a:buBlip>
            </a:pPr>
            <a:r>
              <a:rPr lang="en-US" sz="2400" dirty="0">
                <a:solidFill>
                  <a:schemeClr val="bg1"/>
                </a:solidFill>
              </a:rPr>
              <a:t>MoveIt on ROS 2 benefits from:</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Lower latency</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Multi-threading</a:t>
            </a:r>
            <a:endParaRPr lang="en-US" sz="2400" dirty="0">
              <a:solidFill>
                <a:schemeClr val="bg1"/>
              </a:solidFill>
            </a:endParaRPr>
          </a:p>
          <a:p>
            <a:pPr marL="1257300" lvl="2" indent="-342900">
              <a:lnSpc>
                <a:spcPct val="120000"/>
              </a:lnSpc>
              <a:spcAft>
                <a:spcPts val="600"/>
              </a:spcAft>
              <a:buSzPct val="60000"/>
              <a:buBlip>
                <a:blip r:embed="rId1"/>
              </a:buBlip>
            </a:pPr>
            <a:r>
              <a:rPr lang="en-US" sz="2400" dirty="0">
                <a:solidFill>
                  <a:schemeClr val="bg1"/>
                </a:solidFill>
              </a:rPr>
              <a:t>Improved scheduling</a:t>
            </a:r>
            <a:endParaRPr lang="en-US" sz="2400" dirty="0">
              <a:solidFill>
                <a:schemeClr val="bg1"/>
              </a:solidFill>
            </a:endParaRPr>
          </a:p>
          <a:p>
            <a:pPr lvl="1">
              <a:lnSpc>
                <a:spcPct val="120000"/>
              </a:lnSpc>
              <a:spcAft>
                <a:spcPts val="600"/>
              </a:spcAft>
              <a:buSzPct val="60000"/>
            </a:pPr>
            <a:r>
              <a:rPr lang="en-US" sz="2400" dirty="0">
                <a:solidFill>
                  <a:schemeClr val="bg1"/>
                </a:solidFill>
              </a:rPr>
              <a:t>This means smoother and more responsive robot motions.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3. Safer and more reliable robot operation</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2 provides: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Stronger QoS (Quality of Service)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Reliable message delivery</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Safer node communication</a:t>
            </a:r>
            <a:endParaRPr lang="en-US" sz="2400" dirty="0">
              <a:solidFill>
                <a:schemeClr val="bg1"/>
              </a:solidFill>
            </a:endParaRPr>
          </a:p>
          <a:p>
            <a:pPr lvl="1">
              <a:lnSpc>
                <a:spcPct val="120000"/>
              </a:lnSpc>
              <a:spcAft>
                <a:spcPts val="600"/>
              </a:spcAft>
              <a:buSzPct val="60000"/>
            </a:pPr>
            <a:r>
              <a:rPr lang="en-US" sz="2400" dirty="0">
                <a:solidFill>
                  <a:schemeClr val="bg1"/>
                </a:solidFill>
              </a:rPr>
              <a:t>This makes MoveIt more robust for industrial and commercial robots.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741473"/>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4. Modern software design</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2 brings: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Node lifecycle management</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Components/composable nodes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Cleaner APIs</a:t>
            </a:r>
            <a:endParaRPr lang="en-US" sz="2400" dirty="0">
              <a:solidFill>
                <a:schemeClr val="bg1"/>
              </a:solidFill>
            </a:endParaRPr>
          </a:p>
          <a:p>
            <a:pPr lvl="1">
              <a:lnSpc>
                <a:spcPct val="120000"/>
              </a:lnSpc>
              <a:spcAft>
                <a:spcPts val="600"/>
              </a:spcAft>
              <a:buSzPct val="60000"/>
            </a:pPr>
            <a:r>
              <a:rPr lang="en-US" sz="2400" dirty="0">
                <a:solidFill>
                  <a:schemeClr val="bg1"/>
                </a:solidFill>
              </a:rPr>
              <a:t>This allows MoveIt to be modular, scalable, and easier to integrate into complex robotic systems.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818418"/>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5. Improved multi-robot support</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2 handles multi-robot communication much better than ROS 1.</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MoveIt on ROS 2 can plan for:</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Multiple arms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Mobile manipulators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Coordinated robots</a:t>
            </a:r>
            <a:endParaRPr lang="en-US" sz="2400" dirty="0">
              <a:solidFill>
                <a:schemeClr val="bg1"/>
              </a:solidFill>
            </a:endParaRPr>
          </a:p>
          <a:p>
            <a:pPr lvl="1">
              <a:lnSpc>
                <a:spcPct val="120000"/>
              </a:lnSpc>
              <a:spcAft>
                <a:spcPts val="600"/>
              </a:spcAft>
              <a:buSzPct val="60000"/>
            </a:pPr>
            <a:r>
              <a:rPr lang="en-US" sz="2400" dirty="0">
                <a:solidFill>
                  <a:schemeClr val="bg1"/>
                </a:solidFill>
              </a:rPr>
              <a:t>more efficiently.</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741473"/>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6. Enhanced sensor integration</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2 improves data handling from:</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Cameras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Depth sensors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LiDAR3D perception systems</a:t>
            </a:r>
            <a:endParaRPr lang="en-US" sz="2400" dirty="0">
              <a:solidFill>
                <a:schemeClr val="bg1"/>
              </a:solidFill>
            </a:endParaRPr>
          </a:p>
          <a:p>
            <a:pPr lvl="1">
              <a:lnSpc>
                <a:spcPct val="120000"/>
              </a:lnSpc>
              <a:spcAft>
                <a:spcPts val="600"/>
              </a:spcAft>
              <a:buSzPct val="60000"/>
            </a:pPr>
            <a:r>
              <a:rPr lang="en-US" sz="2400" dirty="0">
                <a:solidFill>
                  <a:schemeClr val="bg1"/>
                </a:solidFill>
              </a:rPr>
              <a:t>MoveIt can therefore build more accurate planning scenes and adapt to changes quickly.</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7. Real-time obstacle avoidance and </a:t>
            </a:r>
            <a:r>
              <a:rPr lang="en-US" sz="2400" dirty="0" err="1">
                <a:solidFill>
                  <a:srgbClr val="FFC000"/>
                </a:solidFill>
              </a:rPr>
              <a:t>servoing</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1 is no longer being actively expanded.</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ROS 2 is the future of the ROS ecosystem, so MoveIt on ROS 2 ensures: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Long-term updates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Better compatibility</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Active community support</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8. Long-term support and future-proofing</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Features like MoveIt Servo run better on ROS 2, enabling:</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Real-time IK</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Reactive collision avoidance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Teleoperation</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Fine manipulation</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741473"/>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9. Commercial readiness</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2 + MoveIt powers many industrial products (e.g., MoveIt Pro).The combination is more suitable for:</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Factories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Warehouses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Field robotics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Commercial deployments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Advantages</a:t>
            </a:r>
            <a:r>
              <a:rPr lang="en-US" sz="3600" dirty="0"/>
              <a:t> of MoveIt with ROS 2</a:t>
            </a:r>
            <a:endParaRPr lang="en-US" sz="3600" dirty="0">
              <a:solidFill>
                <a:srgbClr val="FF3399"/>
              </a:solidFill>
            </a:endParaRPr>
          </a:p>
        </p:txBody>
      </p:sp>
      <p:sp>
        <p:nvSpPr>
          <p:cNvPr id="6" name="TextBox 5"/>
          <p:cNvSpPr txBox="1"/>
          <p:nvPr/>
        </p:nvSpPr>
        <p:spPr>
          <a:xfrm>
            <a:off x="400881" y="1154257"/>
            <a:ext cx="11390238" cy="3741473"/>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10. Better integration with modern hardware</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ROS 2 supports: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Real-time controllers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Modern middleware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High-speed networking</a:t>
            </a:r>
            <a:endParaRPr lang="en-US" sz="2400" dirty="0">
              <a:solidFill>
                <a:schemeClr val="bg1"/>
              </a:solidFill>
            </a:endParaRPr>
          </a:p>
          <a:p>
            <a:pPr lvl="1">
              <a:lnSpc>
                <a:spcPct val="120000"/>
              </a:lnSpc>
              <a:spcAft>
                <a:spcPts val="600"/>
              </a:spcAft>
              <a:buSzPct val="60000"/>
            </a:pPr>
            <a:r>
              <a:rPr lang="en-US" sz="2400" dirty="0">
                <a:solidFill>
                  <a:schemeClr val="bg1"/>
                </a:solidFill>
              </a:rPr>
              <a:t>MoveIt can thus interface with new robot arms and sensors much more effectively.</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Limitations</a:t>
            </a:r>
            <a:r>
              <a:rPr lang="en-US" sz="3600" dirty="0"/>
              <a:t> of MoveIt</a:t>
            </a:r>
            <a:endParaRPr lang="en-US" sz="3600" dirty="0">
              <a:solidFill>
                <a:srgbClr val="FF3399"/>
              </a:solidFill>
            </a:endParaRPr>
          </a:p>
        </p:txBody>
      </p:sp>
      <p:sp>
        <p:nvSpPr>
          <p:cNvPr id="6" name="TextBox 5"/>
          <p:cNvSpPr txBox="1"/>
          <p:nvPr/>
        </p:nvSpPr>
        <p:spPr>
          <a:xfrm>
            <a:off x="400880" y="1154257"/>
            <a:ext cx="11611447" cy="1737848"/>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1. Not fully real-time by itself</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MoveIt is mainly designed for high-level planning, not hard real-time control.</a:t>
            </a:r>
            <a:endParaRPr lang="en-US" sz="2400" dirty="0">
              <a:solidFill>
                <a:schemeClr val="bg1"/>
              </a:solidFill>
            </a:endParaRPr>
          </a:p>
          <a:p>
            <a:pPr marL="800100" lvl="1" indent="-342900">
              <a:lnSpc>
                <a:spcPct val="120000"/>
              </a:lnSpc>
              <a:spcAft>
                <a:spcPts val="600"/>
              </a:spcAft>
              <a:buSzPct val="60000"/>
              <a:buBlip>
                <a:blip r:embed="rId1"/>
              </a:buBlip>
            </a:pPr>
            <a:r>
              <a:rPr lang="en-US" sz="2400" dirty="0">
                <a:solidFill>
                  <a:schemeClr val="bg1"/>
                </a:solidFill>
              </a:rPr>
              <a:t>It cannot guarantee strict timing for every robot controller loop.</a:t>
            </a:r>
            <a:endParaRPr lang="en-US" sz="2400" dirty="0">
              <a:solidFill>
                <a:schemeClr val="bg1"/>
              </a:solidFill>
            </a:endParaRPr>
          </a:p>
        </p:txBody>
      </p:sp>
      <p:sp>
        <p:nvSpPr>
          <p:cNvPr id="2" name="TextBox 1"/>
          <p:cNvSpPr txBox="1"/>
          <p:nvPr/>
        </p:nvSpPr>
        <p:spPr>
          <a:xfrm>
            <a:off x="416993" y="2975809"/>
            <a:ext cx="11611447"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2. Computationally expensive for complex robots</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Planning for:</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high-DOF arms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mobile manipulators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Humanoids</a:t>
            </a:r>
            <a:endParaRPr lang="en-US" sz="2400" dirty="0">
              <a:solidFill>
                <a:schemeClr val="bg1"/>
              </a:solidFill>
            </a:endParaRPr>
          </a:p>
          <a:p>
            <a:pPr lvl="1">
              <a:lnSpc>
                <a:spcPct val="120000"/>
              </a:lnSpc>
              <a:spcAft>
                <a:spcPts val="600"/>
              </a:spcAft>
              <a:buSzPct val="60000"/>
            </a:pPr>
            <a:r>
              <a:rPr lang="en-US" sz="2400" dirty="0">
                <a:solidFill>
                  <a:schemeClr val="bg1"/>
                </a:solidFill>
              </a:rPr>
              <a:t>can be slow, especially in cluttered environments.</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Limitations</a:t>
            </a:r>
            <a:r>
              <a:rPr lang="en-US" sz="3600" dirty="0"/>
              <a:t> of MoveIt</a:t>
            </a:r>
            <a:endParaRPr lang="en-US" sz="3600" dirty="0">
              <a:solidFill>
                <a:srgbClr val="FF3399"/>
              </a:solidFill>
            </a:endParaRPr>
          </a:p>
        </p:txBody>
      </p:sp>
      <p:sp>
        <p:nvSpPr>
          <p:cNvPr id="6" name="TextBox 5"/>
          <p:cNvSpPr txBox="1"/>
          <p:nvPr/>
        </p:nvSpPr>
        <p:spPr>
          <a:xfrm>
            <a:off x="400880" y="1154257"/>
            <a:ext cx="11611447"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3. Depends on external libraries</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Performance and reliability depend on external components like: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OMPL</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FCL</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IK solvers</a:t>
            </a:r>
            <a:endParaRPr lang="en-US" sz="2400" dirty="0">
              <a:solidFill>
                <a:schemeClr val="bg1"/>
              </a:solidFill>
            </a:endParaRPr>
          </a:p>
          <a:p>
            <a:pPr lvl="1">
              <a:lnSpc>
                <a:spcPct val="120000"/>
              </a:lnSpc>
              <a:spcAft>
                <a:spcPts val="600"/>
              </a:spcAft>
              <a:buSzPct val="60000"/>
            </a:pPr>
            <a:r>
              <a:rPr lang="en-US" sz="2400" dirty="0">
                <a:solidFill>
                  <a:schemeClr val="bg1"/>
                </a:solidFill>
              </a:rPr>
              <a:t>If these struggle, MoveIt may struggle too.</a:t>
            </a:r>
            <a:endParaRPr lang="en-US" sz="2400" dirty="0">
              <a:solidFill>
                <a:schemeClr val="bg1"/>
              </a:solidFill>
            </a:endParaRPr>
          </a:p>
        </p:txBody>
      </p:sp>
      <p:sp>
        <p:nvSpPr>
          <p:cNvPr id="2" name="TextBox 1"/>
          <p:cNvSpPr txBox="1"/>
          <p:nvPr/>
        </p:nvSpPr>
        <p:spPr>
          <a:xfrm>
            <a:off x="416993" y="4452532"/>
            <a:ext cx="11611447" cy="1660904"/>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4. Limited support for dynamic obstacles</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MoveIt handles static scenes well, but moving obstacles or fast-changing environments can reduce planning reliability.</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Limitations</a:t>
            </a:r>
            <a:r>
              <a:rPr lang="en-US" sz="3600" dirty="0"/>
              <a:t> of MoveIt</a:t>
            </a:r>
            <a:endParaRPr lang="en-US" sz="3600" dirty="0">
              <a:solidFill>
                <a:srgbClr val="FF3399"/>
              </a:solidFill>
            </a:endParaRPr>
          </a:p>
        </p:txBody>
      </p:sp>
      <p:sp>
        <p:nvSpPr>
          <p:cNvPr id="6" name="TextBox 5"/>
          <p:cNvSpPr txBox="1"/>
          <p:nvPr/>
        </p:nvSpPr>
        <p:spPr>
          <a:xfrm>
            <a:off x="400880" y="1154257"/>
            <a:ext cx="11611447"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5. No built-in perception stack</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MoveIt can use sensor data but does not include: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image processing</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object detection</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grasp pose prediction</a:t>
            </a:r>
            <a:endParaRPr lang="en-US" sz="2400" dirty="0">
              <a:solidFill>
                <a:schemeClr val="bg1"/>
              </a:solidFill>
            </a:endParaRPr>
          </a:p>
          <a:p>
            <a:pPr lvl="1">
              <a:lnSpc>
                <a:spcPct val="120000"/>
              </a:lnSpc>
              <a:spcAft>
                <a:spcPts val="600"/>
              </a:spcAft>
              <a:buSzPct val="60000"/>
            </a:pPr>
            <a:r>
              <a:rPr lang="en-US" sz="2400" dirty="0">
                <a:solidFill>
                  <a:schemeClr val="bg1"/>
                </a:solidFill>
              </a:rPr>
              <a:t>These must be added separately.</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Limitations</a:t>
            </a:r>
            <a:r>
              <a:rPr lang="en-US" sz="3600" dirty="0"/>
              <a:t> of MoveIt</a:t>
            </a:r>
            <a:endParaRPr lang="en-US" sz="3600" dirty="0">
              <a:solidFill>
                <a:srgbClr val="FF3399"/>
              </a:solidFill>
            </a:endParaRPr>
          </a:p>
        </p:txBody>
      </p:sp>
      <p:sp>
        <p:nvSpPr>
          <p:cNvPr id="2" name="TextBox 1"/>
          <p:cNvSpPr txBox="1"/>
          <p:nvPr/>
        </p:nvSpPr>
        <p:spPr>
          <a:xfrm>
            <a:off x="493926" y="1326620"/>
            <a:ext cx="11611447"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6. IK solvers may fail in difficult configurations</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Default solvers (like KDL) may fail in:</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Singularities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joint limits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complex kinematic chains</a:t>
            </a:r>
            <a:endParaRPr lang="en-US" sz="2400" dirty="0">
              <a:solidFill>
                <a:schemeClr val="bg1"/>
              </a:solidFill>
            </a:endParaRPr>
          </a:p>
          <a:p>
            <a:pPr lvl="1">
              <a:lnSpc>
                <a:spcPct val="120000"/>
              </a:lnSpc>
              <a:spcAft>
                <a:spcPts val="600"/>
              </a:spcAft>
              <a:buSzPct val="60000"/>
            </a:pPr>
            <a:r>
              <a:rPr lang="en-US" sz="2400" dirty="0">
                <a:solidFill>
                  <a:schemeClr val="bg1"/>
                </a:solidFill>
              </a:rPr>
              <a:t>Alternative solvers (TracIK, </a:t>
            </a:r>
            <a:r>
              <a:rPr lang="en-US" sz="2400" dirty="0" err="1">
                <a:solidFill>
                  <a:schemeClr val="bg1"/>
                </a:solidFill>
              </a:rPr>
              <a:t>bio_ik</a:t>
            </a:r>
            <a:r>
              <a:rPr lang="en-US" sz="2400" dirty="0">
                <a:solidFill>
                  <a:schemeClr val="bg1"/>
                </a:solidFill>
              </a:rPr>
              <a:t>) help, but are not perfect.</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Limitations</a:t>
            </a:r>
            <a:r>
              <a:rPr lang="en-US" sz="3600" dirty="0"/>
              <a:t> of MoveIt</a:t>
            </a:r>
            <a:endParaRPr lang="en-US" sz="3600" dirty="0">
              <a:solidFill>
                <a:srgbClr val="FF3399"/>
              </a:solidFill>
            </a:endParaRPr>
          </a:p>
        </p:txBody>
      </p:sp>
      <p:sp>
        <p:nvSpPr>
          <p:cNvPr id="2" name="TextBox 1"/>
          <p:cNvSpPr txBox="1"/>
          <p:nvPr/>
        </p:nvSpPr>
        <p:spPr>
          <a:xfrm>
            <a:off x="290276" y="1137914"/>
            <a:ext cx="11611447" cy="3298275"/>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7. Smoothing and timing are not always optimal</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Generated trajectories might require: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extra smoothing</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re-timing</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post-processing</a:t>
            </a:r>
            <a:endParaRPr lang="en-US" sz="2400" dirty="0">
              <a:solidFill>
                <a:schemeClr val="bg1"/>
              </a:solidFill>
            </a:endParaRPr>
          </a:p>
          <a:p>
            <a:pPr lvl="1">
              <a:lnSpc>
                <a:spcPct val="120000"/>
              </a:lnSpc>
              <a:spcAft>
                <a:spcPts val="600"/>
              </a:spcAft>
              <a:buSzPct val="60000"/>
            </a:pPr>
            <a:r>
              <a:rPr lang="en-US" sz="2400" dirty="0">
                <a:solidFill>
                  <a:schemeClr val="bg1"/>
                </a:solidFill>
              </a:rPr>
              <a:t>to meet industrial motion quality.</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Limitations</a:t>
            </a:r>
            <a:r>
              <a:rPr lang="en-US" sz="3600" dirty="0"/>
              <a:t> of MoveIt</a:t>
            </a:r>
            <a:endParaRPr lang="en-US" sz="3600" dirty="0">
              <a:solidFill>
                <a:srgbClr val="FF3399"/>
              </a:solidFill>
            </a:endParaRPr>
          </a:p>
        </p:txBody>
      </p:sp>
      <p:sp>
        <p:nvSpPr>
          <p:cNvPr id="2" name="TextBox 1"/>
          <p:cNvSpPr txBox="1"/>
          <p:nvPr/>
        </p:nvSpPr>
        <p:spPr>
          <a:xfrm>
            <a:off x="290276" y="1137914"/>
            <a:ext cx="11611447" cy="3818418"/>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8. Hard for beginners to configure</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Creating a MoveIt configuration package involves many steps: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URDF</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SRDF</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Planning groups</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Controllers</a:t>
            </a:r>
            <a:endParaRPr lang="en-US" sz="2400" dirty="0">
              <a:solidFill>
                <a:schemeClr val="bg1"/>
              </a:solidFill>
            </a:endParaRPr>
          </a:p>
          <a:p>
            <a:pPr lvl="1">
              <a:lnSpc>
                <a:spcPct val="120000"/>
              </a:lnSpc>
              <a:spcAft>
                <a:spcPts val="600"/>
              </a:spcAft>
              <a:buSzPct val="60000"/>
            </a:pPr>
            <a:r>
              <a:rPr lang="en-US" sz="2400" dirty="0">
                <a:solidFill>
                  <a:schemeClr val="bg1"/>
                </a:solidFill>
              </a:rPr>
              <a:t>New users may find this overwhelming.</a:t>
            </a:r>
            <a:endParaRPr lang="en-US" sz="2400" dirty="0">
              <a:solidFill>
                <a:schemeClr val="bg1"/>
              </a:solidFill>
            </a:endParaRPr>
          </a:p>
        </p:txBody>
      </p:sp>
      <p:sp>
        <p:nvSpPr>
          <p:cNvPr id="4" name="TextBox 3"/>
          <p:cNvSpPr txBox="1"/>
          <p:nvPr/>
        </p:nvSpPr>
        <p:spPr>
          <a:xfrm>
            <a:off x="290276" y="4889634"/>
            <a:ext cx="11611447" cy="1660904"/>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9. Complex debugging</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Because MoveIt uses many plugins and layers, debugging failures (IK fail, controller fail, collision issues) can be difficult.</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77002" y="85069"/>
            <a:ext cx="3339966" cy="74270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itle 1"/>
          <p:cNvSpPr>
            <a:spLocks noGrp="1"/>
          </p:cNvSpPr>
          <p:nvPr>
            <p:ph type="title"/>
          </p:nvPr>
        </p:nvSpPr>
        <p:spPr>
          <a:xfrm>
            <a:off x="416993" y="583916"/>
            <a:ext cx="11308283" cy="553998"/>
          </a:xfrm>
        </p:spPr>
        <p:txBody>
          <a:bodyPr/>
          <a:lstStyle/>
          <a:p>
            <a:r>
              <a:rPr lang="en-US" sz="3600" dirty="0">
                <a:solidFill>
                  <a:srgbClr val="FF3399"/>
                </a:solidFill>
              </a:rPr>
              <a:t>Limitations</a:t>
            </a:r>
            <a:r>
              <a:rPr lang="en-US" sz="3600" dirty="0"/>
              <a:t> of MoveIt</a:t>
            </a:r>
            <a:endParaRPr lang="en-US" sz="3600" dirty="0">
              <a:solidFill>
                <a:srgbClr val="FF3399"/>
              </a:solidFill>
            </a:endParaRPr>
          </a:p>
        </p:txBody>
      </p:sp>
      <p:sp>
        <p:nvSpPr>
          <p:cNvPr id="2" name="TextBox 1"/>
          <p:cNvSpPr txBox="1"/>
          <p:nvPr/>
        </p:nvSpPr>
        <p:spPr>
          <a:xfrm>
            <a:off x="290276" y="1137914"/>
            <a:ext cx="11611447" cy="3741473"/>
          </a:xfrm>
          <a:prstGeom prst="rect">
            <a:avLst/>
          </a:prstGeom>
          <a:noFill/>
        </p:spPr>
        <p:txBody>
          <a:bodyPr wrap="square" lIns="182880" tIns="146304" rIns="182880" bIns="146304" rtlCol="0">
            <a:spAutoFit/>
          </a:bodyPr>
          <a:lstStyle/>
          <a:p>
            <a:pPr>
              <a:lnSpc>
                <a:spcPct val="120000"/>
              </a:lnSpc>
              <a:spcAft>
                <a:spcPts val="600"/>
              </a:spcAft>
              <a:buSzPct val="60000"/>
            </a:pPr>
            <a:r>
              <a:rPr lang="en-US" sz="2400" dirty="0">
                <a:solidFill>
                  <a:srgbClr val="FFC000"/>
                </a:solidFill>
              </a:rPr>
              <a:t>10. Not ideal for very fast, reactive tasks</a:t>
            </a:r>
            <a:endParaRPr lang="en-US" sz="2400" dirty="0">
              <a:solidFill>
                <a:srgbClr val="FFC000"/>
              </a:solidFill>
            </a:endParaRPr>
          </a:p>
          <a:p>
            <a:pPr marL="800100" lvl="1" indent="-342900">
              <a:lnSpc>
                <a:spcPct val="120000"/>
              </a:lnSpc>
              <a:spcAft>
                <a:spcPts val="600"/>
              </a:spcAft>
              <a:buSzPct val="60000"/>
              <a:buBlip>
                <a:blip r:embed="rId1"/>
              </a:buBlip>
            </a:pPr>
            <a:r>
              <a:rPr lang="en-US" sz="2400" dirty="0">
                <a:solidFill>
                  <a:schemeClr val="bg1"/>
                </a:solidFill>
              </a:rPr>
              <a:t>Tasks like: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high-speed pick-and-place</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real-time balancing</a:t>
            </a:r>
            <a:endParaRPr lang="en-US" sz="2400" dirty="0">
              <a:solidFill>
                <a:schemeClr val="bg1"/>
              </a:solidFill>
            </a:endParaRPr>
          </a:p>
          <a:p>
            <a:pPr marL="1714500" lvl="3" indent="-342900">
              <a:lnSpc>
                <a:spcPct val="120000"/>
              </a:lnSpc>
              <a:spcAft>
                <a:spcPts val="600"/>
              </a:spcAft>
              <a:buSzPct val="60000"/>
              <a:buBlip>
                <a:blip r:embed="rId1"/>
              </a:buBlip>
            </a:pPr>
            <a:r>
              <a:rPr lang="en-US" sz="2400" dirty="0">
                <a:solidFill>
                  <a:schemeClr val="bg1"/>
                </a:solidFill>
              </a:rPr>
              <a:t>dynamic manipulation</a:t>
            </a:r>
            <a:endParaRPr lang="en-US" sz="2400" dirty="0">
              <a:solidFill>
                <a:schemeClr val="bg1"/>
              </a:solidFill>
            </a:endParaRPr>
          </a:p>
          <a:p>
            <a:pPr lvl="1">
              <a:lnSpc>
                <a:spcPct val="120000"/>
              </a:lnSpc>
              <a:spcAft>
                <a:spcPts val="600"/>
              </a:spcAft>
              <a:buSzPct val="60000"/>
            </a:pPr>
            <a:r>
              <a:rPr lang="en-US" sz="2400" dirty="0">
                <a:solidFill>
                  <a:schemeClr val="bg1"/>
                </a:solidFill>
              </a:rPr>
              <a:t>may require specialized controllers or </a:t>
            </a:r>
            <a:r>
              <a:rPr lang="en-US" sz="2400" dirty="0" err="1">
                <a:solidFill>
                  <a:schemeClr val="bg1"/>
                </a:solidFill>
              </a:rPr>
              <a:t>servoing</a:t>
            </a:r>
            <a:r>
              <a:rPr lang="en-US" sz="2400" dirty="0">
                <a:solidFill>
                  <a:schemeClr val="bg1"/>
                </a:solidFill>
              </a:rPr>
              <a:t> systems beyond standard MoveIt planning.</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294" y="2876075"/>
            <a:ext cx="5984595" cy="942775"/>
          </a:xfrm>
        </p:spPr>
        <p:txBody>
          <a:bodyPr anchor="ctr">
            <a:noAutofit/>
          </a:bodyPr>
          <a:lstStyle/>
          <a:p>
            <a:pPr algn="r">
              <a:lnSpc>
                <a:spcPct val="90000"/>
              </a:lnSpc>
            </a:pPr>
            <a:r>
              <a:rPr lang="en-US" sz="8800" dirty="0">
                <a:solidFill>
                  <a:schemeClr val="bg1"/>
                </a:solidFill>
                <a:latin typeface="Segoe UI Light" panose="020B0502040204020203" pitchFamily="34" charset="0"/>
                <a:cs typeface="Segoe UI Light" panose="020B0502040204020203" pitchFamily="34" charset="0"/>
              </a:rPr>
              <a:t>Q &amp; A</a:t>
            </a:r>
            <a:endParaRPr lang="en-US" sz="8800" dirty="0">
              <a:solidFill>
                <a:schemeClr val="bg1"/>
              </a:solidFill>
              <a:latin typeface="Segoe UI Light" panose="020B0502040204020203" pitchFamily="34" charset="0"/>
              <a:cs typeface="Segoe UI Light" panose="020B0502040204020203" pitchFamily="34" charset="0"/>
            </a:endParaRPr>
          </a:p>
        </p:txBody>
      </p:sp>
      <p:sp>
        <p:nvSpPr>
          <p:cNvPr id="4" name="Oval 3"/>
          <p:cNvSpPr/>
          <p:nvPr/>
        </p:nvSpPr>
        <p:spPr>
          <a:xfrm>
            <a:off x="6959425" y="1910518"/>
            <a:ext cx="2735527" cy="27426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defRPr/>
            </a:pPr>
            <a:endParaRPr lang="en-US" sz="2400">
              <a:solidFill>
                <a:prstClr val="white"/>
              </a:solidFill>
              <a:latin typeface="Segoe UI" panose="020B0502040204020203"/>
            </a:endParaRPr>
          </a:p>
        </p:txBody>
      </p:sp>
      <p:sp>
        <p:nvSpPr>
          <p:cNvPr id="3" name="TextBox 2"/>
          <p:cNvSpPr txBox="1"/>
          <p:nvPr/>
        </p:nvSpPr>
        <p:spPr>
          <a:xfrm>
            <a:off x="7585822" y="1928588"/>
            <a:ext cx="1271033" cy="2656433"/>
          </a:xfrm>
          <a:prstGeom prst="rect">
            <a:avLst/>
          </a:prstGeom>
          <a:noFill/>
        </p:spPr>
        <p:txBody>
          <a:bodyPr wrap="square" rtlCol="0">
            <a:spAutoFit/>
          </a:bodyPr>
          <a:lstStyle/>
          <a:p>
            <a:pPr defTabSz="914400">
              <a:defRPr/>
            </a:pPr>
            <a:r>
              <a:rPr lang="en-CA" sz="16660" b="1" dirty="0">
                <a:solidFill>
                  <a:prstClr val="white">
                    <a:lumMod val="95000"/>
                  </a:prstClr>
                </a:solidFill>
                <a:latin typeface="Microsoft Sans Serif" panose="020B0604020202020204" pitchFamily="34" charset="0"/>
                <a:cs typeface="Microsoft Sans Serif" panose="020B0604020202020204" pitchFamily="34" charset="0"/>
              </a:rPr>
              <a:t>?</a:t>
            </a:r>
            <a:endParaRPr lang="en-CA" sz="16660" b="1" dirty="0">
              <a:solidFill>
                <a:prstClr val="white">
                  <a:lumMod val="95000"/>
                </a:prstClr>
              </a:solidFill>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2963086" y="1314283"/>
            <a:ext cx="6265829" cy="4229435"/>
          </a:xfrm>
          <a:custGeom>
            <a:avLst/>
            <a:gdLst/>
            <a:ahLst/>
            <a:cxnLst/>
            <a:rect l="l" t="t" r="r" b="b"/>
            <a:pathLst>
              <a:path w="9398744" h="6344152">
                <a:moveTo>
                  <a:pt x="0" y="0"/>
                </a:moveTo>
                <a:lnTo>
                  <a:pt x="9398744" y="0"/>
                </a:lnTo>
                <a:lnTo>
                  <a:pt x="9398744" y="6344152"/>
                </a:lnTo>
                <a:lnTo>
                  <a:pt x="0" y="6344152"/>
                </a:lnTo>
                <a:lnTo>
                  <a:pt x="0" y="0"/>
                </a:lnTo>
                <a:close/>
              </a:path>
            </a:pathLst>
          </a:custGeom>
          <a:blipFill>
            <a:blip r:embed="rId1"/>
            <a:stretch>
              <a:fillRect/>
            </a:stretch>
          </a:blipFill>
        </p:spPr>
        <p:txBody>
          <a:bodyPr/>
          <a:lstStyle/>
          <a:p>
            <a:endParaRPr lang="en-US"/>
          </a:p>
        </p:txBody>
      </p:sp>
      <p:sp>
        <p:nvSpPr>
          <p:cNvPr id="3" name="TextBox 3"/>
          <p:cNvSpPr txBox="1"/>
          <p:nvPr/>
        </p:nvSpPr>
        <p:spPr>
          <a:xfrm>
            <a:off x="4585333" y="2385496"/>
            <a:ext cx="3390267" cy="2231380"/>
          </a:xfrm>
          <a:prstGeom prst="rect">
            <a:avLst/>
          </a:prstGeom>
        </p:spPr>
        <p:txBody>
          <a:bodyPr wrap="square" lIns="0" tIns="0" rIns="0" bIns="0" rtlCol="0" anchor="t">
            <a:spAutoFit/>
          </a:bodyPr>
          <a:lstStyle/>
          <a:p>
            <a:pPr algn="ctr">
              <a:lnSpc>
                <a:spcPts val="8665"/>
              </a:lnSpc>
            </a:pPr>
            <a:r>
              <a:rPr lang="en-US" sz="8665" dirty="0">
                <a:solidFill>
                  <a:srgbClr val="000000"/>
                </a:solidFill>
                <a:latin typeface="TT Hoves"/>
                <a:ea typeface="TT Hoves"/>
                <a:cs typeface="TT Hoves"/>
                <a:sym typeface="TT Hoves"/>
              </a:rPr>
              <a:t>Thank</a:t>
            </a:r>
            <a:endParaRPr lang="en-US" sz="8665" dirty="0">
              <a:solidFill>
                <a:srgbClr val="000000"/>
              </a:solidFill>
              <a:latin typeface="TT Hoves"/>
              <a:ea typeface="TT Hoves"/>
              <a:cs typeface="TT Hoves"/>
              <a:sym typeface="TT Hoves"/>
            </a:endParaRPr>
          </a:p>
          <a:p>
            <a:pPr algn="ctr">
              <a:lnSpc>
                <a:spcPts val="8665"/>
              </a:lnSpc>
            </a:pPr>
            <a:r>
              <a:rPr lang="en-US" sz="8665" dirty="0">
                <a:solidFill>
                  <a:srgbClr val="000000"/>
                </a:solidFill>
                <a:latin typeface="TT Hoves"/>
                <a:ea typeface="TT Hoves"/>
                <a:cs typeface="TT Hoves"/>
                <a:sym typeface="TT Hoves"/>
              </a:rPr>
              <a:t>you!</a:t>
            </a:r>
            <a:endParaRPr lang="en-US" sz="8665" dirty="0">
              <a:solidFill>
                <a:srgbClr val="000000"/>
              </a:solidFill>
              <a:latin typeface="TT Hoves"/>
              <a:ea typeface="TT Hoves"/>
              <a:cs typeface="TT Hoves"/>
              <a:sym typeface="TT Hoves"/>
            </a:endParaRPr>
          </a:p>
        </p:txBody>
      </p:sp>
      <p:sp>
        <p:nvSpPr>
          <p:cNvPr id="5" name="AutoShape 5"/>
          <p:cNvSpPr/>
          <p:nvPr/>
        </p:nvSpPr>
        <p:spPr>
          <a:xfrm>
            <a:off x="0" y="0"/>
            <a:ext cx="12192000" cy="685800"/>
          </a:xfrm>
          <a:prstGeom prst="rect">
            <a:avLst/>
          </a:prstGeom>
          <a:solidFill>
            <a:srgbClr val="DBDBDB"/>
          </a:solidFill>
        </p:spPr>
        <p:txBody>
          <a:bodyPr/>
          <a:lstStyle/>
          <a:p>
            <a:endParaRPr lang="en-US" dirty="0"/>
          </a:p>
        </p:txBody>
      </p:sp>
      <p:grpSp>
        <p:nvGrpSpPr>
          <p:cNvPr id="6" name="Group 6"/>
          <p:cNvGrpSpPr/>
          <p:nvPr/>
        </p:nvGrpSpPr>
        <p:grpSpPr>
          <a:xfrm>
            <a:off x="353555" y="239392"/>
            <a:ext cx="207016" cy="20701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75B3F"/>
            </a:solidFill>
          </p:spPr>
        </p:sp>
      </p:grpSp>
      <p:grpSp>
        <p:nvGrpSpPr>
          <p:cNvPr id="8" name="Group 8"/>
          <p:cNvGrpSpPr/>
          <p:nvPr/>
        </p:nvGrpSpPr>
        <p:grpSpPr>
          <a:xfrm>
            <a:off x="682339" y="239392"/>
            <a:ext cx="207016" cy="207016"/>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C866"/>
            </a:solidFill>
          </p:spPr>
        </p:sp>
      </p:grpSp>
      <p:grpSp>
        <p:nvGrpSpPr>
          <p:cNvPr id="10" name="Group 10"/>
          <p:cNvGrpSpPr/>
          <p:nvPr/>
        </p:nvGrpSpPr>
        <p:grpSpPr>
          <a:xfrm>
            <a:off x="1018045" y="239392"/>
            <a:ext cx="207016" cy="207016"/>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2BB2F"/>
            </a:solidFill>
          </p:spPr>
        </p:sp>
      </p:grpSp>
      <p:grpSp>
        <p:nvGrpSpPr>
          <p:cNvPr id="12" name="Group 12"/>
          <p:cNvGrpSpPr/>
          <p:nvPr/>
        </p:nvGrpSpPr>
        <p:grpSpPr>
          <a:xfrm>
            <a:off x="1688682" y="278956"/>
            <a:ext cx="8228024" cy="166221"/>
            <a:chOff x="0" y="0"/>
            <a:chExt cx="61160206" cy="1235544"/>
          </a:xfrm>
        </p:grpSpPr>
        <p:sp>
          <p:nvSpPr>
            <p:cNvPr id="13" name="Freeform 13"/>
            <p:cNvSpPr/>
            <p:nvPr/>
          </p:nvSpPr>
          <p:spPr>
            <a:xfrm>
              <a:off x="0" y="0"/>
              <a:ext cx="61161476" cy="1235544"/>
            </a:xfrm>
            <a:custGeom>
              <a:avLst/>
              <a:gdLst/>
              <a:ahLst/>
              <a:cxnLst/>
              <a:rect l="l" t="t" r="r" b="b"/>
              <a:pathLst>
                <a:path w="61161476" h="1235544">
                  <a:moveTo>
                    <a:pt x="60607755" y="1235544"/>
                  </a:moveTo>
                  <a:lnTo>
                    <a:pt x="553720" y="1235544"/>
                  </a:lnTo>
                  <a:cubicBezTo>
                    <a:pt x="247650" y="1235544"/>
                    <a:pt x="0" y="958948"/>
                    <a:pt x="0" y="618493"/>
                  </a:cubicBezTo>
                  <a:cubicBezTo>
                    <a:pt x="0" y="276620"/>
                    <a:pt x="247650" y="0"/>
                    <a:pt x="553720" y="0"/>
                  </a:cubicBezTo>
                  <a:lnTo>
                    <a:pt x="60607755" y="0"/>
                  </a:lnTo>
                  <a:cubicBezTo>
                    <a:pt x="60913826" y="0"/>
                    <a:pt x="61161476" y="276620"/>
                    <a:pt x="61161476" y="618493"/>
                  </a:cubicBezTo>
                  <a:cubicBezTo>
                    <a:pt x="61160205" y="958948"/>
                    <a:pt x="60912555" y="1235544"/>
                    <a:pt x="60607755" y="1235544"/>
                  </a:cubicBezTo>
                  <a:close/>
                </a:path>
              </a:pathLst>
            </a:custGeom>
            <a:solidFill>
              <a:srgbClr val="FFFFFF"/>
            </a:solidFill>
          </p:spPr>
        </p:sp>
      </p:grpSp>
      <p:pic>
        <p:nvPicPr>
          <p:cNvPr id="18" name="Picture 17"/>
          <p:cNvPicPr>
            <a:picLocks noChangeAspect="1"/>
          </p:cNvPicPr>
          <p:nvPr/>
        </p:nvPicPr>
        <p:blipFill>
          <a:blip r:embed="rId2"/>
          <a:stretch>
            <a:fillRect/>
          </a:stretch>
        </p:blipFill>
        <p:spPr>
          <a:xfrm>
            <a:off x="1121553" y="2348282"/>
            <a:ext cx="1511378" cy="1428823"/>
          </a:xfrm>
          <a:prstGeom prst="rect">
            <a:avLst/>
          </a:prstGeom>
        </p:spPr>
      </p:pic>
    </p:spTree>
  </p:cSld>
  <p:clrMapOvr>
    <a:masterClrMapping/>
  </p:clrMapOvr>
  <p:transition>
    <p:fade/>
  </p:transition>
</p:sld>
</file>

<file path=ppt/theme/theme1.xml><?xml version="1.0" encoding="utf-8"?>
<a:theme xmlns:a="http://schemas.openxmlformats.org/drawingml/2006/main" name="Azure PPT Template - 2018">
  <a:themeElements>
    <a:clrScheme name="FY 19 Azure">
      <a:dk1>
        <a:srgbClr val="000000"/>
      </a:dk1>
      <a:lt1>
        <a:srgbClr val="FFFFFF"/>
      </a:lt1>
      <a:dk2>
        <a:srgbClr val="0078D4"/>
      </a:dk2>
      <a:lt2>
        <a:srgbClr val="FFFFFF"/>
      </a:lt2>
      <a:accent1>
        <a:srgbClr val="EBEBEB"/>
      </a:accent1>
      <a:accent2>
        <a:srgbClr val="D2D2D2"/>
      </a:accent2>
      <a:accent3>
        <a:srgbClr val="757575"/>
      </a:accent3>
      <a:accent4>
        <a:srgbClr val="3C3C41"/>
      </a:accent4>
      <a:accent5>
        <a:srgbClr val="BAD80A"/>
      </a:accent5>
      <a:accent6>
        <a:srgbClr val="50E6FF"/>
      </a:accent6>
      <a:hlink>
        <a:srgbClr val="0078D4"/>
      </a:hlink>
      <a:folHlink>
        <a:srgbClr val="0078D4"/>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defTabSz="932180"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hite Template">
  <a:themeElements>
    <a:clrScheme name="Ignite Breakout - Blue on white and light gray">
      <a:dk1>
        <a:srgbClr val="000000"/>
      </a:dk1>
      <a:lt1>
        <a:srgbClr val="FFFFFF"/>
      </a:lt1>
      <a:dk2>
        <a:srgbClr val="2F2F2F"/>
      </a:dk2>
      <a:lt2>
        <a:srgbClr val="E6E6E6"/>
      </a:lt2>
      <a:accent1>
        <a:srgbClr val="0078D4"/>
      </a:accent1>
      <a:accent2>
        <a:srgbClr val="243A5E"/>
      </a:accent2>
      <a:accent3>
        <a:srgbClr val="D83B01"/>
      </a:accent3>
      <a:accent4>
        <a:srgbClr val="FFB900"/>
      </a:accent4>
      <a:accent5>
        <a:srgbClr val="2F2F2F"/>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hite Template">
  <a:themeElements>
    <a:clrScheme name="Ignite Breakout - Blue on white and light gray">
      <a:dk1>
        <a:srgbClr val="000000"/>
      </a:dk1>
      <a:lt1>
        <a:srgbClr val="FFFFFF"/>
      </a:lt1>
      <a:dk2>
        <a:srgbClr val="2F2F2F"/>
      </a:dk2>
      <a:lt2>
        <a:srgbClr val="E6E6E6"/>
      </a:lt2>
      <a:accent1>
        <a:srgbClr val="0078D4"/>
      </a:accent1>
      <a:accent2>
        <a:srgbClr val="243A5E"/>
      </a:accent2>
      <a:accent3>
        <a:srgbClr val="D83B01"/>
      </a:accent3>
      <a:accent4>
        <a:srgbClr val="FFB900"/>
      </a:accent4>
      <a:accent5>
        <a:srgbClr val="2F2F2F"/>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pass">
  <a:themeElements>
    <a:clrScheme name="Custom 15">
      <a:dk1>
        <a:srgbClr val="232323"/>
      </a:dk1>
      <a:lt1>
        <a:sysClr val="window" lastClr="FFFFFF"/>
      </a:lt1>
      <a:dk2>
        <a:srgbClr val="1F506A"/>
      </a:dk2>
      <a:lt2>
        <a:srgbClr val="EEECE1"/>
      </a:lt2>
      <a:accent1>
        <a:srgbClr val="F8982D"/>
      </a:accent1>
      <a:accent2>
        <a:srgbClr val="9AC8E2"/>
      </a:accent2>
      <a:accent3>
        <a:srgbClr val="173C50"/>
      </a:accent3>
      <a:accent4>
        <a:srgbClr val="2098D5"/>
      </a:accent4>
      <a:accent5>
        <a:srgbClr val="3A9224"/>
      </a:accent5>
      <a:accent6>
        <a:srgbClr val="9AC8E2"/>
      </a:accent6>
      <a:hlink>
        <a:srgbClr val="F8982D"/>
      </a:hlink>
      <a:folHlink>
        <a:srgbClr val="F8982D"/>
      </a:folHlink>
    </a:clrScheme>
    <a:fontScheme name="PASS">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Azure PPT Template - 2018">
  <a:themeElements>
    <a:clrScheme name="FY 19 Azure">
      <a:dk1>
        <a:srgbClr val="000000"/>
      </a:dk1>
      <a:lt1>
        <a:srgbClr val="FFFFFF"/>
      </a:lt1>
      <a:dk2>
        <a:srgbClr val="0078D4"/>
      </a:dk2>
      <a:lt2>
        <a:srgbClr val="FFFFFF"/>
      </a:lt2>
      <a:accent1>
        <a:srgbClr val="EBEBEB"/>
      </a:accent1>
      <a:accent2>
        <a:srgbClr val="D2D2D2"/>
      </a:accent2>
      <a:accent3>
        <a:srgbClr val="757575"/>
      </a:accent3>
      <a:accent4>
        <a:srgbClr val="3C3C41"/>
      </a:accent4>
      <a:accent5>
        <a:srgbClr val="BAD80A"/>
      </a:accent5>
      <a:accent6>
        <a:srgbClr val="50E6FF"/>
      </a:accent6>
      <a:hlink>
        <a:srgbClr val="0078D4"/>
      </a:hlink>
      <a:folHlink>
        <a:srgbClr val="0078D4"/>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defTabSz="932180"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White Template">
  <a:themeElements>
    <a:clrScheme name="ST_Blue on White/Lt Gray">
      <a:dk1>
        <a:srgbClr val="000000"/>
      </a:dk1>
      <a:lt1>
        <a:srgbClr val="FFFFFF"/>
      </a:lt1>
      <a:dk2>
        <a:srgbClr val="243A5E"/>
      </a:dk2>
      <a:lt2>
        <a:srgbClr val="E6E6E6"/>
      </a:lt2>
      <a:accent1>
        <a:srgbClr val="0078D4"/>
      </a:accent1>
      <a:accent2>
        <a:srgbClr val="243A5E"/>
      </a:accent2>
      <a:accent3>
        <a:srgbClr val="D83B01"/>
      </a:accent3>
      <a:accent4>
        <a:srgbClr val="107C10"/>
      </a:accent4>
      <a:accent5>
        <a:srgbClr val="8661C5"/>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0_White Template">
  <a:themeElements>
    <a:clrScheme name="ST_Blue on White/Lt Gray">
      <a:dk1>
        <a:srgbClr val="000000"/>
      </a:dk1>
      <a:lt1>
        <a:srgbClr val="FFFFFF"/>
      </a:lt1>
      <a:dk2>
        <a:srgbClr val="243A5E"/>
      </a:dk2>
      <a:lt2>
        <a:srgbClr val="E6E6E6"/>
      </a:lt2>
      <a:accent1>
        <a:srgbClr val="0078D4"/>
      </a:accent1>
      <a:accent2>
        <a:srgbClr val="243A5E"/>
      </a:accent2>
      <a:accent3>
        <a:srgbClr val="D83B01"/>
      </a:accent3>
      <a:accent4>
        <a:srgbClr val="107C10"/>
      </a:accent4>
      <a:accent5>
        <a:srgbClr val="8661C5"/>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1_White Template">
  <a:themeElements>
    <a:clrScheme name="Ignite Breakout - Blue on white and light gray">
      <a:dk1>
        <a:srgbClr val="000000"/>
      </a:dk1>
      <a:lt1>
        <a:srgbClr val="FFFFFF"/>
      </a:lt1>
      <a:dk2>
        <a:srgbClr val="2F2F2F"/>
      </a:dk2>
      <a:lt2>
        <a:srgbClr val="E6E6E6"/>
      </a:lt2>
      <a:accent1>
        <a:srgbClr val="0078D4"/>
      </a:accent1>
      <a:accent2>
        <a:srgbClr val="243A5E"/>
      </a:accent2>
      <a:accent3>
        <a:srgbClr val="D83B01"/>
      </a:accent3>
      <a:accent4>
        <a:srgbClr val="FFB900"/>
      </a:accent4>
      <a:accent5>
        <a:srgbClr val="2F2F2F"/>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2_White Template">
  <a:themeElements>
    <a:clrScheme name="Ignite Breakout - Blue on white and light gray">
      <a:dk1>
        <a:srgbClr val="000000"/>
      </a:dk1>
      <a:lt1>
        <a:srgbClr val="FFFFFF"/>
      </a:lt1>
      <a:dk2>
        <a:srgbClr val="2F2F2F"/>
      </a:dk2>
      <a:lt2>
        <a:srgbClr val="E6E6E6"/>
      </a:lt2>
      <a:accent1>
        <a:srgbClr val="0078D4"/>
      </a:accent1>
      <a:accent2>
        <a:srgbClr val="243A5E"/>
      </a:accent2>
      <a:accent3>
        <a:srgbClr val="D83B01"/>
      </a:accent3>
      <a:accent4>
        <a:srgbClr val="FFB900"/>
      </a:accent4>
      <a:accent5>
        <a:srgbClr val="2F2F2F"/>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_Azure PPT Template - 2018">
  <a:themeElements>
    <a:clrScheme name="FY 19 Azure">
      <a:dk1>
        <a:srgbClr val="000000"/>
      </a:dk1>
      <a:lt1>
        <a:srgbClr val="FFFFFF"/>
      </a:lt1>
      <a:dk2>
        <a:srgbClr val="0078D4"/>
      </a:dk2>
      <a:lt2>
        <a:srgbClr val="FFFFFF"/>
      </a:lt2>
      <a:accent1>
        <a:srgbClr val="EBEBEB"/>
      </a:accent1>
      <a:accent2>
        <a:srgbClr val="D2D2D2"/>
      </a:accent2>
      <a:accent3>
        <a:srgbClr val="757575"/>
      </a:accent3>
      <a:accent4>
        <a:srgbClr val="3C3C41"/>
      </a:accent4>
      <a:accent5>
        <a:srgbClr val="BAD80A"/>
      </a:accent5>
      <a:accent6>
        <a:srgbClr val="50E6FF"/>
      </a:accent6>
      <a:hlink>
        <a:srgbClr val="0078D4"/>
      </a:hlink>
      <a:folHlink>
        <a:srgbClr val="0078D4"/>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defTabSz="932180"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PC Architect Boot Camp 2019">
  <a:themeElements>
    <a:clrScheme name="ArchitectBootCamp_2018">
      <a:dk1>
        <a:srgbClr val="1A1A1A"/>
      </a:dk1>
      <a:lt1>
        <a:srgbClr val="FFFFFF"/>
      </a:lt1>
      <a:dk2>
        <a:srgbClr val="0D0D0D"/>
      </a:dk2>
      <a:lt2>
        <a:srgbClr val="E6E6E6"/>
      </a:lt2>
      <a:accent1>
        <a:srgbClr val="0072C6"/>
      </a:accent1>
      <a:accent2>
        <a:srgbClr val="00BCF2"/>
      </a:accent2>
      <a:accent3>
        <a:srgbClr val="002050"/>
      </a:accent3>
      <a:accent4>
        <a:srgbClr val="505050"/>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3_Azure PPT Template - 2018">
  <a:themeElements>
    <a:clrScheme name="FY 19 Azure">
      <a:dk1>
        <a:srgbClr val="000000"/>
      </a:dk1>
      <a:lt1>
        <a:srgbClr val="FFFFFF"/>
      </a:lt1>
      <a:dk2>
        <a:srgbClr val="0078D4"/>
      </a:dk2>
      <a:lt2>
        <a:srgbClr val="FFFFFF"/>
      </a:lt2>
      <a:accent1>
        <a:srgbClr val="EBEBEB"/>
      </a:accent1>
      <a:accent2>
        <a:srgbClr val="D2D2D2"/>
      </a:accent2>
      <a:accent3>
        <a:srgbClr val="757575"/>
      </a:accent3>
      <a:accent4>
        <a:srgbClr val="3C3C41"/>
      </a:accent4>
      <a:accent5>
        <a:srgbClr val="BAD80A"/>
      </a:accent5>
      <a:accent6>
        <a:srgbClr val="50E6FF"/>
      </a:accent6>
      <a:hlink>
        <a:srgbClr val="0078D4"/>
      </a:hlink>
      <a:folHlink>
        <a:srgbClr val="0078D4"/>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defTabSz="932180"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ct:_="" ma:_="" ma:contentTypeName="SMSG KM Open Document" ma:contentTypeID="0x0101000E4CB7077FEE4FF7AE86D4A500EEC780030016C849C62B10EB41ACA8C7EEDEF40BB2006A83F15B98C1FD4E8D76F6993277120D" ma:contentTypeVersion="42" ma:contentTypeDescription="" ma:contentTypeScope="" ma:versionID="9f5d689a39e6491ae5057bc591b2a105">
  <xsd:schema xmlns:xsd="http://www.w3.org/2001/XMLSchema" xmlns:xs="http://www.w3.org/2001/XMLSchema" xmlns:p="http://schemas.microsoft.com/office/2006/metadata/properties" xmlns:ns1="http://schemas.microsoft.com/sharepoint/v3" xmlns:ns2="230e9df3-be65-4c73-a93b-d1236ebd677e" xmlns:ns3="230E9DF3-BE65-4C73-A93B-D1236EBD677E" xmlns:ns4="1c7e1a94-f886-43f0-af7a-031cdfff3ff3" xmlns:ns5="b3bc04a5-d503-43b1-b98c-a8cf663329d9" targetNamespace="http://schemas.microsoft.com/office/2006/metadata/properties" ma:root="true" ma:fieldsID="e57bd5b96902d4c002543b6d255551d1" ns1:_="" ns2:_="" ns3:_="" ns4:_="" ns5:_="">
    <xsd:import namespace="http://schemas.microsoft.com/sharepoint/v3"/>
    <xsd:import namespace="230e9df3-be65-4c73-a93b-d1236ebd677e"/>
    <xsd:import namespace="230E9DF3-BE65-4C73-A93B-D1236EBD677E"/>
    <xsd:import namespace="1c7e1a94-f886-43f0-af7a-031cdfff3ff3"/>
    <xsd:import namespace="b3bc04a5-d503-43b1-b98c-a8cf663329d9"/>
    <xsd:element name="properties">
      <xsd:complexType>
        <xsd:sequence>
          <xsd:element name="documentManagement">
            <xsd:complexType>
              <xsd:all>
                <xsd:element ref="ns2:DocumentDescription"/>
                <xsd:element ref="ns2:Owner" minOccurs="0"/>
                <xsd:element ref="ns2:OwnersManager"/>
                <xsd:element ref="ns3:PublishDate" minOccurs="0"/>
                <xsd:element ref="ns2:Expire_x0020_Review" minOccurs="0"/>
                <xsd:element ref="ns1:PublishingPageContent" minOccurs="0"/>
                <xsd:element ref="ns2:Thumbnail1" minOccurs="0"/>
                <xsd:element ref="ns1:AverageRating" minOccurs="0"/>
                <xsd:element ref="ns1:RatingCount" minOccurs="0"/>
                <xsd:element ref="ns1:PublishingExpirationDate" minOccurs="0"/>
                <xsd:element ref="ns3:ApplyWorkflowRules" minOccurs="0"/>
                <xsd:element ref="ns2:ContentID" minOccurs="0"/>
                <xsd:element ref="ns2:Blog_x0020_Name" minOccurs="0"/>
                <xsd:element ref="ns2:Coowner" minOccurs="0"/>
                <xsd:element ref="ns2:FolderExtensions" minOccurs="0"/>
                <xsd:element ref="ns2:ParentID1" minOccurs="0"/>
                <xsd:element ref="ns2:GenericText2" minOccurs="0"/>
                <xsd:element ref="ns2:GenericHTML1" minOccurs="0"/>
                <xsd:element ref="ns4:Update_x0020_Parent_x0020_Child_x0020_Relation_x0020_for_x0020_KCDOCs2" minOccurs="0"/>
                <xsd:element ref="ns4:MediaServiceKeyPoints" minOccurs="0"/>
                <xsd:element ref="ns2:i1b478372f814787abd313030b81fcb2" minOccurs="0"/>
                <xsd:element ref="ns2:i0d941ee1e744ffea7aeee9924c91cbb" minOccurs="0"/>
                <xsd:element ref="ns2:m6d26e40ac264097a006193f92232ece" minOccurs="0"/>
                <xsd:element ref="ns2:kf34bcdc8fc34e479d3f94c6210e8e27" minOccurs="0"/>
                <xsd:element ref="ns2:mb88723863e1404388ba3733387d48df" minOccurs="0"/>
                <xsd:element ref="ns2:TaxCatchAll" minOccurs="0"/>
                <xsd:element ref="ns2:k20e0dfa74bf4e44818db03027b0ccd8" minOccurs="0"/>
                <xsd:element ref="ns2:l3c3ea61849e4288a8acc49bb5388e8c" minOccurs="0"/>
                <xsd:element ref="ns2:ec5b2ad5c27b45fb8a00a1f27c7ce1ae" minOccurs="0"/>
                <xsd:element ref="ns2:TaxCatchAllLabel" minOccurs="0"/>
                <xsd:element ref="ns2:b60f8d2dbb984f349d80d8196897f4d3" minOccurs="0"/>
                <xsd:element ref="ns2:TaxKeywordTaxHTField" minOccurs="0"/>
                <xsd:element ref="ns2:m6c7b4717b6346e6a075a59dd47eac69" minOccurs="0"/>
                <xsd:element ref="ns2:ConfidentialityTaxHTField0" minOccurs="0"/>
                <xsd:element ref="ns2:b4224c12c78d42ea9b214de0badf8358" minOccurs="0"/>
                <xsd:element ref="ns2:_dlc_DocId" minOccurs="0"/>
                <xsd:element ref="ns2:bf80e81150e248c48aa8cffdf0021a1f" minOccurs="0"/>
                <xsd:element ref="ns2:od9986d31974458fb3007746ec0bce5f" minOccurs="0"/>
                <xsd:element ref="ns2:k21a64daf20d4502b2796a1c6b8ce6c8" minOccurs="0"/>
                <xsd:element ref="ns2:ef109fd36bcf4bcd9dd945731030600b" minOccurs="0"/>
                <xsd:element ref="ns5:MediaServiceDateTaken" minOccurs="0"/>
                <xsd:element ref="ns5:MediaServiceAutoTags" minOccurs="0"/>
                <xsd:element ref="ns2:hd9637eefc984b85b6097c6374e15725" minOccurs="0"/>
                <xsd:element ref="ns2:_dlc_DocIdUrl" minOccurs="0"/>
                <xsd:element ref="ns1:_dlc_Exempt" minOccurs="0"/>
                <xsd:element ref="ns1:_dlc_ExpireDateSaved" minOccurs="0"/>
                <xsd:element ref="ns1:_dlc_ExpireDate" minOccurs="0"/>
                <xsd:element ref="ns4:MediaServiceOCR" minOccurs="0"/>
                <xsd:element ref="ns4:MediaServiceEventHashCode" minOccurs="0"/>
                <xsd:element ref="ns4:MediaServiceGenerationTime" minOccurs="0"/>
                <xsd:element ref="ns4:MediaServiceAutoKeyPoints" minOccurs="0"/>
                <xsd:element ref="ns2:ga0c0bf70a6644469c61b3efa7025301" minOccurs="0"/>
                <xsd:element ref="ns2:k8073fd852084ec1ba6e2c8d5ade6bf8" minOccurs="0"/>
                <xsd:element ref="ns2:eb54ac91059940029a3cc8a4ff5af673" minOccurs="0"/>
                <xsd:element ref="ns2:mafbf0bb15774bf782b6f7937f17c8ce" minOccurs="0"/>
                <xsd:element ref="ns2:_dlc_DocIdPersistId" minOccurs="0"/>
                <xsd:element ref="ns2:i7ea4c13ddfd467b9bb281d44c777b52" minOccurs="0"/>
                <xsd:element ref="ns1:ReportOwner" minOccurs="0"/>
                <xsd:element ref="ns1:RoutingRuleDescription" minOccurs="0"/>
                <xsd:element ref="ns4:m5tz"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PageContent" ma:index="15" nillable="true" ma:displayName="Page Content" ma:description="Page Content is a site column created by the Publishing feature. It is used on the Article Page Content Type as the content of the page." ma:internalName="PublishingPageContent">
      <xsd:simpleType>
        <xsd:restriction base="dms:Unknown"/>
      </xsd:simpleType>
    </xsd:element>
    <xsd:element name="AverageRating" ma:index="18" nillable="true" ma:displayName="Rating (0-5)" ma:decimals="2" ma:description="Average value of all the ratings that have been submitted" ma:internalName="AverageRating" ma:readOnly="true">
      <xsd:simpleType>
        <xsd:restriction base="dms:Number"/>
      </xsd:simpleType>
    </xsd:element>
    <xsd:element name="RatingCount" ma:index="19" nillable="true" ma:displayName="Number of Ratings" ma:decimals="0" ma:description="Number of ratings submitted" ma:internalName="RatingCount" ma:readOnly="true">
      <xsd:simpleType>
        <xsd:restriction base="dms:Number"/>
      </xsd:simpleType>
    </xsd:element>
    <xsd:element name="PublishingExpirationDate" ma:index="22"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element name="_dlc_Exempt" ma:index="76" nillable="true" ma:displayName="Exempt from Policy" ma:description="" ma:hidden="true" ma:internalName="_dlc_Exempt" ma:readOnly="true">
      <xsd:simpleType>
        <xsd:restriction base="dms:Unknown"/>
      </xsd:simpleType>
    </xsd:element>
    <xsd:element name="_dlc_ExpireDateSaved" ma:index="77" nillable="true" ma:displayName="Original Expiration Date" ma:description="" ma:hidden="true" ma:internalName="_dlc_ExpireDateSaved" ma:readOnly="true">
      <xsd:simpleType>
        <xsd:restriction base="dms:DateTime"/>
      </xsd:simpleType>
    </xsd:element>
    <xsd:element name="_dlc_ExpireDate" ma:index="78" nillable="true" ma:displayName="Expiration Date" ma:description="" ma:hidden="true" ma:indexed="true" ma:internalName="_dlc_ExpireDate" ma:readOnly="true">
      <xsd:simpleType>
        <xsd:restriction base="dms:DateTime"/>
      </xsd:simpleType>
    </xsd:element>
    <xsd:element name="ReportOwner" ma:index="90" nillable="true" ma:displayName="Owner (People and Groups)" ma:description="Owner of this document" ma:hidden="true" ma:list="UserInfo" ma:SearchPeopleOnly="false" ma:SharePointGroup="0" ma:internalName="Report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outingRuleDescription" ma:index="91" nillable="true" ma:displayName="Description" ma:description="" ma:hidden="true"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DocumentDescription" ma:index="2" ma:displayName="Document Description" ma:description="Alternate description for documents that can be used for display." ma:internalName="DocumentDescription" ma:readOnly="false">
      <xsd:simpleType>
        <xsd:restriction base="dms:Note">
          <xsd:maxLength value="255"/>
        </xsd:restriction>
      </xsd:simpleType>
    </xsd:element>
    <xsd:element name="Owner" ma:index="3" nillable="true" ma:displayName="Owner" ma:list="UserInfo" ma:SharePointGroup="0" ma:internalName="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sManager" ma:index="4" ma:displayName="Owner's Manager" ma:description="Manager of the owner of the content." ma:list="UserInfo" ma:SearchPeopleOnly="false" ma:SharePointGroup="0" ma:internalName="OwnersManager"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Expire_x0020_Review" ma:index="11" nillable="true" ma:displayName="Expiration" ma:format="DateOnly" ma:internalName="Expire_x0020_Review" ma:readOnly="false">
      <xsd:simpleType>
        <xsd:restriction base="dms:DateTime"/>
      </xsd:simpleType>
    </xsd:element>
    <xsd:element name="Thumbnail1" ma:index="16" nillable="true" ma:displayName="Thumbnail" ma:format="Hyperlink" ma:internalName="Thumbnail1"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ntentID" ma:index="24" nillable="true" ma:displayName="ContentID" ma:indexed="true" ma:internalName="ContentID" ma:readOnly="false">
      <xsd:simpleType>
        <xsd:restriction base="dms:Text">
          <xsd:maxLength value="255"/>
        </xsd:restriction>
      </xsd:simpleType>
    </xsd:element>
    <xsd:element name="Blog_x0020_Name" ma:index="25" nillable="true" ma:displayName="Blog Name" ma:description="Title of an Infopedia Blog" ma:internalName="Blog_x0020_Name">
      <xsd:simpleType>
        <xsd:restriction base="dms:Text">
          <xsd:maxLength value="255"/>
        </xsd:restriction>
      </xsd:simpleType>
    </xsd:element>
    <xsd:element name="Coowner" ma:index="39" nillable="true" ma:displayName="Co-owner" ma:list="UserInfo" ma:SearchPeopleOnly="false" ma:SharePointGroup="0" ma:internalName="Coowner" ma:showField="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FolderExtensions" ma:index="40" nillable="true" ma:displayName="Folder Extensions" ma:description="On-DocSet sub folder to support inactive documents views." ma:internalName="FolderExtensions">
      <xsd:simpleType>
        <xsd:restriction base="dms:Unknown"/>
      </xsd:simpleType>
    </xsd:element>
    <xsd:element name="ParentID1" ma:index="41" nillable="true" ma:displayName="ParentID" ma:description="Used to maintain the parent-child relationship within Document Set and Documents" ma:indexed="true" ma:internalName="ParentID1">
      <xsd:simpleType>
        <xsd:restriction base="dms:Text">
          <xsd:maxLength value="255"/>
        </xsd:restriction>
      </xsd:simpleType>
    </xsd:element>
    <xsd:element name="GenericText2" ma:index="42" nillable="true" ma:displayName="GenericText2" ma:description="Generic field for future features in implementation" ma:indexed="true" ma:internalName="GenericText2">
      <xsd:simpleType>
        <xsd:restriction base="dms:Text">
          <xsd:maxLength value="255"/>
        </xsd:restriction>
      </xsd:simpleType>
    </xsd:element>
    <xsd:element name="GenericHTML1" ma:index="43" nillable="true" ma:displayName="GenericHTML1" ma:description="Generic field for future features in implementation" ma:internalName="GenericHTML1">
      <xsd:simpleType>
        <xsd:restriction base="dms:Unknown"/>
      </xsd:simpleType>
    </xsd:element>
    <xsd:element name="i1b478372f814787abd313030b81fcb2" ma:index="47" nillable="true" ma:taxonomy="true" ma:internalName="i1b478372f814787abd313030b81fcb2" ma:taxonomyFieldName="ActivitiesAndPrograms" ma:displayName="SMSG Activities &amp; Programs" ma:default="" ma:fieldId="{21b47837-2f81-4787-abd3-13030b81fcb2}" ma:taxonomyMulti="true" ma:sspId="e385fb40-52d4-4fae-9c5b-3e8ff8a5878e" ma:termSetId="d039009f-2da8-468b-bf5e-ff4693a9f72f" ma:anchorId="846d39ff-6475-4006-99df-de42970d666e" ma:open="false" ma:isKeyword="false">
      <xsd:complexType>
        <xsd:sequence>
          <xsd:element ref="pc:Terms" minOccurs="0" maxOccurs="1"/>
        </xsd:sequence>
      </xsd:complexType>
    </xsd:element>
    <xsd:element name="i0d941ee1e744ffea7aeee9924c91cbb" ma:index="49" nillable="true" ma:taxonomy="true" ma:internalName="i0d941ee1e744ffea7aeee9924c91cbb" ma:taxonomyFieldName="BusinessArchitecture" ma:displayName="SMSG Business Architecture" ma:default="" ma:fieldId="{20d941ee-1e74-4ffe-a7ae-ee9924c91cbb}" ma:taxonomyMulti="true" ma:sspId="e385fb40-52d4-4fae-9c5b-3e8ff8a5878e" ma:termSetId="d039009f-2da8-468b-bf5e-ff4693a9f72f" ma:anchorId="1951c1e0-4cc7-414f-a435-7369277bc757" ma:open="false" ma:isKeyword="false">
      <xsd:complexType>
        <xsd:sequence>
          <xsd:element ref="pc:Terms" minOccurs="0" maxOccurs="1"/>
        </xsd:sequence>
      </xsd:complexType>
    </xsd:element>
    <xsd:element name="m6d26e40ac264097a006193f92232ece" ma:index="50" nillable="true" ma:taxonomy="true" ma:internalName="m6d26e40ac264097a006193f92232ece" ma:taxonomyFieldName="TechnicalLevel" ma:displayName="Technical Level" ma:default="" ma:fieldId="{66d26e40-ac26-4097-a006-193f92232ece}" ma:sspId="e385fb40-52d4-4fae-9c5b-3e8ff8a5878e" ma:termSetId="b3c4a436-adac-4141-8add-ff9b56e1c976" ma:anchorId="3c636e1e-6390-429f-a144-68438d32bffe" ma:open="false" ma:isKeyword="false">
      <xsd:complexType>
        <xsd:sequence>
          <xsd:element ref="pc:Terms" minOccurs="0" maxOccurs="1"/>
        </xsd:sequence>
      </xsd:complexType>
    </xsd:element>
    <xsd:element name="kf34bcdc8fc34e479d3f94c6210e8e27" ma:index="51" nillable="true" ma:taxonomy="true" ma:internalName="kf34bcdc8fc34e479d3f94c6210e8e27" ma:taxonomyFieldName="Competitors" ma:displayName="SMSG Competition" ma:default="" ma:fieldId="{4f34bcdc-8fc3-4e47-9d3f-94c6210e8e27}" ma:taxonomyMulti="true" ma:sspId="e385fb40-52d4-4fae-9c5b-3e8ff8a5878e" ma:termSetId="a611a704-4666-406e-a571-a6e9bb4a2dcc" ma:anchorId="718f8fd0-b740-48bc-92ad-5700213c04b2" ma:open="false" ma:isKeyword="false">
      <xsd:complexType>
        <xsd:sequence>
          <xsd:element ref="pc:Terms" minOccurs="0" maxOccurs="1"/>
        </xsd:sequence>
      </xsd:complexType>
    </xsd:element>
    <xsd:element name="mb88723863e1404388ba3733387d48df" ma:index="53" nillable="true" ma:taxonomy="true" ma:internalName="mb88723863e1404388ba3733387d48df" ma:taxonomyFieldName="Audiences" ma:displayName="SMSG Customer Audiences" ma:default="" ma:fieldId="{6b887238-63e1-4043-88ba-3733387d48df}" ma:taxonomyMulti="true" ma:sspId="e385fb40-52d4-4fae-9c5b-3e8ff8a5878e" ma:termSetId="a611a704-4666-406e-a571-a6e9bb4a2dcc" ma:anchorId="8a0280e9-c6e8-4e3c-80d6-8db643b96ddd" ma:open="false" ma:isKeyword="false">
      <xsd:complexType>
        <xsd:sequence>
          <xsd:element ref="pc:Terms" minOccurs="0" maxOccurs="1"/>
        </xsd:sequence>
      </xsd:complexType>
    </xsd:element>
    <xsd:element name="TaxCatchAll" ma:index="54" nillable="true" ma:displayName="Taxonomy Catch All Column" ma:description="" ma:hidden="true" ma:list="{8e3d5b1f-74bf-4cd5-90f8-860d03c4e4d4}" ma:internalName="TaxCatchAll" ma:showField="CatchAllData" ma:web="2478d1b8-79bf-461f-b8e8-704d21601f1a">
      <xsd:complexType>
        <xsd:complexContent>
          <xsd:extension base="dms:MultiChoiceLookup">
            <xsd:sequence>
              <xsd:element name="Value" type="dms:Lookup" maxOccurs="unbounded" minOccurs="0" nillable="true"/>
            </xsd:sequence>
          </xsd:extension>
        </xsd:complexContent>
      </xsd:complexType>
    </xsd:element>
    <xsd:element name="k20e0dfa74bf4e44818db03027b0ccd8" ma:index="55" nillable="true" ma:taxonomy="true" ma:internalName="k20e0dfa74bf4e44818db03027b0ccd8" ma:taxonomyFieldName="Segments" ma:displayName="SMSG Customer Segments" ma:default="" ma:fieldId="{420e0dfa-74bf-4e44-818d-b03027b0ccd8}" ma:taxonomyMulti="true" ma:sspId="e385fb40-52d4-4fae-9c5b-3e8ff8a5878e" ma:termSetId="a611a704-4666-406e-a571-a6e9bb4a2dcc" ma:anchorId="dd7a2ee5-7d01-4a82-9346-1eefa47ece8b" ma:open="false" ma:isKeyword="false">
      <xsd:complexType>
        <xsd:sequence>
          <xsd:element ref="pc:Terms" minOccurs="0" maxOccurs="1"/>
        </xsd:sequence>
      </xsd:complexType>
    </xsd:element>
    <xsd:element name="l3c3ea61849e4288a8acc49bb5388e8c" ma:index="57" nillable="true" ma:taxonomy="true" ma:internalName="l3c3ea61849e4288a8acc49bb5388e8c" ma:taxonomyFieldName="Groups" ma:displayName="SMSG Groups" ma:default="" ma:fieldId="{53c3ea61-849e-4288-a8ac-c49bb5388e8c}" ma:taxonomyMulti="true" ma:sspId="e385fb40-52d4-4fae-9c5b-3e8ff8a5878e" ma:termSetId="d039009f-2da8-468b-bf5e-ff4693a9f72f" ma:anchorId="ec38e82f-eddf-4553-aa72-f3bd3c1d5855" ma:open="false" ma:isKeyword="false">
      <xsd:complexType>
        <xsd:sequence>
          <xsd:element ref="pc:Terms" minOccurs="0" maxOccurs="1"/>
        </xsd:sequence>
      </xsd:complexType>
    </xsd:element>
    <xsd:element name="ec5b2ad5c27b45fb8a00a1f27c7ce1ae" ma:index="59" nillable="true" ma:taxonomy="true" ma:internalName="ec5b2ad5c27b45fb8a00a1f27c7ce1ae" ma:taxonomyFieldName="Partners" ma:displayName="SMSG Partners" ma:default="" ma:fieldId="{ec5b2ad5-c27b-45fb-8a00-a1f27c7ce1ae}" ma:taxonomyMulti="true" ma:sspId="e385fb40-52d4-4fae-9c5b-3e8ff8a5878e" ma:termSetId="a611a704-4666-406e-a571-a6e9bb4a2dcc" ma:anchorId="dd1a91fa-3198-4561-9b04-bc737b2a8291" ma:open="false" ma:isKeyword="false">
      <xsd:complexType>
        <xsd:sequence>
          <xsd:element ref="pc:Terms" minOccurs="0" maxOccurs="1"/>
        </xsd:sequence>
      </xsd:complexType>
    </xsd:element>
    <xsd:element name="TaxCatchAllLabel" ma:index="60" nillable="true" ma:displayName="Taxonomy Catch All Column1" ma:description="" ma:hidden="true" ma:list="{8e3d5b1f-74bf-4cd5-90f8-860d03c4e4d4}" ma:internalName="TaxCatchAllLabel" ma:readOnly="true" ma:showField="CatchAllDataLabel" ma:web="2478d1b8-79bf-461f-b8e8-704d21601f1a">
      <xsd:complexType>
        <xsd:complexContent>
          <xsd:extension base="dms:MultiChoiceLookup">
            <xsd:sequence>
              <xsd:element name="Value" type="dms:Lookup" maxOccurs="unbounded" minOccurs="0" nillable="true"/>
            </xsd:sequence>
          </xsd:extension>
        </xsd:complexContent>
      </xsd:complexType>
    </xsd:element>
    <xsd:element name="b60f8d2dbb984f349d80d8196897f4d3" ma:index="61" nillable="true" ma:taxonomy="true" ma:internalName="b60f8d2dbb984f349d80d8196897f4d3" ma:taxonomyFieldName="Roles" ma:displayName="SMSG Roles" ma:default="" ma:fieldId="{b60f8d2d-bb98-4f34-9d80-d8196897f4d3}" ma:taxonomyMulti="true" ma:sspId="e385fb40-52d4-4fae-9c5b-3e8ff8a5878e" ma:termSetId="a611a704-4666-406e-a571-a6e9bb4a2dcc" ma:anchorId="c9a07ef0-4236-4915-97ca-1b3392dac369" ma:open="false" ma:isKeyword="false">
      <xsd:complexType>
        <xsd:sequence>
          <xsd:element ref="pc:Terms" minOccurs="0" maxOccurs="1"/>
        </xsd:sequence>
      </xsd:complexType>
    </xsd:element>
    <xsd:element name="TaxKeywordTaxHTField" ma:index="62" nillable="true" ma:taxonomy="true" ma:internalName="TaxKeywordTaxHTField" ma:taxonomyFieldName="TaxKeyword" ma:displayName="Enterprise Keywords" ma:readOnly="false"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element name="m6c7b4717b6346e6a075a59dd47eac69" ma:index="63" nillable="true" ma:taxonomy="true" ma:internalName="m6c7b4717b6346e6a075a59dd47eac69" ma:taxonomyFieldName="Topics" ma:displayName="SMSG Topics" ma:default="" ma:fieldId="{66c7b471-7b63-46e6-a075-a59dd47eac69}" ma:taxonomyMulti="true" ma:sspId="e385fb40-52d4-4fae-9c5b-3e8ff8a5878e" ma:termSetId="d039009f-2da8-468b-bf5e-ff4693a9f72f" ma:anchorId="ddcce936-3357-448e-8326-e6fdfddfb752" ma:open="false" ma:isKeyword="false">
      <xsd:complexType>
        <xsd:sequence>
          <xsd:element ref="pc:Terms" minOccurs="0" maxOccurs="1"/>
        </xsd:sequence>
      </xsd:complexType>
    </xsd:element>
    <xsd:element name="ConfidentialityTaxHTField0" ma:index="64" ma:taxonomy="true" ma:internalName="ConfidentialityTaxHTField0" ma:taxonomyFieldName="Confidentiality" ma:displayName="Maximum Reach" ma:default="5;#internal users|461efa83-0283-486a-a8d5-943328f3693f" ma:fieldId="{840a9f3c-1e14-4c21-9dbf-5637765665db}" ma:sspId="e385fb40-52d4-4fae-9c5b-3e8ff8a5878e" ma:termSetId="e0e820dc-7da0-48b9-8472-209c7e82d1d0" ma:anchorId="00000000-0000-0000-0000-000000000000" ma:open="false" ma:isKeyword="false">
      <xsd:complexType>
        <xsd:sequence>
          <xsd:element ref="pc:Terms" minOccurs="0" maxOccurs="1"/>
        </xsd:sequence>
      </xsd:complexType>
    </xsd:element>
    <xsd:element name="b4224c12c78d42ea9b214de0badf8358" ma:index="65" nillable="true" ma:taxonomy="true" ma:internalName="b4224c12c78d42ea9b214de0badf8358" ma:taxonomyFieldName="EnterpriseDomainTags" ma:displayName="EnterpriseDomainTags" ma:default="" ma:fieldId="{b4224c12-c78d-42ea-9b21-4de0badf8358}" ma:taxonomyMulti="true" ma:sspId="e385fb40-52d4-4fae-9c5b-3e8ff8a5878e" ma:termSetId="d039009f-2da8-468b-bf5e-ff4693a9f72f" ma:anchorId="00000000-0000-0000-0000-000000000000" ma:open="false" ma:isKeyword="false">
      <xsd:complexType>
        <xsd:sequence>
          <xsd:element ref="pc:Terms" minOccurs="0" maxOccurs="1"/>
        </xsd:sequence>
      </xsd:complexType>
    </xsd:element>
    <xsd:element name="_dlc_DocId" ma:index="66" nillable="true" ma:displayName="Document ID Value" ma:description="The value of the document ID assigned to this item." ma:indexed="true" ma:internalName="_dlc_DocId" ma:readOnly="true">
      <xsd:simpleType>
        <xsd:restriction base="dms:Text"/>
      </xsd:simpleType>
    </xsd:element>
    <xsd:element name="bf80e81150e248c48aa8cffdf0021a1f" ma:index="67" nillable="true" ma:taxonomy="true" ma:internalName="bf80e81150e248c48aa8cffdf0021a1f" ma:taxonomyFieldName="Products" ma:displayName="SMSG Products &amp; Technologies" ma:default="" ma:fieldId="{bf80e811-50e2-48c4-8aa8-cffdf0021a1f}" ma:taxonomyMulti="true" ma:sspId="e385fb40-52d4-4fae-9c5b-3e8ff8a5878e" ma:termSetId="a611a704-4666-406e-a571-a6e9bb4a2dcc" ma:anchorId="f7bdd4ba-8e81-43d6-a504-860f505d5c97" ma:open="false" ma:isKeyword="false">
      <xsd:complexType>
        <xsd:sequence>
          <xsd:element ref="pc:Terms" minOccurs="0" maxOccurs="1"/>
        </xsd:sequence>
      </xsd:complexType>
    </xsd:element>
    <xsd:element name="od9986d31974458fb3007746ec0bce5f" ma:index="68" nillable="true" ma:taxonomy="true" ma:internalName="od9986d31974458fb3007746ec0bce5f" ma:taxonomyFieldName="Languages" ma:displayName="SMSG Languages" ma:default="" ma:fieldId="{8d9986d3-1974-458f-b300-7746ec0bce5f}" ma:taxonomyMulti="true" ma:sspId="e385fb40-52d4-4fae-9c5b-3e8ff8a5878e" ma:termSetId="a611a704-4666-406e-a571-a6e9bb4a2dcc" ma:anchorId="c5f267fd-fa38-4ffe-a1d8-2693d87e90bc" ma:open="false" ma:isKeyword="false">
      <xsd:complexType>
        <xsd:sequence>
          <xsd:element ref="pc:Terms" minOccurs="0" maxOccurs="1"/>
        </xsd:sequence>
      </xsd:complexType>
    </xsd:element>
    <xsd:element name="k21a64daf20d4502b2796a1c6b8ce6c8" ma:index="69" nillable="true" ma:taxonomy="true" ma:internalName="k21a64daf20d4502b2796a1c6b8ce6c8" ma:taxonomyFieldName="Industries" ma:displayName="SMSG Industries" ma:default="" ma:fieldId="{421a64da-f20d-4502-b279-6a1c6b8ce6c8}" ma:taxonomyMulti="true" ma:sspId="e385fb40-52d4-4fae-9c5b-3e8ff8a5878e" ma:termSetId="a611a704-4666-406e-a571-a6e9bb4a2dcc" ma:anchorId="322da17f-7441-43de-8ac8-ca7d62aec02b" ma:open="false" ma:isKeyword="false">
      <xsd:complexType>
        <xsd:sequence>
          <xsd:element ref="pc:Terms" minOccurs="0" maxOccurs="1"/>
        </xsd:sequence>
      </xsd:complexType>
    </xsd:element>
    <xsd:element name="ef109fd36bcf4bcd9dd945731030600b" ma:index="71" nillable="true" ma:taxonomy="true" ma:internalName="ef109fd36bcf4bcd9dd945731030600b" ma:taxonomyFieldName="Region" ma:displayName="SMSG Region" ma:default="" ma:fieldId="{ef109fd3-6bcf-4bcd-9dd9-45731030600b}" ma:taxonomyMulti="true" ma:sspId="e385fb40-52d4-4fae-9c5b-3e8ff8a5878e" ma:termSetId="a611a704-4666-406e-a571-a6e9bb4a2dcc" ma:anchorId="c5404caa-7d82-41c6-82c2-0230c1d96864" ma:open="false" ma:isKeyword="false">
      <xsd:complexType>
        <xsd:sequence>
          <xsd:element ref="pc:Terms" minOccurs="0" maxOccurs="1"/>
        </xsd:sequence>
      </xsd:complexType>
    </xsd:element>
    <xsd:element name="hd9637eefc984b85b6097c6374e15725" ma:index="74" nillable="true" ma:taxonomy="true" ma:internalName="hd9637eefc984b85b6097c6374e15725" ma:taxonomyFieldName="ItemType" ma:displayName="SMSG Item Type" ma:default="" ma:fieldId="{1d9637ee-fc98-4b85-b609-7c6374e15725}" ma:taxonomyMulti="true" ma:sspId="e385fb40-52d4-4fae-9c5b-3e8ff8a5878e" ma:termSetId="a611a704-4666-406e-a571-a6e9bb4a2dcc" ma:anchorId="3d59bf14-be35-4b82-81a4-70bbe2a90cc2" ma:open="false" ma:isKeyword="false">
      <xsd:complexType>
        <xsd:sequence>
          <xsd:element ref="pc:Terms" minOccurs="0" maxOccurs="1"/>
        </xsd:sequence>
      </xsd:complexType>
    </xsd:element>
    <xsd:element name="_dlc_DocIdUrl" ma:index="7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ga0c0bf70a6644469c61b3efa7025301" ma:index="84" nillable="true" ma:taxonomy="true" ma:internalName="ga0c0bf70a6644469c61b3efa7025301" ma:taxonomyFieldName="ExperienceContentType" ma:displayName="Experience Content Type" ma:default="" ma:fieldId="{0a0c0bf7-0a66-4446-9c61-b3efa7025301}" ma:sspId="e385fb40-52d4-4fae-9c5b-3e8ff8a5878e" ma:termSetId="5ebd4bde-7300-4f6f-8671-0d8e806c9260" ma:anchorId="f79c226e-0a27-41a1-99b5-91ff9ea65615" ma:open="false" ma:isKeyword="false">
      <xsd:complexType>
        <xsd:sequence>
          <xsd:element ref="pc:Terms" minOccurs="0" maxOccurs="1"/>
        </xsd:sequence>
      </xsd:complexType>
    </xsd:element>
    <xsd:element name="k8073fd852084ec1ba6e2c8d5ade6bf8" ma:index="85" nillable="true" ma:taxonomy="true" ma:internalName="k8073fd852084ec1ba6e2c8d5ade6bf8" ma:taxonomyFieldName="Solution_x0020_Areas" ma:displayName="Solution Areas" ma:readOnly="false" ma:default="" ma:fieldId="{48073fd8-5208-4ec1-ba6e-2c8d5ade6bf8}" ma:taxonomyMulti="true" ma:sspId="e385fb40-52d4-4fae-9c5b-3e8ff8a5878e" ma:termSetId="b49e540e-074d-4845-a34c-877000c7b062" ma:anchorId="c469a396-9286-43a4-a826-6e5559b48bb4" ma:open="false" ma:isKeyword="false">
      <xsd:complexType>
        <xsd:sequence>
          <xsd:element ref="pc:Terms" minOccurs="0" maxOccurs="1"/>
        </xsd:sequence>
      </xsd:complexType>
    </xsd:element>
    <xsd:element name="eb54ac91059940029a3cc8a4ff5af673" ma:index="86" nillable="true" ma:taxonomy="true" ma:internalName="eb54ac91059940029a3cc8a4ff5af673" ma:taxonomyFieldName="SMSGDomain" ma:displayName="SMSG Domain" ma:default="" ma:fieldId="{eb54ac91-0599-4002-9a3c-c8a4ff5af673}" ma:taxonomyMulti="true" ma:sspId="e385fb40-52d4-4fae-9c5b-3e8ff8a5878e" ma:termSetId="a611a704-4666-406e-a571-a6e9bb4a2dcc" ma:anchorId="dd7a2ee5-7d01-4a82-9346-1eefa47ece8b" ma:open="false" ma:isKeyword="false">
      <xsd:complexType>
        <xsd:sequence>
          <xsd:element ref="pc:Terms" minOccurs="0" maxOccurs="1"/>
        </xsd:sequence>
      </xsd:complexType>
    </xsd:element>
    <xsd:element name="mafbf0bb15774bf782b6f7937f17c8ce" ma:index="87" nillable="true" ma:taxonomy="true" ma:internalName="mafbf0bb15774bf782b6f7937f17c8ce" ma:taxonomyFieldName="MSProfessions" ma:displayName="MS Professions" ma:readOnly="false" ma:default="" ma:fieldId="{6afbf0bb-1577-4bf7-82b6-f7937f17c8ce}" ma:taxonomyMulti="true" ma:sspId="e385fb40-52d4-4fae-9c5b-3e8ff8a5878e" ma:termSetId="270e6016-5c27-496c-a5c0-1503b0a4f45c" ma:anchorId="8870fa9b-5abd-4403-b641-6cc4a026dfde" ma:open="false" ma:isKeyword="false">
      <xsd:complexType>
        <xsd:sequence>
          <xsd:element ref="pc:Terms" minOccurs="0" maxOccurs="1"/>
        </xsd:sequence>
      </xsd:complexType>
    </xsd:element>
    <xsd:element name="_dlc_DocIdPersistId" ma:index="88" nillable="true" ma:displayName="Persist ID" ma:description="Keep ID on add." ma:hidden="true" ma:internalName="_dlc_DocIdPersistId" ma:readOnly="true">
      <xsd:simpleType>
        <xsd:restriction base="dms:Boolean"/>
      </xsd:simpleType>
    </xsd:element>
    <xsd:element name="i7ea4c13ddfd467b9bb281d44c777b52" ma:index="89" nillable="true" ma:taxonomy="true" ma:internalName="i7ea4c13ddfd467b9bb281d44c777b52" ma:taxonomyFieldName="SMSG_x0020_Items" ma:displayName="SMSG Items" ma:default="" ma:fieldId="{27ea4c13-ddfd-467b-9bb2-81d44c777b52}" ma:sspId="e385fb40-52d4-4fae-9c5b-3e8ff8a5878e" ma:termSetId="f8967457-31aa-473d-be88-d724930b3d1e" ma:anchorId="12c654ad-e9ff-4734-91a8-0b47fd9d3f07"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PublishDate" ma:index="10" nillable="true" ma:displayName="PublishDate" ma:description="Used in Blog Posts, this date is used to specify the Blog Article Date." ma:format="DateOnly" ma:internalName="PublishDate">
      <xsd:simpleType>
        <xsd:restriction base="dms:DateTime"/>
      </xsd:simpleType>
    </xsd:element>
    <xsd:element name="ApplyWorkflowRules" ma:index="23" nillable="true" ma:displayName="ApplyWorkflowRules" ma:default="Yes" ma:description="This columns is used to help to apply the workflow rules on Document Sets / Documents. by Default the Value is Yes" ma:format="Dropdown" ma:internalName="ApplyWorkflowRules" ma:readOnly="false">
      <xsd:simpleType>
        <xsd:restriction base="dms:Choice">
          <xsd:enumeration value="Yes"/>
          <xsd:enumeration value="No"/>
        </xsd:restriction>
      </xsd:simpleType>
    </xsd:element>
  </xsd:schema>
  <xsd:schema xmlns:xsd="http://www.w3.org/2001/XMLSchema" xmlns:xs="http://www.w3.org/2001/XMLSchema" xmlns:dms="http://schemas.microsoft.com/office/2006/documentManagement/types" xmlns:pc="http://schemas.microsoft.com/office/infopath/2007/PartnerControls" targetNamespace="1c7e1a94-f886-43f0-af7a-031cdfff3ff3" elementFormDefault="qualified">
    <xsd:import namespace="http://schemas.microsoft.com/office/2006/documentManagement/types"/>
    <xsd:import namespace="http://schemas.microsoft.com/office/infopath/2007/PartnerControls"/>
    <xsd:element name="Update_x0020_Parent_x0020_Child_x0020_Relation_x0020_for_x0020_KCDOCs2" ma:index="44" nillable="true" ma:displayName="Update Parent Child Relation for KCDOCs2" ma:internalName="Update_x0020_Parent_x0020_Child_x0020_Relation_x0020_for_x0020_KCDOCs2">
      <xsd:complexType>
        <xsd:complexContent>
          <xsd:extension base="dms:URL">
            <xsd:sequence>
              <xsd:element name="Url" type="dms:ValidUrl" minOccurs="0" nillable="true"/>
              <xsd:element name="Description" type="xsd:string" nillable="true"/>
            </xsd:sequence>
          </xsd:extension>
        </xsd:complexContent>
      </xsd:complexType>
    </xsd:element>
    <xsd:element name="MediaServiceKeyPoints" ma:index="45" nillable="true" ma:displayName="KeyPoints" ma:internalName="MediaServiceKeyPoints" ma:readOnly="false">
      <xsd:simpleType>
        <xsd:restriction base="dms:Note">
          <xsd:maxLength value="255"/>
        </xsd:restriction>
      </xsd:simpleType>
    </xsd:element>
    <xsd:element name="MediaServiceOCR" ma:index="80" nillable="true" ma:displayName="MediaServiceOCR" ma:internalName="MediaServiceOCR" ma:readOnly="true">
      <xsd:simpleType>
        <xsd:restriction base="dms:Note">
          <xsd:maxLength value="255"/>
        </xsd:restriction>
      </xsd:simpleType>
    </xsd:element>
    <xsd:element name="MediaServiceEventHashCode" ma:index="81" nillable="true" ma:displayName="MediaServiceEventHashCode" ma:hidden="true" ma:internalName="MediaServiceEventHashCode" ma:readOnly="true">
      <xsd:simpleType>
        <xsd:restriction base="dms:Text"/>
      </xsd:simpleType>
    </xsd:element>
    <xsd:element name="MediaServiceGenerationTime" ma:index="82" nillable="true" ma:displayName="MediaServiceGenerationTime" ma:hidden="true" ma:internalName="MediaServiceGenerationTime" ma:readOnly="true">
      <xsd:simpleType>
        <xsd:restriction base="dms:Text"/>
      </xsd:simpleType>
    </xsd:element>
    <xsd:element name="MediaServiceAutoKeyPoints" ma:index="83" nillable="true" ma:displayName="MediaServiceAutoKeyPoints" ma:hidden="true" ma:internalName="MediaServiceAutoKeyPoints" ma:readOnly="true">
      <xsd:simpleType>
        <xsd:restriction base="dms:Note"/>
      </xsd:simpleType>
    </xsd:element>
    <xsd:element name="m5tz" ma:index="92" nillable="true" ma:displayName="Owner's Manager" ma:list="UserInfo" ma:internalName="m5tz">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3bc04a5-d503-43b1-b98c-a8cf663329d9" elementFormDefault="qualified">
    <xsd:import namespace="http://schemas.microsoft.com/office/2006/documentManagement/types"/>
    <xsd:import namespace="http://schemas.microsoft.com/office/infopath/2007/PartnerControls"/>
    <xsd:element name="MediaServiceDateTaken" ma:index="72" nillable="true" ma:displayName="MediaServiceDateTaken" ma:description="" ma:hidden="true" ma:internalName="MediaServiceDateTaken" ma:readOnly="true">
      <xsd:simpleType>
        <xsd:restriction base="dms:Text"/>
      </xsd:simpleType>
    </xsd:element>
    <xsd:element name="MediaServiceAutoTags" ma:index="73" nillable="true" ma:displayName="MediaServiceAutoTags" ma:description="" ma:internalName="MediaServiceAutoTag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2" ma:displayName="Content Type"/>
        <xsd:element ref="dc:title"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Version=14.0.0.0, Culture=neutral, PublicKeyToken=71e9bce111e9429c</Assembly>
    <Class>Microsoft.Office.DocumentManagement.Internal.DocIdHandler</Class>
    <Data/>
    <Filter/>
  </Receiver>
</spe:Receivers>
</file>

<file path=customXml/item3.xml><?xml version="1.0" encoding="utf-8"?>
<?mso-contentType ?>
<SharedContentType xmlns="Microsoft.SharePoint.Taxonomy.ContentTypeSync" SourceId="e385fb40-52d4-4fae-9c5b-3e8ff8a5878e" ContentTypeId="0x0101000E4CB7077FEE4FF7AE86D4A500EEC780030016C849C62B10EB41ACA8C7EEDEF40BB2"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p:Policy xmlns:p="office.server.policy" id="" local="true">
  <p:Name>SMSG KM Open Document</p:Name>
  <p:Description/>
  <p:Statement/>
  <p:PolicyItems>
    <p:PolicyItem featureId="Microsoft.Office.RecordsManagement.PolicyFeatures.Expiration" staticId="0x0101000E4CB7077FEE4FF7AE86D4A500EEC780030016C849C62B10EB41ACA8C7EEDEF40BB2006A83F15B98C1FD4E8D76F6993277120D|-2104630519" UniqueId="7644ab00-0194-4713-bed7-07a1a8370af3">
      <p:Name>Retention</p:Name>
      <p:Description>Automatic scheduling of content for processing, and performing a retention action on content that has reached its due date.</p:Description>
      <p:CustomData>
        <Schedules nextStageId="2">
          <Schedule type="Default">
            <stages>
              <data stageId="1">
                <formula id="Microsoft.Office.RecordsManagement.PolicyFeatures.Expiration.Formula.BuiltIn">
                  <number>0</number>
                  <property>Expire_x0020_Review</property>
                  <propertyId>4efb7b69-53dd-4711-a372-96a7c80c7a38</propertyId>
                  <period>days</period>
                </formula>
                <action type="action" id="Microsoft.Office.RecordsManagement.PolicyFeatures.Expiration.Action.MoveToRecycleBin"/>
              </data>
            </stages>
          </Schedule>
        </Schedules>
      </p:CustomData>
    </p:PolicyItem>
  </p:PolicyItems>
</p:Policy>
</file>

<file path=customXml/item6.xml><?xml version="1.0" encoding="utf-8"?>
<p:properties xmlns:p="http://schemas.microsoft.com/office/2006/metadata/properties" xmlns:xsi="http://www.w3.org/2001/XMLSchema-instance" xmlns:pc="http://schemas.microsoft.com/office/infopath/2007/PartnerControls">
  <documentManagement>
    <MediaServiceKeyPoints xmlns="1c7e1a94-f886-43f0-af7a-031cdfff3ff3" xsi:nil="true"/>
    <DocumentDescription xmlns="230e9df3-be65-4c73-a93b-d1236ebd677e">TDM presentation of integrated data platform for BI, AI and continuous intelligence.</DocumentDescription>
    <k20e0dfa74bf4e44818db03027b0ccd8 xmlns="230e9df3-be65-4c73-a93b-d1236ebd677e">
      <Terms xmlns="http://schemas.microsoft.com/office/infopath/2007/PartnerControls"/>
    </k20e0dfa74bf4e44818db03027b0ccd8>
    <od9986d31974458fb3007746ec0bce5f xmlns="230e9df3-be65-4c73-a93b-d1236ebd677e">
      <Terms xmlns="http://schemas.microsoft.com/office/infopath/2007/PartnerControls"/>
    </od9986d31974458fb3007746ec0bce5f>
    <hd9637eefc984b85b6097c6374e15725 xmlns="230e9df3-be65-4c73-a93b-d1236ebd677e">
      <Terms xmlns="http://schemas.microsoft.com/office/infopath/2007/PartnerControls">
        <TermInfo xmlns="http://schemas.microsoft.com/office/infopath/2007/PartnerControls">
          <TermName xmlns="http://schemas.microsoft.com/office/infopath/2007/PartnerControls">technical presentations</TermName>
          <TermId xmlns="http://schemas.microsoft.com/office/infopath/2007/PartnerControls">83a894cf-702b-47fc-aba5-41bd10dc1e75</TermId>
        </TermInfo>
      </Terms>
    </hd9637eefc984b85b6097c6374e15725>
    <Owner xmlns="230e9df3-be65-4c73-a93b-d1236ebd677e">
      <UserInfo>
        <DisplayName>Kaiser Larsen</DisplayName>
        <AccountId>202796</AccountId>
        <AccountType/>
      </UserInfo>
    </Owner>
    <PublishDate xmlns="230E9DF3-BE65-4C73-A93B-D1236EBD677E">2019-11-04T08:00:00+00:00</PublishDate>
    <GenericHTML1 xmlns="230e9df3-be65-4c73-a93b-d1236ebd677e" xsi:nil="true"/>
    <k21a64daf20d4502b2796a1c6b8ce6c8 xmlns="230e9df3-be65-4c73-a93b-d1236ebd677e">
      <Terms xmlns="http://schemas.microsoft.com/office/infopath/2007/PartnerControls"/>
    </k21a64daf20d4502b2796a1c6b8ce6c8>
    <OwnersManager xmlns="230e9df3-be65-4c73-a93b-d1236ebd677e">
      <UserInfo>
        <DisplayName>Daniel Yu</DisplayName>
        <AccountId>192295</AccountId>
        <AccountType/>
      </UserInfo>
    </OwnersManager>
    <Expire_x0020_Review xmlns="230e9df3-be65-4c73-a93b-d1236ebd677e">2020-11-04T08:00:00+00:00</Expire_x0020_Review>
    <l3c3ea61849e4288a8acc49bb5388e8c xmlns="230e9df3-be65-4c73-a93b-d1236ebd677e">
      <Terms xmlns="http://schemas.microsoft.com/office/infopath/2007/PartnerControls">
        <TermInfo xmlns="http://schemas.microsoft.com/office/infopath/2007/PartnerControls">
          <TermName xmlns="http://schemas.microsoft.com/office/infopath/2007/PartnerControls">SQL Server Marketing</TermName>
          <TermId xmlns="http://schemas.microsoft.com/office/infopath/2007/PartnerControls">bb7921b3-c1d8-4da4-b894-8b6075d9546d</TermId>
        </TermInfo>
        <TermInfo xmlns="http://schemas.microsoft.com/office/infopath/2007/PartnerControls">
          <TermName xmlns="http://schemas.microsoft.com/office/infopath/2007/PartnerControls">Cloud + AI Marketing</TermName>
          <TermId xmlns="http://schemas.microsoft.com/office/infopath/2007/PartnerControls">4f75e184-e5aa-4234-a07f-b032d60df254</TermId>
        </TermInfo>
      </Terms>
    </l3c3ea61849e4288a8acc49bb5388e8c>
    <ConfidentialityTaxHTField0 xmlns="230e9df3-be65-4c73-a93b-d1236ebd677e">
      <Terms xmlns="http://schemas.microsoft.com/office/infopath/2007/PartnerControls">
        <TermInfo xmlns="http://schemas.microsoft.com/office/infopath/2007/PartnerControls">
          <TermName xmlns="http://schemas.microsoft.com/office/infopath/2007/PartnerControls">internal users</TermName>
          <TermId xmlns="http://schemas.microsoft.com/office/infopath/2007/PartnerControls">461efa83-0283-486a-a8d5-943328f3693f</TermId>
        </TermInfo>
      </Terms>
    </ConfidentialityTaxHTField0>
    <i7ea4c13ddfd467b9bb281d44c777b52 xmlns="230e9df3-be65-4c73-a93b-d1236ebd677e">
      <Terms xmlns="http://schemas.microsoft.com/office/infopath/2007/PartnerControls">
        <TermInfo xmlns="http://schemas.microsoft.com/office/infopath/2007/PartnerControls">
          <TermName xmlns="http://schemas.microsoft.com/office/infopath/2007/PartnerControls">documents</TermName>
          <TermId xmlns="http://schemas.microsoft.com/office/infopath/2007/PartnerControls">e037ed84-7d8e-4cbb-9c8f-61e80301a44f</TermId>
        </TermInfo>
      </Terms>
    </i7ea4c13ddfd467b9bb281d44c777b52>
    <Blog_x0020_Name xmlns="230e9df3-be65-4c73-a93b-d1236ebd677e" xsi:nil="true"/>
    <FolderExtensions xmlns="230e9df3-be65-4c73-a93b-d1236ebd677e" xsi:nil="true"/>
    <eb54ac91059940029a3cc8a4ff5af673 xmlns="230e9df3-be65-4c73-a93b-d1236ebd677e">
      <Terms xmlns="http://schemas.microsoft.com/office/infopath/2007/PartnerControls">
        <TermInfo xmlns="http://schemas.microsoft.com/office/infopath/2007/PartnerControls">
          <TermName xmlns="http://schemas.microsoft.com/office/infopath/2007/PartnerControls">Gear Up</TermName>
          <TermId xmlns="http://schemas.microsoft.com/office/infopath/2007/PartnerControls">5bd03d8b-c198-4367-bd72-be9dad12d703</TermId>
        </TermInfo>
        <TermInfo xmlns="http://schemas.microsoft.com/office/infopath/2007/PartnerControls">
          <TermName xmlns="http://schemas.microsoft.com/office/infopath/2007/PartnerControls">Server and Tools Business</TermName>
          <TermId xmlns="http://schemas.microsoft.com/office/infopath/2007/PartnerControls">6783548d-8609-4f97-be4a-4ca2616905a6</TermId>
        </TermInfo>
        <TermInfo xmlns="http://schemas.microsoft.com/office/infopath/2007/PartnerControls">
          <TermName xmlns="http://schemas.microsoft.com/office/infopath/2007/PartnerControls">SQL Server Domain</TermName>
          <TermId xmlns="http://schemas.microsoft.com/office/infopath/2007/PartnerControls">0c0f1824-39dc-4b26-8c74-eff4364b812b</TermId>
        </TermInfo>
        <TermInfo xmlns="http://schemas.microsoft.com/office/infopath/2007/PartnerControls">
          <TermName xmlns="http://schemas.microsoft.com/office/infopath/2007/PartnerControls">Compete Domain</TermName>
          <TermId xmlns="http://schemas.microsoft.com/office/infopath/2007/PartnerControls">b64df03d-ac6e-47e3-a629-66762ad81f36</TermId>
        </TermInfo>
        <TermInfo xmlns="http://schemas.microsoft.com/office/infopath/2007/PartnerControls">
          <TermName xmlns="http://schemas.microsoft.com/office/infopath/2007/PartnerControls">Intelligent C</TermName>
          <TermId xmlns="http://schemas.microsoft.com/office/infopath/2007/PartnerControls">adc2fe87-c79a-4ded-a449-3f86b954069d</TermId>
        </TermInfo>
      </Terms>
    </eb54ac91059940029a3cc8a4ff5af673>
    <PublishingPageContent xmlns="http://schemas.microsoft.com/sharepoint/v3" xsi:nil="true"/>
    <ContentID xmlns="230e9df3-be65-4c73-a93b-d1236ebd677e" xsi:nil="true"/>
    <Coowner xmlns="230e9df3-be65-4c73-a93b-d1236ebd677e">
      <UserInfo>
        <DisplayName/>
        <AccountId xsi:nil="true"/>
        <AccountType/>
      </UserInfo>
    </Coowner>
    <mafbf0bb15774bf782b6f7937f17c8ce xmlns="230e9df3-be65-4c73-a93b-d1236ebd677e">
      <Terms xmlns="http://schemas.microsoft.com/office/infopath/2007/PartnerControls">
        <TermInfo xmlns="http://schemas.microsoft.com/office/infopath/2007/PartnerControls">
          <TermName xmlns="http://schemas.microsoft.com/office/infopath/2007/PartnerControls">Sales</TermName>
          <TermId xmlns="http://schemas.microsoft.com/office/infopath/2007/PartnerControls">72627068-acd7-4c1a-8b95-a0256be5dc9f</TermId>
        </TermInfo>
      </Terms>
    </mafbf0bb15774bf782b6f7937f17c8ce>
    <ef109fd36bcf4bcd9dd945731030600b xmlns="230e9df3-be65-4c73-a93b-d1236ebd677e">
      <Terms xmlns="http://schemas.microsoft.com/office/infopath/2007/PartnerControls"/>
    </ef109fd36bcf4bcd9dd945731030600b>
    <ApplyWorkflowRules xmlns="230E9DF3-BE65-4C73-A93B-D1236EBD677E">Yes</ApplyWorkflowRules>
    <ec5b2ad5c27b45fb8a00a1f27c7ce1ae xmlns="230e9df3-be65-4c73-a93b-d1236ebd677e">
      <Terms xmlns="http://schemas.microsoft.com/office/infopath/2007/PartnerControls"/>
    </ec5b2ad5c27b45fb8a00a1f27c7ce1ae>
    <bf80e81150e248c48aa8cffdf0021a1f xmlns="230e9df3-be65-4c73-a93b-d1236ebd677e">
      <Terms xmlns="http://schemas.microsoft.com/office/infopath/2007/PartnerControls">
        <TermInfo xmlns="http://schemas.microsoft.com/office/infopath/2007/PartnerControls">
          <TermName xmlns="http://schemas.microsoft.com/office/infopath/2007/PartnerControls">Azure technologies</TermName>
          <TermId xmlns="http://schemas.microsoft.com/office/infopath/2007/PartnerControls">8bd4bfc2-b1c5-44e2-9165-9255aba99e0e</TermId>
        </TermInfo>
        <TermInfo xmlns="http://schemas.microsoft.com/office/infopath/2007/PartnerControls">
          <TermName xmlns="http://schemas.microsoft.com/office/infopath/2007/PartnerControls"> Azure Analysis Services</TermName>
          <TermId xmlns="http://schemas.microsoft.com/office/infopath/2007/PartnerControls">676e24e2-def1-49a0-b1fa-d605db7680a3</TermId>
        </TermInfo>
      </Terms>
    </bf80e81150e248c48aa8cffdf0021a1f>
    <m6d26e40ac264097a006193f92232ece xmlns="230e9df3-be65-4c73-a93b-d1236ebd677e">
      <Terms xmlns="http://schemas.microsoft.com/office/infopath/2007/PartnerControls">
        <TermInfo xmlns="http://schemas.microsoft.com/office/infopath/2007/PartnerControls">
          <TermName xmlns="http://schemas.microsoft.com/office/infopath/2007/PartnerControls">300 (advanced)</TermName>
          <TermId xmlns="http://schemas.microsoft.com/office/infopath/2007/PartnerControls">6a5f978f-2506-442d-86c2-7f294468d8c9</TermId>
        </TermInfo>
      </Terms>
    </m6d26e40ac264097a006193f92232ece>
    <b60f8d2dbb984f349d80d8196897f4d3 xmlns="230e9df3-be65-4c73-a93b-d1236ebd677e">
      <Terms xmlns="http://schemas.microsoft.com/office/infopath/2007/PartnerControls">
        <TermInfo xmlns="http://schemas.microsoft.com/office/infopath/2007/PartnerControls">
          <TermName xmlns="http://schemas.microsoft.com/office/infopath/2007/PartnerControls">Technical Sales</TermName>
          <TermId xmlns="http://schemas.microsoft.com/office/infopath/2007/PartnerControls">831f7989-43a4-4e48-852a-a5355978f47f</TermId>
        </TermInfo>
      </Terms>
    </b60f8d2dbb984f349d80d8196897f4d3>
    <Thumbnail1 xmlns="230e9df3-be65-4c73-a93b-d1236ebd677e">
      <Url xsi:nil="true"/>
      <Description xsi:nil="true"/>
    </Thumbnail1>
    <i0d941ee1e744ffea7aeee9924c91cbb xmlns="230e9df3-be65-4c73-a93b-d1236ebd677e">
      <Terms xmlns="http://schemas.microsoft.com/office/infopath/2007/PartnerControls">
        <TermInfo xmlns="http://schemas.microsoft.com/office/infopath/2007/PartnerControls">
          <TermName xmlns="http://schemas.microsoft.com/office/infopath/2007/PartnerControls">modern data warehouses</TermName>
          <TermId xmlns="http://schemas.microsoft.com/office/infopath/2007/PartnerControls">73a3f3c0-b1f4-4059-b3f7-d568167cd895</TermId>
        </TermInfo>
      </Terms>
    </i0d941ee1e744ffea7aeee9924c91cbb>
    <PublishingExpirationDate xmlns="http://schemas.microsoft.com/sharepoint/v3" xsi:nil="true"/>
    <ga0c0bf70a6644469c61b3efa7025301 xmlns="230e9df3-be65-4c73-a93b-d1236ebd677e">
      <Terms xmlns="http://schemas.microsoft.com/office/infopath/2007/PartnerControls"/>
    </ga0c0bf70a6644469c61b3efa7025301>
    <RoutingRuleDescription xmlns="http://schemas.microsoft.com/sharepoint/v3" xsi:nil="true"/>
    <i1b478372f814787abd313030b81fcb2 xmlns="230e9df3-be65-4c73-a93b-d1236ebd677e">
      <Terms xmlns="http://schemas.microsoft.com/office/infopath/2007/PartnerControls"/>
    </i1b478372f814787abd313030b81fcb2>
    <TaxKeywordTaxHTField xmlns="230e9df3-be65-4c73-a93b-d1236ebd677e">
      <Terms xmlns="http://schemas.microsoft.com/office/infopath/2007/PartnerControls"/>
    </TaxKeywordTaxHTField>
    <ReportOwner xmlns="http://schemas.microsoft.com/sharepoint/v3">
      <UserInfo>
        <DisplayName/>
        <AccountId xsi:nil="true"/>
        <AccountType/>
      </UserInfo>
    </ReportOwner>
    <b4224c12c78d42ea9b214de0badf8358 xmlns="230e9df3-be65-4c73-a93b-d1236ebd677e">
      <Terms xmlns="http://schemas.microsoft.com/office/infopath/2007/PartnerControls"/>
    </b4224c12c78d42ea9b214de0badf8358>
    <m5tz xmlns="1c7e1a94-f886-43f0-af7a-031cdfff3ff3">
      <UserInfo>
        <DisplayName>Daniel Yu</DisplayName>
        <AccountId>192295</AccountId>
        <AccountType/>
      </UserInfo>
    </m5tz>
    <Update_x0020_Parent_x0020_Child_x0020_Relation_x0020_for_x0020_KCDOCs2 xmlns="1c7e1a94-f886-43f0-af7a-031cdfff3ff3">
      <Url xsi:nil="true"/>
      <Description xsi:nil="true"/>
    </Update_x0020_Parent_x0020_Child_x0020_Relation_x0020_for_x0020_KCDOCs2>
    <TaxCatchAll xmlns="230e9df3-be65-4c73-a93b-d1236ebd677e">
      <Value>3068</Value>
      <Value>401</Value>
      <Value>399</Value>
      <Value>361</Value>
      <Value>3430</Value>
      <Value>3094</Value>
      <Value>22</Value>
      <Value>21</Value>
      <Value>3091</Value>
      <Value>3089</Value>
      <Value>1628</Value>
      <Value>5</Value>
      <Value>82</Value>
      <Value>435</Value>
      <Value>42</Value>
      <Value>780</Value>
      <Value>185</Value>
    </TaxCatchAll>
    <ParentID1 xmlns="230e9df3-be65-4c73-a93b-d1236ebd677e">G01KC-2-5408</ParentID1>
    <mb88723863e1404388ba3733387d48df xmlns="230e9df3-be65-4c73-a93b-d1236ebd677e">
      <Terms xmlns="http://schemas.microsoft.com/office/infopath/2007/PartnerControls"/>
    </mb88723863e1404388ba3733387d48df>
    <GenericText2 xmlns="230e9df3-be65-4c73-a93b-d1236ebd677e" xsi:nil="true"/>
    <kf34bcdc8fc34e479d3f94c6210e8e27 xmlns="230e9df3-be65-4c73-a93b-d1236ebd677e">
      <Terms xmlns="http://schemas.microsoft.com/office/infopath/2007/PartnerControls"/>
    </kf34bcdc8fc34e479d3f94c6210e8e27>
    <m6c7b4717b6346e6a075a59dd47eac69 xmlns="230e9df3-be65-4c73-a93b-d1236ebd677e">
      <Terms xmlns="http://schemas.microsoft.com/office/infopath/2007/PartnerControls"/>
    </m6c7b4717b6346e6a075a59dd47eac69>
    <k8073fd852084ec1ba6e2c8d5ade6bf8 xmlns="230e9df3-be65-4c73-a93b-d1236ebd677e">
      <Terms xmlns="http://schemas.microsoft.com/office/infopath/2007/PartnerControls">
        <TermInfo xmlns="http://schemas.microsoft.com/office/infopath/2007/PartnerControls">
          <TermName xmlns="http://schemas.microsoft.com/office/infopath/2007/PartnerControls">Applications and Infrastructure</TermName>
          <TermId xmlns="http://schemas.microsoft.com/office/infopath/2007/PartnerControls">f69679d5-ce87-4413-9040-82ea79c5c527</TermId>
        </TermInfo>
      </Terms>
    </k8073fd852084ec1ba6e2c8d5ade6bf8>
    <_dlc_DocId xmlns="230e9df3-be65-4c73-a93b-d1236ebd677e">G01KC-1878465518-5412</_dlc_DocId>
    <_dlc_ExpireDateSaved xmlns="http://schemas.microsoft.com/sharepoint/v3" xsi:nil="true"/>
    <_dlc_ExpireDate xmlns="http://schemas.microsoft.com/sharepoint/v3">2020-11-04T08:00:00+00:00</_dlc_ExpireDate>
    <_dlc_DocIdUrl xmlns="230e9df3-be65-4c73-a93b-d1236ebd677e">
      <Url>https://microsoft.sharepoint.com/sites/Infopedia_G01KC/_layouts/15/DocIdRedir.aspx?ID=G01KC-1878465518-5412</Url>
      <Description>G01KC-1878465518-5412</Description>
    </_dlc_DocIdUrl>
  </documentManagement>
</p:properties>
</file>

<file path=customXml/itemProps1.xml><?xml version="1.0" encoding="utf-8"?>
<ds:datastoreItem xmlns:ds="http://schemas.openxmlformats.org/officeDocument/2006/customXml" ds:itemID="{19307392-510A-4D98-871F-EFF00900BA0B}">
  <ds:schemaRefs/>
</ds:datastoreItem>
</file>

<file path=customXml/itemProps2.xml><?xml version="1.0" encoding="utf-8"?>
<ds:datastoreItem xmlns:ds="http://schemas.openxmlformats.org/officeDocument/2006/customXml" ds:itemID="{3B1F71C6-A2F8-45B4-A1B3-34B43327329F}">
  <ds:schemaRefs/>
</ds:datastoreItem>
</file>

<file path=customXml/itemProps3.xml><?xml version="1.0" encoding="utf-8"?>
<ds:datastoreItem xmlns:ds="http://schemas.openxmlformats.org/officeDocument/2006/customXml" ds:itemID="{6E25B5AE-C1DF-41F7-B764-625265CFB36A}">
  <ds:schemaRefs/>
</ds:datastoreItem>
</file>

<file path=customXml/itemProps4.xml><?xml version="1.0" encoding="utf-8"?>
<ds:datastoreItem xmlns:ds="http://schemas.openxmlformats.org/officeDocument/2006/customXml" ds:itemID="{87804885-4D21-47C6-B20A-18EC5012510A}">
  <ds:schemaRefs/>
</ds:datastoreItem>
</file>

<file path=customXml/itemProps5.xml><?xml version="1.0" encoding="utf-8"?>
<ds:datastoreItem xmlns:ds="http://schemas.openxmlformats.org/officeDocument/2006/customXml" ds:itemID="{40513BFA-8EB3-44FF-ACB8-169FFB2C589E}">
  <ds:schemaRefs/>
</ds:datastoreItem>
</file>

<file path=customXml/itemProps6.xml><?xml version="1.0" encoding="utf-8"?>
<ds:datastoreItem xmlns:ds="http://schemas.openxmlformats.org/officeDocument/2006/customXml" ds:itemID="{A133BF00-D0CD-460D-9EC3-E04D02867433}">
  <ds:schemaRefs/>
</ds:datastoreItem>
</file>

<file path=docProps/app.xml><?xml version="1.0" encoding="utf-8"?>
<Properties xmlns="http://schemas.openxmlformats.org/officeDocument/2006/extended-properties" xmlns:vt="http://schemas.openxmlformats.org/officeDocument/2006/docPropsVTypes">
  <TotalTime>0</TotalTime>
  <Words>18019</Words>
  <Application>WPS Presentation</Application>
  <PresentationFormat>Widescreen</PresentationFormat>
  <Paragraphs>597</Paragraphs>
  <Slides>65</Slides>
  <Notes>59</Notes>
  <HiddenSlides>0</HiddenSlides>
  <MMClips>0</MMClips>
  <ScaleCrop>false</ScaleCrop>
  <HeadingPairs>
    <vt:vector size="6" baseType="variant">
      <vt:variant>
        <vt:lpstr>已用的字体</vt:lpstr>
      </vt:variant>
      <vt:variant>
        <vt:i4>20</vt:i4>
      </vt:variant>
      <vt:variant>
        <vt:lpstr>主题</vt:lpstr>
      </vt:variant>
      <vt:variant>
        <vt:i4>12</vt:i4>
      </vt:variant>
      <vt:variant>
        <vt:lpstr>幻灯片标题</vt:lpstr>
      </vt:variant>
      <vt:variant>
        <vt:i4>65</vt:i4>
      </vt:variant>
    </vt:vector>
  </HeadingPairs>
  <TitlesOfParts>
    <vt:vector size="97" baseType="lpstr">
      <vt:lpstr>Arial</vt:lpstr>
      <vt:lpstr>SimSun</vt:lpstr>
      <vt:lpstr>Wingdings</vt:lpstr>
      <vt:lpstr>Segoe UI</vt:lpstr>
      <vt:lpstr>Segoe UI Semibold</vt:lpstr>
      <vt:lpstr>Arial</vt:lpstr>
      <vt:lpstr>Segoe light</vt:lpstr>
      <vt:lpstr>Segoe Print</vt:lpstr>
      <vt:lpstr>Segoe UI Semilight</vt:lpstr>
      <vt:lpstr>TT Hoves</vt:lpstr>
      <vt:lpstr>Lucida Sans</vt:lpstr>
      <vt:lpstr>Lucida Sans Unicode</vt:lpstr>
      <vt:lpstr>Microsoft YaHei</vt:lpstr>
      <vt:lpstr>Arial Unicode MS</vt:lpstr>
      <vt:lpstr>Calibri</vt:lpstr>
      <vt:lpstr>Tahoma</vt:lpstr>
      <vt:lpstr>Segoe UI Light</vt:lpstr>
      <vt:lpstr>Segoe UI</vt:lpstr>
      <vt:lpstr>Microsoft Sans Serif</vt:lpstr>
      <vt:lpstr>Calibri</vt:lpstr>
      <vt:lpstr>Azure PPT Template - 2018</vt:lpstr>
      <vt:lpstr>1_White Template</vt:lpstr>
      <vt:lpstr>2_White Template</vt:lpstr>
      <vt:lpstr>1_pass</vt:lpstr>
      <vt:lpstr>1_Azure PPT Template - 2018</vt:lpstr>
      <vt:lpstr>4_White Template</vt:lpstr>
      <vt:lpstr>10_White Template</vt:lpstr>
      <vt:lpstr>11_White Template</vt:lpstr>
      <vt:lpstr>12_White Template</vt:lpstr>
      <vt:lpstr>2_Azure PPT Template - 2018</vt:lpstr>
      <vt:lpstr>PC Architect Boot Camp 2019</vt:lpstr>
      <vt:lpstr>3_Azure PPT Template - 2018</vt:lpstr>
      <vt:lpstr>PowerPoint 演示文稿</vt:lpstr>
      <vt:lpstr>Using ROS MoveIt &amp; Navigation Stack  </vt:lpstr>
      <vt:lpstr>What is</vt:lpstr>
      <vt:lpstr>Why MoveIt?</vt:lpstr>
      <vt:lpstr>MoveIt Survey in 2019 </vt:lpstr>
      <vt:lpstr>MoveIt: Evolution of a Motion Planning Platform</vt:lpstr>
      <vt:lpstr>MoveIt 1 vs MoveIt 2</vt:lpstr>
      <vt:lpstr>Functionalities of MoveIt</vt:lpstr>
      <vt:lpstr>Functionalities of MoveIt</vt:lpstr>
      <vt:lpstr>Functionalities of MoveIt</vt:lpstr>
      <vt:lpstr>What are the Research Libraries in MoveIt?</vt:lpstr>
      <vt:lpstr>Moveit System Architecture</vt:lpstr>
      <vt:lpstr>Motion Planning Framework Architecture of MoveIt</vt:lpstr>
      <vt:lpstr>MoveIt Plugin Ecosystem</vt:lpstr>
      <vt:lpstr>MoveIt Architecture with Global and Local Planners in ROS 2</vt:lpstr>
      <vt:lpstr>Global vs Local Planners</vt:lpstr>
      <vt:lpstr>How the Parallel Planning Architecture in MoveIt 2 Works</vt:lpstr>
      <vt:lpstr>How the Parallel Planning Architecture in MoveIt 2 Works</vt:lpstr>
      <vt:lpstr>How the Parallel Planning Architecture in MoveIt 2 Works</vt:lpstr>
      <vt:lpstr>How the Parallel Planning Architecture in MoveIt 2 Works</vt:lpstr>
      <vt:lpstr>How the Parallel Planning Architecture in MoveIt 2 Works</vt:lpstr>
      <vt:lpstr>How the Parallel Planning Architecture in MoveIt 2 Works</vt:lpstr>
      <vt:lpstr>How the Parallel Planning Architecture in MoveIt 2 Works</vt:lpstr>
      <vt:lpstr>How the Parallel Planning Architecture in MoveIt 2 Works</vt:lpstr>
      <vt:lpstr>Grasping using Deep Learning</vt:lpstr>
      <vt:lpstr>Grasping using Deep Learning</vt:lpstr>
      <vt:lpstr>Advanced Applications of Moveit</vt:lpstr>
      <vt:lpstr>Advanced Applications of Moveit</vt:lpstr>
      <vt:lpstr>Advanced Applications of Moveit</vt:lpstr>
      <vt:lpstr>Advanced Applications of Moveit</vt:lpstr>
      <vt:lpstr>Advanced Applications of Moveit</vt:lpstr>
      <vt:lpstr>Advanced Applications of Moveit</vt:lpstr>
      <vt:lpstr>Land, Sea, Air with MoveIt!</vt:lpstr>
      <vt:lpstr>Land with MoveIt!</vt:lpstr>
      <vt:lpstr>Sea with MoveIt!</vt:lpstr>
      <vt:lpstr>Air with MoveIt!</vt:lpstr>
      <vt:lpstr>ROS2 Grasp Library</vt:lpstr>
      <vt:lpstr>Hardware Integration Challenges</vt:lpstr>
      <vt:lpstr>ROS2 Grasp Library</vt:lpstr>
      <vt:lpstr>What is TracIK? </vt:lpstr>
      <vt:lpstr>What is REACH? </vt:lpstr>
      <vt:lpstr>What is REACH? </vt:lpstr>
      <vt:lpstr>What is Pilz Industrial Motion? </vt:lpstr>
      <vt:lpstr>What is MoveIt Grasps? </vt:lpstr>
      <vt:lpstr>What is MoveIt Grasps? </vt:lpstr>
      <vt:lpstr>RViz vs MoveIt</vt:lpstr>
      <vt:lpstr>MoveIt vs ROS 2</vt:lpstr>
      <vt:lpstr>Advantages of MoveIt with ROS 2</vt:lpstr>
      <vt:lpstr>Advantages of MoveIt with ROS 2</vt:lpstr>
      <vt:lpstr>Advantages of MoveIt with ROS 2</vt:lpstr>
      <vt:lpstr>Advantages of MoveIt with ROS 2</vt:lpstr>
      <vt:lpstr>Advantages of MoveIt with ROS 2</vt:lpstr>
      <vt:lpstr>Advantages of MoveIt with ROS 2</vt:lpstr>
      <vt:lpstr>Advantages of MoveIt with ROS 2</vt:lpstr>
      <vt:lpstr>Advantages of MoveIt with ROS 2</vt:lpstr>
      <vt:lpstr>Advantages of MoveIt with ROS 2</vt:lpstr>
      <vt:lpstr>Limitations of MoveIt</vt:lpstr>
      <vt:lpstr>Limitations of MoveIt</vt:lpstr>
      <vt:lpstr>Limitations of MoveIt</vt:lpstr>
      <vt:lpstr>Limitations of MoveIt</vt:lpstr>
      <vt:lpstr>Limitations of MoveIt</vt:lpstr>
      <vt:lpstr>Limitations of MoveIt</vt:lpstr>
      <vt:lpstr>Limitations of MoveIt</vt:lpstr>
      <vt:lpstr>Q &amp; A</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Synapse Analytics Technical Deck</dc:title>
  <dc:creator>Charles Feddersen</dc:creator>
  <cp:lastModifiedBy>Esat Jahan Akhi</cp:lastModifiedBy>
  <cp:revision>360</cp:revision>
  <cp:lastPrinted>2019-02-05T01:14:00Z</cp:lastPrinted>
  <dcterms:created xsi:type="dcterms:W3CDTF">2026-09-03T19:30:09Z</dcterms:created>
  <dcterms:modified xsi:type="dcterms:W3CDTF">2026-09-03T19:32:05Z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robinc@microsoft.com</vt:lpwstr>
  </property>
  <property fmtid="{D5CDD505-2E9C-101B-9397-08002B2CF9AE}" pid="5" name="MSIP_Label_f42aa342-8706-4288-bd11-ebb85995028c_SetDate">
    <vt:lpwstr>2018-07-05T15:52:49.4194012Z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y fmtid="{D5CDD505-2E9C-101B-9397-08002B2CF9AE}" pid="10" name="ContentTypeId">
    <vt:lpwstr>0x0101000E4CB7077FEE4FF7AE86D4A500EEC780030016C849C62B10EB41ACA8C7EEDEF40BB2006A83F15B98C1FD4E8D76F6993277120D</vt:lpwstr>
  </property>
  <property fmtid="{D5CDD505-2E9C-101B-9397-08002B2CF9AE}" pid="11" name="AuthorIds_UIVersion_40960">
    <vt:lpwstr>1418</vt:lpwstr>
  </property>
  <property fmtid="{D5CDD505-2E9C-101B-9397-08002B2CF9AE}" pid="12" name="AuthorIds_UIVersion_512">
    <vt:lpwstr>76</vt:lpwstr>
  </property>
  <property fmtid="{D5CDD505-2E9C-101B-9397-08002B2CF9AE}" pid="13" name="AuthorIds_UIVersion_4096">
    <vt:lpwstr>149</vt:lpwstr>
  </property>
  <property fmtid="{D5CDD505-2E9C-101B-9397-08002B2CF9AE}" pid="14" name="TaxKeyword">
    <vt:lpwstr/>
  </property>
  <property fmtid="{D5CDD505-2E9C-101B-9397-08002B2CF9AE}" pid="15" name="NewsType">
    <vt:lpwstr/>
  </property>
  <property fmtid="{D5CDD505-2E9C-101B-9397-08002B2CF9AE}" pid="16" name="_dlc_policyId">
    <vt:lpwstr>0x0101000E4CB7077FEE4FF7AE86D4A500EEC780030016C849C62B10EB41ACA8C7EEDEF40BB20099ECF64382448D48A56095091C66B1A9|-661092312</vt:lpwstr>
  </property>
  <property fmtid="{D5CDD505-2E9C-101B-9397-08002B2CF9AE}" pid="17" name="Region">
    <vt:lpwstr/>
  </property>
  <property fmtid="{D5CDD505-2E9C-101B-9397-08002B2CF9AE}" pid="18" name="Confidentiality">
    <vt:lpwstr>5;#internal users|461efa83-0283-486a-a8d5-943328f3693f</vt:lpwstr>
  </property>
  <property fmtid="{D5CDD505-2E9C-101B-9397-08002B2CF9AE}" pid="19" name="ItemType">
    <vt:lpwstr>435;#technical presentations|83a894cf-702b-47fc-aba5-41bd10dc1e75</vt:lpwstr>
  </property>
  <property fmtid="{D5CDD505-2E9C-101B-9397-08002B2CF9AE}" pid="20" name="ODSWF1">
    <vt:lpwstr>, </vt:lpwstr>
  </property>
  <property fmtid="{D5CDD505-2E9C-101B-9397-08002B2CF9AE}" pid="21" name="ODSWF(1)0">
    <vt:lpwstr>, </vt:lpwstr>
  </property>
  <property fmtid="{D5CDD505-2E9C-101B-9397-08002B2CF9AE}" pid="22" name="Industries">
    <vt:lpwstr/>
  </property>
  <property fmtid="{D5CDD505-2E9C-101B-9397-08002B2CF9AE}" pid="23" name="MSProducts">
    <vt:lpwstr/>
  </property>
  <property fmtid="{D5CDD505-2E9C-101B-9397-08002B2CF9AE}" pid="24" name="Competitors">
    <vt:lpwstr/>
  </property>
  <property fmtid="{D5CDD505-2E9C-101B-9397-08002B2CF9AE}" pid="25" name="SMSGDomain">
    <vt:lpwstr>1628;#Gear Up|5bd03d8b-c198-4367-bd72-be9dad12d703;#22;#Server and Tools Business|6783548d-8609-4f97-be4a-4ca2616905a6;#82;#SQL Server Domain|0c0f1824-39dc-4b26-8c74-eff4364b812b;#185;#Compete Domain|b64df03d-ac6e-47e3-a629-66762ad81f36;#21;#Intelligent C</vt:lpwstr>
  </property>
  <property fmtid="{D5CDD505-2E9C-101B-9397-08002B2CF9AE}" pid="26" name="ExperienceContentType">
    <vt:lpwstr/>
  </property>
  <property fmtid="{D5CDD505-2E9C-101B-9397-08002B2CF9AE}" pid="27" name="Update Parent Child Relation(1)1">
    <vt:lpwstr>, </vt:lpwstr>
  </property>
  <property fmtid="{D5CDD505-2E9C-101B-9397-08002B2CF9AE}" pid="28" name="BusinessArchitecture">
    <vt:lpwstr>401;#modern data warehouses|73a3f3c0-b1f4-4059-b3f7-d568167cd895</vt:lpwstr>
  </property>
  <property fmtid="{D5CDD505-2E9C-101B-9397-08002B2CF9AE}" pid="29" name="Products">
    <vt:lpwstr>780;#Azure technologies|8bd4bfc2-b1c5-44e2-9165-9255aba99e0e;#3430;# Azure Analysis Services|676e24e2-def1-49a0-b1fa-d605db7680a3</vt:lpwstr>
  </property>
  <property fmtid="{D5CDD505-2E9C-101B-9397-08002B2CF9AE}" pid="30" name="ODSWF2">
    <vt:lpwstr>, </vt:lpwstr>
  </property>
  <property fmtid="{D5CDD505-2E9C-101B-9397-08002B2CF9AE}" pid="31" name="ODSWF(1)1">
    <vt:lpwstr>, </vt:lpwstr>
  </property>
  <property fmtid="{D5CDD505-2E9C-101B-9397-08002B2CF9AE}" pid="32" name="l6f004f21209409da86a713c0f24627d">
    <vt:lpwstr/>
  </property>
  <property fmtid="{D5CDD505-2E9C-101B-9397-08002B2CF9AE}" pid="33" name="_ip_UnifiedCompliancePolicyUIAction">
    <vt:lpwstr/>
  </property>
  <property fmtid="{D5CDD505-2E9C-101B-9397-08002B2CF9AE}" pid="34" name="MSProductsTaxHTField0">
    <vt:lpwstr/>
  </property>
  <property fmtid="{D5CDD505-2E9C-101B-9397-08002B2CF9AE}" pid="35" name="e8080b0481964c759b2c36ae49591b31">
    <vt:lpwstr/>
  </property>
  <property fmtid="{D5CDD505-2E9C-101B-9397-08002B2CF9AE}" pid="36" name="_docset_NoMedatataSyncRequired">
    <vt:lpwstr>False</vt:lpwstr>
  </property>
  <property fmtid="{D5CDD505-2E9C-101B-9397-08002B2CF9AE}" pid="37" name="TechnicalLevel">
    <vt:lpwstr>3068;#300 (advanced)|6a5f978f-2506-442d-86c2-7f294468d8c9</vt:lpwstr>
  </property>
  <property fmtid="{D5CDD505-2E9C-101B-9397-08002B2CF9AE}" pid="38" name="Audiences">
    <vt:lpwstr/>
  </property>
  <property fmtid="{D5CDD505-2E9C-101B-9397-08002B2CF9AE}" pid="39" name="_ip_UnifiedCompliancePolicyProperties">
    <vt:lpwstr/>
  </property>
  <property fmtid="{D5CDD505-2E9C-101B-9397-08002B2CF9AE}" pid="40" name="ldac8aee9d1f469e8cd8c3f8d6a615f2">
    <vt:lpwstr/>
  </property>
  <property fmtid="{D5CDD505-2E9C-101B-9397-08002B2CF9AE}" pid="41" name="EmployeeRole">
    <vt:lpwstr/>
  </property>
  <property fmtid="{D5CDD505-2E9C-101B-9397-08002B2CF9AE}" pid="42" name="NewsTopic">
    <vt:lpwstr/>
  </property>
  <property fmtid="{D5CDD505-2E9C-101B-9397-08002B2CF9AE}" pid="43" name="Roles">
    <vt:lpwstr>361;#Technical Sales|831f7989-43a4-4e48-852a-a5355978f47f</vt:lpwstr>
  </property>
  <property fmtid="{D5CDD505-2E9C-101B-9397-08002B2CF9AE}" pid="44" name="ODSWF2(1)">
    <vt:lpwstr>, </vt:lpwstr>
  </property>
  <property fmtid="{D5CDD505-2E9C-101B-9397-08002B2CF9AE}" pid="45" name="ItemRetentionFormula">
    <vt:lpwstr>&lt;formula id="Microsoft.Office.RecordsManagement.PolicyFeatures.Expiration.Formula.BuiltIn"&gt;&lt;number&gt;0&lt;/number&gt;&lt;property&gt;Expire_x005f_x0020_Review&lt;/property&gt;&lt;propertyId&gt;4efb7b69-53dd-4711-a372-96a7c80c7a38&lt;/propertyId&gt;&lt;period&gt;days&lt;/period&gt;&lt;/formula&gt;</vt:lpwstr>
  </property>
  <property fmtid="{D5CDD505-2E9C-101B-9397-08002B2CF9AE}" pid="46" name="NewsSource">
    <vt:lpwstr/>
  </property>
  <property fmtid="{D5CDD505-2E9C-101B-9397-08002B2CF9AE}" pid="47" name="SMSGTags">
    <vt:lpwstr/>
  </property>
  <property fmtid="{D5CDD505-2E9C-101B-9397-08002B2CF9AE}" pid="48" name="ODSWF2(1)0">
    <vt:lpwstr>, </vt:lpwstr>
  </property>
  <property fmtid="{D5CDD505-2E9C-101B-9397-08002B2CF9AE}" pid="49" name="_dlc_DocIdItemGuid">
    <vt:lpwstr>050baf4f-6ffd-41de-8553-4347f00e5c0b</vt:lpwstr>
  </property>
  <property fmtid="{D5CDD505-2E9C-101B-9397-08002B2CF9AE}" pid="50" name="MSPhysicalGeography">
    <vt:lpwstr/>
  </property>
  <property fmtid="{D5CDD505-2E9C-101B-9397-08002B2CF9AE}" pid="51" name="j3562c58ee414e028925bc902cfc01a1">
    <vt:lpwstr/>
  </property>
  <property fmtid="{D5CDD505-2E9C-101B-9397-08002B2CF9AE}" pid="52" name="EnterpriseDomainTags">
    <vt:lpwstr/>
  </property>
  <property fmtid="{D5CDD505-2E9C-101B-9397-08002B2CF9AE}" pid="53" name="ActivitiesAndPrograms">
    <vt:lpwstr/>
  </property>
  <property fmtid="{D5CDD505-2E9C-101B-9397-08002B2CF9AE}" pid="54" name="Segments">
    <vt:lpwstr/>
  </property>
  <property fmtid="{D5CDD505-2E9C-101B-9397-08002B2CF9AE}" pid="55" name="Partners">
    <vt:lpwstr/>
  </property>
  <property fmtid="{D5CDD505-2E9C-101B-9397-08002B2CF9AE}" pid="56" name="la4444b61d19467597d63190b69ac227">
    <vt:lpwstr/>
  </property>
  <property fmtid="{D5CDD505-2E9C-101B-9397-08002B2CF9AE}" pid="57" name="ODSWF(1)">
    <vt:lpwstr>, </vt:lpwstr>
  </property>
  <property fmtid="{D5CDD505-2E9C-101B-9397-08002B2CF9AE}" pid="58" name="Topics">
    <vt:lpwstr/>
  </property>
  <property fmtid="{D5CDD505-2E9C-101B-9397-08002B2CF9AE}" pid="59" name="Groups">
    <vt:lpwstr>399;#SQL Server Marketing|bb7921b3-c1d8-4da4-b894-8b6075d9546d;#42;#Cloud + AI Marketing|4f75e184-e5aa-4234-a07f-b032d60df254</vt:lpwstr>
  </property>
  <property fmtid="{D5CDD505-2E9C-101B-9397-08002B2CF9AE}" pid="60" name="Languages">
    <vt:lpwstr/>
  </property>
  <property fmtid="{D5CDD505-2E9C-101B-9397-08002B2CF9AE}" pid="61" name="of67e5d4b76f4a9db8769983fda9cec0">
    <vt:lpwstr/>
  </property>
  <property fmtid="{D5CDD505-2E9C-101B-9397-08002B2CF9AE}" pid="62" name="Update Parent Child Relation(1)0">
    <vt:lpwstr>, </vt:lpwstr>
  </property>
  <property fmtid="{D5CDD505-2E9C-101B-9397-08002B2CF9AE}" pid="63" name="SMSG Items">
    <vt:lpwstr>3091;#documents|e037ed84-7d8e-4cbb-9c8f-61e80301a44f</vt:lpwstr>
  </property>
  <property fmtid="{D5CDD505-2E9C-101B-9397-08002B2CF9AE}" pid="64" name="Solution Areas">
    <vt:lpwstr>3089;#Applications and Infrastructure|f69679d5-ce87-4413-9040-82ea79c5c527</vt:lpwstr>
  </property>
  <property fmtid="{D5CDD505-2E9C-101B-9397-08002B2CF9AE}" pid="65" name="MSProfessions">
    <vt:lpwstr>3094;#Sales|72627068-acd7-4c1a-8b95-a0256be5dc9f</vt:lpwstr>
  </property>
  <property fmtid="{D5CDD505-2E9C-101B-9397-08002B2CF9AE}" pid="66" name="SharedWithUsers">
    <vt:lpwstr>50016;#David Hoerster</vt:lpwstr>
  </property>
  <property fmtid="{D5CDD505-2E9C-101B-9397-08002B2CF9AE}" pid="67" name="MSIP_Label_f42aa342-8706-4288-bd11-ebb85995028c_ActionId">
    <vt:lpwstr>36596a2f-2d05-4fac-8593-b185d6970866</vt:lpwstr>
  </property>
  <property fmtid="{D5CDD505-2E9C-101B-9397-08002B2CF9AE}" pid="68" name="ICV">
    <vt:lpwstr>51043C430D8649F68522BD0FF698D64D_13</vt:lpwstr>
  </property>
  <property fmtid="{D5CDD505-2E9C-101B-9397-08002B2CF9AE}" pid="69" name="KSOProductBuildVer">
    <vt:lpwstr>1033-12.1.0.28485</vt:lpwstr>
  </property>
</Properties>
</file>