
<file path=[Content_Types].xml><?xml version="1.0" encoding="utf-8"?>
<Types xmlns="http://schemas.openxmlformats.org/package/2006/content-types">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8" r:id="rId21"/>
    <p:sldId id="273" r:id="rId22"/>
    <p:sldId id="274" r:id="rId23"/>
    <p:sldId id="275" r:id="rId24"/>
    <p:sldId id="276" r:id="rId25"/>
    <p:sldId id="277"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autonomous trash collecting robot built on ROS 2 and evaluated in Gazebo Classic. The two images show the simulated robot and the camera-based detection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motivation, literature and gap, the proposed architecture and control method, ROS 2 communication, then results and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waste volumes are rising and manual collection is inefficient. Smart-bin style systems monitor waste but do not collect it. Our robot targets the full cycle: detect, approach, grasp, dispose.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design objectives on the left; three contributions on the right: integrated architecture, a reproducible Gazebo platform, and a ROS 2 perception-to-action control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works advance perception: attention-based detection, high-precision classification, and lightweight real-time models. Their shared limitation is that they only detect and classify.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Robotic systems combine perception with mobility or manipulation, but each has a limitation: limited manipulation, higher complexity, limited mobility, limited collection, or task-specific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Table I from the paper. Vision-only works score No on everything else. Existing robotic systems are partial in arm, collection, mobility or simulation. The proposed robot is the only one with Yes across all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gap: vision work stops at detection; robotic work often handles sorting or collection under narrow conditions. We integrate detection, movement and pickup in one ROS 2 and Gazebo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Perception layer: RGB camera, LiDAR, wheel encoders, IMU. Processing layer: ROS 2 nodes for image processing, autonomous control, navigation and arm control. Actuation layer: robotic arm, gripper and differential drive base. Feedback returns sensor data, joint states and robot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shows the Gazebo Classic world with the robot, camera view inset and waste objects. Table III lists the software and hardware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controller is a sequential state machine (Table II). It starts in Search, moves to Detection when trash is seen, approaches, stops, runs the grasping sequence, transfers the object to the container, then resumes searching.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The loop runs until no trash remains. The small inset images show the Gazebo camera image, LiDAR scan, detection result, and each stage: navigating, at safe distance, picking, moving to dustbin, releasing.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Sensors publish to ROS 2 nodes: trash_detector, nav2, task_manager, arm_controller and gripper_controller. All communicate through the DDS middleware. RViz 2, the topic list and the rqt node graph are shown for visualization.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IV. Camera images arrive on /camera/image_raw and LiDAR on /scan. The controller sends /cmd_vel to the differential drive and joint trajectory commands to the arm. /joint_states and /odom return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5. The detection window shows labeled objects with confidence scores. Unlike detection-only approaches, this output drives navigation and manipulation.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6 (a)-(c): search, detect, approach. The controller state is shown in the inset window in each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6 (d)-(f): arm down, pickup, deposit into the onboard container. Together with the previous slide this is the complete autonomous collection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6 (d)-(f): arm down, pickup, deposit into the onboard container. Together with the previous slide this is the complete autonomous collection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V. Each module was evaluated by whether it completed its task in simulation. No numeric metrics are reported in the paper; results are qualitative.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seen during simulation, and the planned improvements: deep-learning detection, SLAM, better grasp planning, and physical robot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an integrated ROS 2 robot that detects, approaches, grasps and disposes of waste in simulation, and a clear roadmap to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numbers match the citations used throughout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1.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29.png"/><Relationship Id="rId3" Type="http://schemas.openxmlformats.org/officeDocument/2006/relationships/image" Target="../media/image9.png"/><Relationship Id="rId2" Type="http://schemas.openxmlformats.org/officeDocument/2006/relationships/image" Target="../media/image28.pn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30.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xml"/><Relationship Id="rId4" Type="http://schemas.openxmlformats.org/officeDocument/2006/relationships/image" Target="../media/image37.png"/><Relationship Id="rId3" Type="http://schemas.openxmlformats.org/officeDocument/2006/relationships/tags" Target="../tags/tag1.xml"/><Relationship Id="rId2" Type="http://schemas.microsoft.com/office/2007/relationships/media" Target="../media/media1.mp4"/><Relationship Id="rId1" Type="http://schemas.openxmlformats.org/officeDocument/2006/relationships/video" Target="../media/media1.mp4"/></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1.png"/><Relationship Id="rId4" Type="http://schemas.openxmlformats.org/officeDocument/2006/relationships/image" Target="../media/image9.png"/><Relationship Id="rId3" Type="http://schemas.openxmlformats.org/officeDocument/2006/relationships/image" Target="../media/image10.png"/><Relationship Id="rId2" Type="http://schemas.openxmlformats.org/officeDocument/2006/relationships/image" Target="../media/image38.pn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40.png"/><Relationship Id="rId1" Type="http://schemas.openxmlformats.org/officeDocument/2006/relationships/image" Target="../media/image39.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image" Target="../media/image40.png"/><Relationship Id="rId2" Type="http://schemas.openxmlformats.org/officeDocument/2006/relationships/image" Target="../media/image42.png"/><Relationship Id="rId1" Type="http://schemas.openxmlformats.org/officeDocument/2006/relationships/image" Target="../media/image4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E2B"/>
        </a:solidFill>
        <a:effectLst/>
      </p:bgPr>
    </p:bg>
    <p:spTree>
      <p:nvGrpSpPr>
        <p:cNvPr id="1" name=""/>
        <p:cNvGrpSpPr/>
        <p:nvPr/>
      </p:nvGrpSpPr>
      <p:grpSpPr>
        <a:xfrm>
          <a:off x="0" y="0"/>
          <a:ext cx="0" cy="0"/>
          <a:chOff x="0" y="0"/>
          <a:chExt cx="0" cy="0"/>
        </a:xfrm>
      </p:grpSpPr>
      <p:sp>
        <p:nvSpPr>
          <p:cNvPr id="2" name="Text 0"/>
          <p:cNvSpPr txBox="1"/>
          <p:nvPr/>
        </p:nvSpPr>
        <p:spPr>
          <a:xfrm>
            <a:off x="640080" y="777240"/>
            <a:ext cx="585216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640080" y="1188720"/>
            <a:ext cx="5760720" cy="1920240"/>
          </a:xfrm>
          <a:prstGeom prst="rect">
            <a:avLst/>
          </a:prstGeom>
          <a:noFill/>
        </p:spPr>
        <p:txBody>
          <a:bodyPr wrap="square" lIns="0" tIns="0" rIns="0" bIns="0" rtlCol="0" anchor="t"/>
          <a:lstStyle/>
          <a:p>
            <a:pPr marL="0" indent="0">
              <a:buNone/>
            </a:pPr>
            <a:r>
              <a:rPr lang="en-US" sz="3600" b="1" dirty="0">
                <a:solidFill>
                  <a:srgbClr val="FFFFFF"/>
                </a:solidFill>
                <a:latin typeface="Cambria" panose="02040503050406030204" pitchFamily="34" charset="0"/>
                <a:ea typeface="Cambria" panose="02040503050406030204" pitchFamily="34" charset="-122"/>
                <a:cs typeface="Cambria" panose="02040503050406030204" pitchFamily="34" charset="-120"/>
              </a:rPr>
              <a:t>ROS 2-Based Autonomous Trash Collecting Robot</a:t>
            </a:r>
            <a:endParaRPr lang="en-US" sz="3600" dirty="0"/>
          </a:p>
        </p:txBody>
      </p:sp>
      <p:sp>
        <p:nvSpPr>
          <p:cNvPr id="4" name="Text 2"/>
          <p:cNvSpPr txBox="1"/>
          <p:nvPr/>
        </p:nvSpPr>
        <p:spPr>
          <a:xfrm>
            <a:off x="567055" y="2697480"/>
            <a:ext cx="5760720" cy="731520"/>
          </a:xfrm>
          <a:prstGeom prst="rect">
            <a:avLst/>
          </a:prstGeom>
          <a:noFill/>
        </p:spPr>
        <p:txBody>
          <a:bodyPr wrap="square" lIns="0" tIns="0" rIns="0" bIns="0" rtlCol="0" anchor="t"/>
          <a:lstStyle/>
          <a:p>
            <a:pPr marL="0" indent="0">
              <a:buNone/>
            </a:pPr>
            <a:r>
              <a:rPr lang="en-US" sz="2000" dirty="0">
                <a:solidFill>
                  <a:srgbClr val="CDE8DF"/>
                </a:solidFill>
                <a:latin typeface="Calibri" panose="020F0502020204030204" pitchFamily="34" charset="0"/>
                <a:ea typeface="Calibri" panose="020F0502020204030204" pitchFamily="34" charset="-122"/>
                <a:cs typeface="Calibri" panose="020F0502020204030204" pitchFamily="34" charset="-120"/>
              </a:rPr>
              <a:t>with Computer Vision and Robotic Manipulation</a:t>
            </a:r>
            <a:endParaRPr lang="en-US" sz="2000" dirty="0"/>
          </a:p>
        </p:txBody>
      </p:sp>
      <p:sp>
        <p:nvSpPr>
          <p:cNvPr id="5" name="Text 3"/>
          <p:cNvSpPr txBox="1"/>
          <p:nvPr/>
        </p:nvSpPr>
        <p:spPr>
          <a:xfrm>
            <a:off x="640080" y="4125595"/>
            <a:ext cx="6144260" cy="640080"/>
          </a:xfrm>
          <a:prstGeom prst="rect">
            <a:avLst/>
          </a:prstGeom>
          <a:noFill/>
        </p:spPr>
        <p:txBody>
          <a:bodyPr wrap="square" lIns="0" tIns="0" rIns="0" bIns="0" rtlCol="0" anchor="t"/>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Mst. Esat Jahan Akhi(2201022)  ·  Jannatul Ferdusi Ayesha(2201002)  ·  Mst. Sukria Akter(2201021)</a:t>
            </a:r>
            <a:endParaRPr lang="en-US" sz="1500" dirty="0"/>
          </a:p>
        </p:txBody>
      </p:sp>
      <p:sp>
        <p:nvSpPr>
          <p:cNvPr id="6" name="Text 4"/>
          <p:cNvSpPr txBox="1"/>
          <p:nvPr/>
        </p:nvSpPr>
        <p:spPr>
          <a:xfrm>
            <a:off x="640080" y="5120640"/>
            <a:ext cx="5760720" cy="640080"/>
          </a:xfrm>
          <a:prstGeom prst="rect">
            <a:avLst/>
          </a:prstGeom>
          <a:noFill/>
        </p:spPr>
        <p:txBody>
          <a:bodyPr wrap="square" lIns="0" tIns="0" rIns="0" bIns="0" rtlCol="0" anchor="t"/>
          <a:lstStyle/>
          <a:p>
            <a:pPr marL="0" indent="0">
              <a:buNone/>
            </a:pPr>
            <a:r>
              <a:rPr lang="en-US" sz="1300" dirty="0">
                <a:solidFill>
                  <a:srgbClr val="CDE8DF"/>
                </a:solidFill>
                <a:latin typeface="Calibri" panose="020F0502020204030204" pitchFamily="34" charset="0"/>
                <a:ea typeface="Calibri" panose="020F0502020204030204" pitchFamily="34" charset="-122"/>
                <a:cs typeface="Calibri" panose="020F0502020204030204" pitchFamily="34" charset="-120"/>
              </a:rPr>
              <a:t>Department of Internet of Things and Robotics Engineering (IRE)</a:t>
            </a:r>
            <a:endParaRPr lang="en-US" sz="1300" dirty="0"/>
          </a:p>
          <a:p>
            <a:pPr marL="0" indent="0">
              <a:buNone/>
            </a:pPr>
            <a:r>
              <a:rPr lang="en-US" sz="1300" dirty="0">
                <a:solidFill>
                  <a:srgbClr val="CDE8DF"/>
                </a:solidFill>
                <a:latin typeface="Calibri" panose="020F0502020204030204" pitchFamily="34" charset="0"/>
                <a:ea typeface="Calibri" panose="020F0502020204030204" pitchFamily="34" charset="-122"/>
                <a:cs typeface="Calibri" panose="020F0502020204030204" pitchFamily="34" charset="-120"/>
              </a:rPr>
              <a:t>University of Frontier Technology, Bangladesh</a:t>
            </a:r>
            <a:endParaRPr lang="en-US" sz="1300" dirty="0"/>
          </a:p>
        </p:txBody>
      </p:sp>
      <p:sp>
        <p:nvSpPr>
          <p:cNvPr id="7" name="Shape 5"/>
          <p:cNvSpPr/>
          <p:nvPr/>
        </p:nvSpPr>
        <p:spPr>
          <a:xfrm>
            <a:off x="6812280" y="640080"/>
            <a:ext cx="4846320" cy="2606040"/>
          </a:xfrm>
          <a:prstGeom prst="roundRect">
            <a:avLst>
              <a:gd name="adj" fmla="val 4211"/>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8" name="Image 0" descr="gazebo.png"/>
          <p:cNvPicPr>
            <a:picLocks noChangeAspect="1"/>
          </p:cNvPicPr>
          <p:nvPr/>
        </p:nvPicPr>
        <p:blipFill>
          <a:blip r:embed="rId1"/>
          <a:stretch>
            <a:fillRect/>
          </a:stretch>
        </p:blipFill>
        <p:spPr>
          <a:xfrm>
            <a:off x="6970808" y="749808"/>
            <a:ext cx="4529264" cy="2386584"/>
          </a:xfrm>
          <a:prstGeom prst="rect">
            <a:avLst/>
          </a:prstGeom>
        </p:spPr>
      </p:pic>
      <p:sp>
        <p:nvSpPr>
          <p:cNvPr id="9" name="Shape 6"/>
          <p:cNvSpPr/>
          <p:nvPr/>
        </p:nvSpPr>
        <p:spPr>
          <a:xfrm>
            <a:off x="6812280" y="3474720"/>
            <a:ext cx="4846320" cy="2743200"/>
          </a:xfrm>
          <a:prstGeom prst="roundRect">
            <a:avLst>
              <a:gd name="adj" fmla="val 400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10" name="Image 1" descr="detect.png"/>
          <p:cNvPicPr>
            <a:picLocks noChangeAspect="1"/>
          </p:cNvPicPr>
          <p:nvPr/>
        </p:nvPicPr>
        <p:blipFill>
          <a:blip r:embed="rId2"/>
          <a:stretch>
            <a:fillRect/>
          </a:stretch>
        </p:blipFill>
        <p:spPr>
          <a:xfrm>
            <a:off x="6993304" y="3584448"/>
            <a:ext cx="4484272" cy="2523744"/>
          </a:xfrm>
          <a:prstGeom prst="rect">
            <a:avLst/>
          </a:prstGeom>
        </p:spPr>
      </p:pic>
      <p:sp>
        <p:nvSpPr>
          <p:cNvPr id="11" name="Text Box 10"/>
          <p:cNvSpPr txBox="1"/>
          <p:nvPr/>
        </p:nvSpPr>
        <p:spPr>
          <a:xfrm>
            <a:off x="567055" y="3246120"/>
            <a:ext cx="6096000" cy="368300"/>
          </a:xfrm>
          <a:prstGeom prst="rect">
            <a:avLst/>
          </a:prstGeom>
          <a:noFill/>
        </p:spPr>
        <p:txBody>
          <a:bodyPr wrap="square" rtlCol="0" anchor="t">
            <a:spAutoFit/>
          </a:bodyPr>
          <a:p>
            <a:r>
              <a:rPr lang="en-US" altLang="en-US">
                <a:solidFill>
                  <a:schemeClr val="bg1"/>
                </a:solidFill>
              </a:rPr>
              <a:t>IRE 316 Embeded Systems Sessional</a:t>
            </a:r>
            <a:endParaRPr lang="en-US" altLang="en-US">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Shape 0"/>
          <p:cNvSpPr/>
          <p:nvPr/>
        </p:nvSpPr>
        <p:spPr>
          <a:xfrm>
            <a:off x="0" y="0"/>
            <a:ext cx="4297680" cy="6858000"/>
          </a:xfrm>
          <a:prstGeom prst="rect">
            <a:avLst/>
          </a:prstGeom>
          <a:solidFill>
            <a:srgbClr val="0B2E2B"/>
          </a:solidFill>
          <a:ln w="12700">
            <a:solidFill>
              <a:srgbClr val="0B2E2B"/>
            </a:solidFill>
            <a:prstDash val="solid"/>
          </a:ln>
        </p:spPr>
      </p:sp>
      <p:sp>
        <p:nvSpPr>
          <p:cNvPr id="3" name="Text 1"/>
          <p:cNvSpPr txBox="1"/>
          <p:nvPr/>
        </p:nvSpPr>
        <p:spPr>
          <a:xfrm>
            <a:off x="548640" y="914400"/>
            <a:ext cx="3291840" cy="822960"/>
          </a:xfrm>
          <a:prstGeom prst="rect">
            <a:avLst/>
          </a:prstGeom>
          <a:noFill/>
        </p:spPr>
        <p:txBody>
          <a:bodyPr wrap="square" lIns="0" tIns="0" rIns="0" bIns="0" rtlCol="0" anchor="ctr"/>
          <a:lstStyle/>
          <a:p>
            <a:pPr marL="0" indent="0">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Outline</a:t>
            </a:r>
            <a:endParaRPr lang="en-US" sz="4000" dirty="0"/>
          </a:p>
        </p:txBody>
      </p:sp>
      <p:sp>
        <p:nvSpPr>
          <p:cNvPr id="4" name="Text 2"/>
          <p:cNvSpPr txBox="1"/>
          <p:nvPr/>
        </p:nvSpPr>
        <p:spPr>
          <a:xfrm>
            <a:off x="548640" y="1783080"/>
            <a:ext cx="3291840" cy="548640"/>
          </a:xfrm>
          <a:prstGeom prst="rect">
            <a:avLst/>
          </a:prstGeom>
          <a:noFill/>
        </p:spPr>
        <p:txBody>
          <a:bodyPr wrap="square" lIns="0" tIns="0" rIns="0" bIns="0" rtlCol="0" anchor="t"/>
          <a:lstStyle/>
          <a:p>
            <a:pPr marL="0" indent="0">
              <a:buNone/>
            </a:pPr>
            <a:r>
              <a:rPr lang="en-US" sz="1500" dirty="0">
                <a:solidFill>
                  <a:srgbClr val="CDE8DF"/>
                </a:solidFill>
                <a:latin typeface="Calibri" panose="020F0502020204030204" pitchFamily="34" charset="0"/>
                <a:ea typeface="Calibri" panose="020F0502020204030204" pitchFamily="34" charset="-122"/>
                <a:cs typeface="Calibri" panose="020F0502020204030204" pitchFamily="34" charset="-120"/>
              </a:rPr>
              <a:t>From problem to working simulation</a:t>
            </a:r>
            <a:endParaRPr lang="en-US" sz="1500" dirty="0"/>
          </a:p>
        </p:txBody>
      </p:sp>
      <p:sp>
        <p:nvSpPr>
          <p:cNvPr id="5" name="Shape 3"/>
          <p:cNvSpPr/>
          <p:nvPr/>
        </p:nvSpPr>
        <p:spPr>
          <a:xfrm>
            <a:off x="548640" y="3200400"/>
            <a:ext cx="3200400" cy="2286000"/>
          </a:xfrm>
          <a:prstGeom prst="roundRect">
            <a:avLst>
              <a:gd name="adj" fmla="val 480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6" name="Image 0" descr="robot.png"/>
          <p:cNvPicPr>
            <a:picLocks noChangeAspect="1"/>
          </p:cNvPicPr>
          <p:nvPr/>
        </p:nvPicPr>
        <p:blipFill>
          <a:blip r:embed="rId1"/>
          <a:stretch>
            <a:fillRect/>
          </a:stretch>
        </p:blipFill>
        <p:spPr>
          <a:xfrm>
            <a:off x="658368" y="3538787"/>
            <a:ext cx="2980944" cy="1609225"/>
          </a:xfrm>
          <a:prstGeom prst="rect">
            <a:avLst/>
          </a:prstGeom>
        </p:spPr>
      </p:pic>
      <p:sp>
        <p:nvSpPr>
          <p:cNvPr id="7" name="Shape 4"/>
          <p:cNvSpPr/>
          <p:nvPr/>
        </p:nvSpPr>
        <p:spPr>
          <a:xfrm>
            <a:off x="4846320" y="914400"/>
            <a:ext cx="3246120" cy="109728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8" name="Shape 5"/>
          <p:cNvSpPr/>
          <p:nvPr/>
        </p:nvSpPr>
        <p:spPr>
          <a:xfrm>
            <a:off x="5047488" y="1170432"/>
            <a:ext cx="585216" cy="585216"/>
          </a:xfrm>
          <a:prstGeom prst="ellipse">
            <a:avLst/>
          </a:prstGeom>
          <a:solidFill>
            <a:srgbClr val="14776B"/>
          </a:solidFill>
          <a:ln w="12700">
            <a:solidFill>
              <a:srgbClr val="14776B"/>
            </a:solidFill>
            <a:prstDash val="solid"/>
          </a:ln>
        </p:spPr>
      </p:sp>
      <p:sp>
        <p:nvSpPr>
          <p:cNvPr id="9" name="Text 6"/>
          <p:cNvSpPr txBox="1"/>
          <p:nvPr/>
        </p:nvSpPr>
        <p:spPr>
          <a:xfrm>
            <a:off x="5047488" y="1170432"/>
            <a:ext cx="585216" cy="585216"/>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600" dirty="0"/>
          </a:p>
        </p:txBody>
      </p:sp>
      <p:sp>
        <p:nvSpPr>
          <p:cNvPr id="10" name="Text 7"/>
          <p:cNvSpPr txBox="1"/>
          <p:nvPr/>
        </p:nvSpPr>
        <p:spPr>
          <a:xfrm>
            <a:off x="5806440" y="1143000"/>
            <a:ext cx="2194560" cy="365760"/>
          </a:xfrm>
          <a:prstGeom prst="rect">
            <a:avLst/>
          </a:prstGeom>
          <a:noFill/>
        </p:spPr>
        <p:txBody>
          <a:bodyPr wrap="square" lIns="0" tIns="0" rIns="0" bIns="0" rtlCol="0" anchor="ctr"/>
          <a:lstStyle/>
          <a:p>
            <a:pPr marL="0" indent="0">
              <a:buNone/>
            </a:pPr>
            <a:r>
              <a:rPr lang="en-US" sz="1550" b="1" dirty="0">
                <a:solidFill>
                  <a:srgbClr val="0B2E2B"/>
                </a:solidFill>
                <a:latin typeface="Calibri" panose="020F0502020204030204" pitchFamily="34" charset="0"/>
                <a:ea typeface="Calibri" panose="020F0502020204030204" pitchFamily="34" charset="-122"/>
                <a:cs typeface="Calibri" panose="020F0502020204030204" pitchFamily="34" charset="-120"/>
              </a:rPr>
              <a:t>Introduction</a:t>
            </a:r>
            <a:endParaRPr lang="en-US" sz="1550" dirty="0"/>
          </a:p>
        </p:txBody>
      </p:sp>
      <p:sp>
        <p:nvSpPr>
          <p:cNvPr id="11" name="Text 8"/>
          <p:cNvSpPr txBox="1"/>
          <p:nvPr/>
        </p:nvSpPr>
        <p:spPr>
          <a:xfrm>
            <a:off x="5806440" y="1508760"/>
            <a:ext cx="2194560" cy="274320"/>
          </a:xfrm>
          <a:prstGeom prst="rect">
            <a:avLst/>
          </a:prstGeom>
          <a:noFill/>
        </p:spPr>
        <p:txBody>
          <a:bodyPr wrap="square" lIns="0" tIns="0" rIns="0" bIns="0" rtlCol="0" anchor="t"/>
          <a:lstStyle/>
          <a:p>
            <a:pPr marL="0" indent="0">
              <a:buNone/>
            </a:pPr>
            <a:r>
              <a:rPr lang="en-US" sz="1200" dirty="0">
                <a:solidFill>
                  <a:srgbClr val="5A6E6A"/>
                </a:solidFill>
                <a:latin typeface="Calibri" panose="020F0502020204030204" pitchFamily="34" charset="0"/>
                <a:ea typeface="Calibri" panose="020F0502020204030204" pitchFamily="34" charset="-122"/>
                <a:cs typeface="Calibri" panose="020F0502020204030204" pitchFamily="34" charset="-120"/>
              </a:rPr>
              <a:t>Background &amp; motivation</a:t>
            </a:r>
            <a:endParaRPr lang="en-US" sz="1200" dirty="0"/>
          </a:p>
        </p:txBody>
      </p:sp>
      <p:sp>
        <p:nvSpPr>
          <p:cNvPr id="12" name="Shape 9"/>
          <p:cNvSpPr/>
          <p:nvPr/>
        </p:nvSpPr>
        <p:spPr>
          <a:xfrm>
            <a:off x="8394192" y="914400"/>
            <a:ext cx="3246120" cy="109728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13" name="Shape 10"/>
          <p:cNvSpPr/>
          <p:nvPr/>
        </p:nvSpPr>
        <p:spPr>
          <a:xfrm>
            <a:off x="8595360" y="1170432"/>
            <a:ext cx="585216" cy="585216"/>
          </a:xfrm>
          <a:prstGeom prst="ellipse">
            <a:avLst/>
          </a:prstGeom>
          <a:solidFill>
            <a:srgbClr val="14776B"/>
          </a:solidFill>
          <a:ln w="12700">
            <a:solidFill>
              <a:srgbClr val="14776B"/>
            </a:solidFill>
            <a:prstDash val="solid"/>
          </a:ln>
        </p:spPr>
      </p:sp>
      <p:sp>
        <p:nvSpPr>
          <p:cNvPr id="14" name="Text 11"/>
          <p:cNvSpPr txBox="1"/>
          <p:nvPr/>
        </p:nvSpPr>
        <p:spPr>
          <a:xfrm>
            <a:off x="8595360" y="1170432"/>
            <a:ext cx="585216" cy="585216"/>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600" dirty="0"/>
          </a:p>
        </p:txBody>
      </p:sp>
      <p:sp>
        <p:nvSpPr>
          <p:cNvPr id="15" name="Text 12"/>
          <p:cNvSpPr txBox="1"/>
          <p:nvPr/>
        </p:nvSpPr>
        <p:spPr>
          <a:xfrm>
            <a:off x="9354312" y="1143000"/>
            <a:ext cx="2194560" cy="365760"/>
          </a:xfrm>
          <a:prstGeom prst="rect">
            <a:avLst/>
          </a:prstGeom>
          <a:noFill/>
        </p:spPr>
        <p:txBody>
          <a:bodyPr wrap="square" lIns="0" tIns="0" rIns="0" bIns="0" rtlCol="0" anchor="ctr"/>
          <a:lstStyle/>
          <a:p>
            <a:pPr marL="0" indent="0">
              <a:buNone/>
            </a:pPr>
            <a:r>
              <a:rPr lang="en-US" sz="1550" b="1" dirty="0">
                <a:solidFill>
                  <a:srgbClr val="0B2E2B"/>
                </a:solidFill>
                <a:latin typeface="Calibri" panose="020F0502020204030204" pitchFamily="34" charset="0"/>
                <a:ea typeface="Calibri" panose="020F0502020204030204" pitchFamily="34" charset="-122"/>
                <a:cs typeface="Calibri" panose="020F0502020204030204" pitchFamily="34" charset="-120"/>
              </a:rPr>
              <a:t>Literature Review</a:t>
            </a:r>
            <a:endParaRPr lang="en-US" sz="1550" dirty="0"/>
          </a:p>
        </p:txBody>
      </p:sp>
      <p:sp>
        <p:nvSpPr>
          <p:cNvPr id="16" name="Text 13"/>
          <p:cNvSpPr txBox="1"/>
          <p:nvPr/>
        </p:nvSpPr>
        <p:spPr>
          <a:xfrm>
            <a:off x="9354312" y="1508760"/>
            <a:ext cx="2194560" cy="274320"/>
          </a:xfrm>
          <a:prstGeom prst="rect">
            <a:avLst/>
          </a:prstGeom>
          <a:noFill/>
        </p:spPr>
        <p:txBody>
          <a:bodyPr wrap="square" lIns="0" tIns="0" rIns="0" bIns="0" rtlCol="0" anchor="t"/>
          <a:lstStyle/>
          <a:p>
            <a:pPr marL="0" indent="0">
              <a:buNone/>
            </a:pPr>
            <a:r>
              <a:rPr lang="en-US" sz="1200" dirty="0">
                <a:solidFill>
                  <a:srgbClr val="5A6E6A"/>
                </a:solidFill>
                <a:latin typeface="Calibri" panose="020F0502020204030204" pitchFamily="34" charset="0"/>
                <a:ea typeface="Calibri" panose="020F0502020204030204" pitchFamily="34" charset="-122"/>
                <a:cs typeface="Calibri" panose="020F0502020204030204" pitchFamily="34" charset="-120"/>
              </a:rPr>
              <a:t>Detection &amp; robotic collection</a:t>
            </a:r>
            <a:endParaRPr lang="en-US" sz="1200" dirty="0"/>
          </a:p>
        </p:txBody>
      </p:sp>
      <p:sp>
        <p:nvSpPr>
          <p:cNvPr id="17" name="Shape 14"/>
          <p:cNvSpPr/>
          <p:nvPr/>
        </p:nvSpPr>
        <p:spPr>
          <a:xfrm>
            <a:off x="4846320" y="2286000"/>
            <a:ext cx="3246120" cy="109728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18" name="Shape 15"/>
          <p:cNvSpPr/>
          <p:nvPr/>
        </p:nvSpPr>
        <p:spPr>
          <a:xfrm>
            <a:off x="5047488" y="2542032"/>
            <a:ext cx="585216" cy="585216"/>
          </a:xfrm>
          <a:prstGeom prst="ellipse">
            <a:avLst/>
          </a:prstGeom>
          <a:solidFill>
            <a:srgbClr val="14776B"/>
          </a:solidFill>
          <a:ln w="12700">
            <a:solidFill>
              <a:srgbClr val="14776B"/>
            </a:solidFill>
            <a:prstDash val="solid"/>
          </a:ln>
        </p:spPr>
      </p:sp>
      <p:sp>
        <p:nvSpPr>
          <p:cNvPr id="19" name="Text 16"/>
          <p:cNvSpPr txBox="1"/>
          <p:nvPr/>
        </p:nvSpPr>
        <p:spPr>
          <a:xfrm>
            <a:off x="5047488" y="2542032"/>
            <a:ext cx="585216" cy="585216"/>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600" dirty="0"/>
          </a:p>
        </p:txBody>
      </p:sp>
      <p:sp>
        <p:nvSpPr>
          <p:cNvPr id="20" name="Text 17"/>
          <p:cNvSpPr txBox="1"/>
          <p:nvPr/>
        </p:nvSpPr>
        <p:spPr>
          <a:xfrm>
            <a:off x="5806440" y="2514600"/>
            <a:ext cx="2194560" cy="365760"/>
          </a:xfrm>
          <a:prstGeom prst="rect">
            <a:avLst/>
          </a:prstGeom>
          <a:noFill/>
        </p:spPr>
        <p:txBody>
          <a:bodyPr wrap="square" lIns="0" tIns="0" rIns="0" bIns="0" rtlCol="0" anchor="ctr"/>
          <a:lstStyle/>
          <a:p>
            <a:pPr marL="0" indent="0">
              <a:buNone/>
            </a:pPr>
            <a:r>
              <a:rPr lang="en-US" sz="1550" b="1" dirty="0">
                <a:solidFill>
                  <a:srgbClr val="0B2E2B"/>
                </a:solidFill>
                <a:latin typeface="Calibri" panose="020F0502020204030204" pitchFamily="34" charset="0"/>
                <a:ea typeface="Calibri" panose="020F0502020204030204" pitchFamily="34" charset="-122"/>
                <a:cs typeface="Calibri" panose="020F0502020204030204" pitchFamily="34" charset="-120"/>
              </a:rPr>
              <a:t>Research Gap</a:t>
            </a:r>
            <a:endParaRPr lang="en-US" sz="1550" dirty="0"/>
          </a:p>
        </p:txBody>
      </p:sp>
      <p:sp>
        <p:nvSpPr>
          <p:cNvPr id="21" name="Text 18"/>
          <p:cNvSpPr txBox="1"/>
          <p:nvPr/>
        </p:nvSpPr>
        <p:spPr>
          <a:xfrm>
            <a:off x="5806440" y="2880360"/>
            <a:ext cx="2194560" cy="274320"/>
          </a:xfrm>
          <a:prstGeom prst="rect">
            <a:avLst/>
          </a:prstGeom>
          <a:noFill/>
        </p:spPr>
        <p:txBody>
          <a:bodyPr wrap="square" lIns="0" tIns="0" rIns="0" bIns="0" rtlCol="0" anchor="t"/>
          <a:lstStyle/>
          <a:p>
            <a:pPr marL="0" indent="0">
              <a:buNone/>
            </a:pPr>
            <a:r>
              <a:rPr lang="en-US" sz="1200" dirty="0">
                <a:solidFill>
                  <a:srgbClr val="5A6E6A"/>
                </a:solidFill>
                <a:latin typeface="Calibri" panose="020F0502020204030204" pitchFamily="34" charset="0"/>
                <a:ea typeface="Calibri" panose="020F0502020204030204" pitchFamily="34" charset="-122"/>
                <a:cs typeface="Calibri" panose="020F0502020204030204" pitchFamily="34" charset="-120"/>
              </a:rPr>
              <a:t>Comparison with prior work</a:t>
            </a:r>
            <a:endParaRPr lang="en-US" sz="1200" dirty="0"/>
          </a:p>
        </p:txBody>
      </p:sp>
      <p:sp>
        <p:nvSpPr>
          <p:cNvPr id="22" name="Shape 19"/>
          <p:cNvSpPr/>
          <p:nvPr/>
        </p:nvSpPr>
        <p:spPr>
          <a:xfrm>
            <a:off x="8394192" y="2286000"/>
            <a:ext cx="3246120" cy="109728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23" name="Shape 20"/>
          <p:cNvSpPr/>
          <p:nvPr/>
        </p:nvSpPr>
        <p:spPr>
          <a:xfrm>
            <a:off x="8595360" y="2542032"/>
            <a:ext cx="585216" cy="585216"/>
          </a:xfrm>
          <a:prstGeom prst="ellipse">
            <a:avLst/>
          </a:prstGeom>
          <a:solidFill>
            <a:srgbClr val="14776B"/>
          </a:solidFill>
          <a:ln w="12700">
            <a:solidFill>
              <a:srgbClr val="14776B"/>
            </a:solidFill>
            <a:prstDash val="solid"/>
          </a:ln>
        </p:spPr>
      </p:sp>
      <p:sp>
        <p:nvSpPr>
          <p:cNvPr id="24" name="Text 21"/>
          <p:cNvSpPr txBox="1"/>
          <p:nvPr/>
        </p:nvSpPr>
        <p:spPr>
          <a:xfrm>
            <a:off x="8595360" y="2542032"/>
            <a:ext cx="585216" cy="585216"/>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600" dirty="0"/>
          </a:p>
        </p:txBody>
      </p:sp>
      <p:sp>
        <p:nvSpPr>
          <p:cNvPr id="25" name="Text 22"/>
          <p:cNvSpPr txBox="1"/>
          <p:nvPr/>
        </p:nvSpPr>
        <p:spPr>
          <a:xfrm>
            <a:off x="9354312" y="2514600"/>
            <a:ext cx="2194560" cy="365760"/>
          </a:xfrm>
          <a:prstGeom prst="rect">
            <a:avLst/>
          </a:prstGeom>
          <a:noFill/>
        </p:spPr>
        <p:txBody>
          <a:bodyPr wrap="square" lIns="0" tIns="0" rIns="0" bIns="0" rtlCol="0" anchor="ctr"/>
          <a:lstStyle/>
          <a:p>
            <a:pPr marL="0" indent="0">
              <a:buNone/>
            </a:pPr>
            <a:r>
              <a:rPr lang="en-US" sz="1550" b="1" dirty="0">
                <a:solidFill>
                  <a:srgbClr val="0B2E2B"/>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550" dirty="0"/>
          </a:p>
        </p:txBody>
      </p:sp>
      <p:sp>
        <p:nvSpPr>
          <p:cNvPr id="26" name="Text 23"/>
          <p:cNvSpPr txBox="1"/>
          <p:nvPr/>
        </p:nvSpPr>
        <p:spPr>
          <a:xfrm>
            <a:off x="9354312" y="2880360"/>
            <a:ext cx="2194560" cy="274320"/>
          </a:xfrm>
          <a:prstGeom prst="rect">
            <a:avLst/>
          </a:prstGeom>
          <a:noFill/>
        </p:spPr>
        <p:txBody>
          <a:bodyPr wrap="square" lIns="0" tIns="0" rIns="0" bIns="0" rtlCol="0" anchor="t"/>
          <a:lstStyle/>
          <a:p>
            <a:pPr marL="0" indent="0">
              <a:buNone/>
            </a:pPr>
            <a:r>
              <a:rPr lang="en-US" sz="1200" dirty="0">
                <a:solidFill>
                  <a:srgbClr val="5A6E6A"/>
                </a:solidFill>
                <a:latin typeface="Calibri" panose="020F0502020204030204" pitchFamily="34" charset="0"/>
                <a:ea typeface="Calibri" panose="020F0502020204030204" pitchFamily="34" charset="-122"/>
                <a:cs typeface="Calibri" panose="020F0502020204030204" pitchFamily="34" charset="-120"/>
              </a:rPr>
              <a:t>Layers &amp; robot model</a:t>
            </a:r>
            <a:endParaRPr lang="en-US" sz="1200" dirty="0"/>
          </a:p>
        </p:txBody>
      </p:sp>
      <p:sp>
        <p:nvSpPr>
          <p:cNvPr id="27" name="Shape 24"/>
          <p:cNvSpPr/>
          <p:nvPr/>
        </p:nvSpPr>
        <p:spPr>
          <a:xfrm>
            <a:off x="4846320" y="3657600"/>
            <a:ext cx="3246120" cy="109728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28" name="Shape 25"/>
          <p:cNvSpPr/>
          <p:nvPr/>
        </p:nvSpPr>
        <p:spPr>
          <a:xfrm>
            <a:off x="5047488" y="3913632"/>
            <a:ext cx="585216" cy="585216"/>
          </a:xfrm>
          <a:prstGeom prst="ellipse">
            <a:avLst/>
          </a:prstGeom>
          <a:solidFill>
            <a:srgbClr val="14776B"/>
          </a:solidFill>
          <a:ln w="12700">
            <a:solidFill>
              <a:srgbClr val="14776B"/>
            </a:solidFill>
            <a:prstDash val="solid"/>
          </a:ln>
        </p:spPr>
      </p:sp>
      <p:sp>
        <p:nvSpPr>
          <p:cNvPr id="29" name="Text 26"/>
          <p:cNvSpPr txBox="1"/>
          <p:nvPr/>
        </p:nvSpPr>
        <p:spPr>
          <a:xfrm>
            <a:off x="5047488" y="3913632"/>
            <a:ext cx="585216" cy="585216"/>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600" dirty="0"/>
          </a:p>
        </p:txBody>
      </p:sp>
      <p:sp>
        <p:nvSpPr>
          <p:cNvPr id="30" name="Text 27"/>
          <p:cNvSpPr txBox="1"/>
          <p:nvPr/>
        </p:nvSpPr>
        <p:spPr>
          <a:xfrm>
            <a:off x="5806440" y="3886200"/>
            <a:ext cx="2194560" cy="365760"/>
          </a:xfrm>
          <a:prstGeom prst="rect">
            <a:avLst/>
          </a:prstGeom>
          <a:noFill/>
        </p:spPr>
        <p:txBody>
          <a:bodyPr wrap="square" lIns="0" tIns="0" rIns="0" bIns="0" rtlCol="0" anchor="ctr"/>
          <a:lstStyle/>
          <a:p>
            <a:pPr marL="0" indent="0">
              <a:buNone/>
            </a:pPr>
            <a:r>
              <a:rPr lang="en-US" sz="1550" b="1" dirty="0">
                <a:solidFill>
                  <a:srgbClr val="0B2E2B"/>
                </a:solidFill>
                <a:latin typeface="Calibri" panose="020F0502020204030204" pitchFamily="34" charset="0"/>
                <a:ea typeface="Calibri" panose="020F0502020204030204" pitchFamily="34" charset="-122"/>
                <a:cs typeface="Calibri" panose="020F0502020204030204" pitchFamily="34" charset="-120"/>
              </a:rPr>
              <a:t>Methodology</a:t>
            </a:r>
            <a:endParaRPr lang="en-US" sz="1550" dirty="0"/>
          </a:p>
        </p:txBody>
      </p:sp>
      <p:sp>
        <p:nvSpPr>
          <p:cNvPr id="31" name="Text 28"/>
          <p:cNvSpPr txBox="1"/>
          <p:nvPr/>
        </p:nvSpPr>
        <p:spPr>
          <a:xfrm>
            <a:off x="5806440" y="4251960"/>
            <a:ext cx="2194560" cy="274320"/>
          </a:xfrm>
          <a:prstGeom prst="rect">
            <a:avLst/>
          </a:prstGeom>
          <a:noFill/>
        </p:spPr>
        <p:txBody>
          <a:bodyPr wrap="square" lIns="0" tIns="0" rIns="0" bIns="0" rtlCol="0" anchor="t"/>
          <a:lstStyle/>
          <a:p>
            <a:pPr marL="0" indent="0">
              <a:buNone/>
            </a:pPr>
            <a:r>
              <a:rPr lang="en-US" sz="1200" dirty="0">
                <a:solidFill>
                  <a:srgbClr val="5A6E6A"/>
                </a:solidFill>
                <a:latin typeface="Calibri" panose="020F0502020204030204" pitchFamily="34" charset="0"/>
                <a:ea typeface="Calibri" panose="020F0502020204030204" pitchFamily="34" charset="-122"/>
                <a:cs typeface="Calibri" panose="020F0502020204030204" pitchFamily="34" charset="-120"/>
              </a:rPr>
              <a:t>Control algorithm &amp; workflow</a:t>
            </a:r>
            <a:endParaRPr lang="en-US" sz="1200" dirty="0"/>
          </a:p>
        </p:txBody>
      </p:sp>
      <p:sp>
        <p:nvSpPr>
          <p:cNvPr id="32" name="Shape 29"/>
          <p:cNvSpPr/>
          <p:nvPr/>
        </p:nvSpPr>
        <p:spPr>
          <a:xfrm>
            <a:off x="8394192" y="3657600"/>
            <a:ext cx="3246120" cy="109728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33" name="Shape 30"/>
          <p:cNvSpPr/>
          <p:nvPr/>
        </p:nvSpPr>
        <p:spPr>
          <a:xfrm>
            <a:off x="8595360" y="3913632"/>
            <a:ext cx="585216" cy="585216"/>
          </a:xfrm>
          <a:prstGeom prst="ellipse">
            <a:avLst/>
          </a:prstGeom>
          <a:solidFill>
            <a:srgbClr val="14776B"/>
          </a:solidFill>
          <a:ln w="12700">
            <a:solidFill>
              <a:srgbClr val="14776B"/>
            </a:solidFill>
            <a:prstDash val="solid"/>
          </a:ln>
        </p:spPr>
      </p:sp>
      <p:sp>
        <p:nvSpPr>
          <p:cNvPr id="34" name="Text 31"/>
          <p:cNvSpPr txBox="1"/>
          <p:nvPr/>
        </p:nvSpPr>
        <p:spPr>
          <a:xfrm>
            <a:off x="8595360" y="3913632"/>
            <a:ext cx="585216" cy="585216"/>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a:t>
            </a:r>
            <a:endParaRPr lang="en-US" sz="1600" dirty="0"/>
          </a:p>
        </p:txBody>
      </p:sp>
      <p:sp>
        <p:nvSpPr>
          <p:cNvPr id="35" name="Text 32"/>
          <p:cNvSpPr txBox="1"/>
          <p:nvPr/>
        </p:nvSpPr>
        <p:spPr>
          <a:xfrm>
            <a:off x="9354312" y="3886200"/>
            <a:ext cx="2194560" cy="365760"/>
          </a:xfrm>
          <a:prstGeom prst="rect">
            <a:avLst/>
          </a:prstGeom>
          <a:noFill/>
        </p:spPr>
        <p:txBody>
          <a:bodyPr wrap="square" lIns="0" tIns="0" rIns="0" bIns="0" rtlCol="0" anchor="ctr"/>
          <a:lstStyle/>
          <a:p>
            <a:pPr marL="0" indent="0">
              <a:buNone/>
            </a:pPr>
            <a:r>
              <a:rPr lang="en-US" sz="1550" b="1" dirty="0">
                <a:solidFill>
                  <a:srgbClr val="0B2E2B"/>
                </a:solidFill>
                <a:latin typeface="Calibri" panose="020F0502020204030204" pitchFamily="34" charset="0"/>
                <a:ea typeface="Calibri" panose="020F0502020204030204" pitchFamily="34" charset="-122"/>
                <a:cs typeface="Calibri" panose="020F0502020204030204" pitchFamily="34" charset="-120"/>
              </a:rPr>
              <a:t>ROS 2 Communication</a:t>
            </a:r>
            <a:endParaRPr lang="en-US" sz="1550" dirty="0"/>
          </a:p>
        </p:txBody>
      </p:sp>
      <p:sp>
        <p:nvSpPr>
          <p:cNvPr id="36" name="Text 33"/>
          <p:cNvSpPr txBox="1"/>
          <p:nvPr/>
        </p:nvSpPr>
        <p:spPr>
          <a:xfrm>
            <a:off x="9354312" y="4251960"/>
            <a:ext cx="2194560" cy="274320"/>
          </a:xfrm>
          <a:prstGeom prst="rect">
            <a:avLst/>
          </a:prstGeom>
          <a:noFill/>
        </p:spPr>
        <p:txBody>
          <a:bodyPr wrap="square" lIns="0" tIns="0" rIns="0" bIns="0" rtlCol="0" anchor="t"/>
          <a:lstStyle/>
          <a:p>
            <a:pPr marL="0" indent="0">
              <a:buNone/>
            </a:pPr>
            <a:r>
              <a:rPr lang="en-US" sz="1200" dirty="0">
                <a:solidFill>
                  <a:srgbClr val="5A6E6A"/>
                </a:solidFill>
                <a:latin typeface="Calibri" panose="020F0502020204030204" pitchFamily="34" charset="0"/>
                <a:ea typeface="Calibri" panose="020F0502020204030204" pitchFamily="34" charset="-122"/>
                <a:cs typeface="Calibri" panose="020F0502020204030204" pitchFamily="34" charset="-120"/>
              </a:rPr>
              <a:t>Nodes &amp; topics</a:t>
            </a:r>
            <a:endParaRPr lang="en-US" sz="1200" dirty="0"/>
          </a:p>
        </p:txBody>
      </p:sp>
      <p:sp>
        <p:nvSpPr>
          <p:cNvPr id="37" name="Shape 34"/>
          <p:cNvSpPr/>
          <p:nvPr/>
        </p:nvSpPr>
        <p:spPr>
          <a:xfrm>
            <a:off x="4846320" y="5029200"/>
            <a:ext cx="3246120" cy="109728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38" name="Shape 35"/>
          <p:cNvSpPr/>
          <p:nvPr/>
        </p:nvSpPr>
        <p:spPr>
          <a:xfrm>
            <a:off x="5047488" y="5285232"/>
            <a:ext cx="585216" cy="585216"/>
          </a:xfrm>
          <a:prstGeom prst="ellipse">
            <a:avLst/>
          </a:prstGeom>
          <a:solidFill>
            <a:srgbClr val="14776B"/>
          </a:solidFill>
          <a:ln w="12700">
            <a:solidFill>
              <a:srgbClr val="14776B"/>
            </a:solidFill>
            <a:prstDash val="solid"/>
          </a:ln>
        </p:spPr>
      </p:sp>
      <p:sp>
        <p:nvSpPr>
          <p:cNvPr id="39" name="Text 36"/>
          <p:cNvSpPr txBox="1"/>
          <p:nvPr/>
        </p:nvSpPr>
        <p:spPr>
          <a:xfrm>
            <a:off x="5047488" y="5285232"/>
            <a:ext cx="585216" cy="585216"/>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07</a:t>
            </a:r>
            <a:endParaRPr lang="en-US" sz="1600" dirty="0"/>
          </a:p>
        </p:txBody>
      </p:sp>
      <p:sp>
        <p:nvSpPr>
          <p:cNvPr id="40" name="Text 37"/>
          <p:cNvSpPr txBox="1"/>
          <p:nvPr/>
        </p:nvSpPr>
        <p:spPr>
          <a:xfrm>
            <a:off x="5806440" y="5257800"/>
            <a:ext cx="2194560" cy="365760"/>
          </a:xfrm>
          <a:prstGeom prst="rect">
            <a:avLst/>
          </a:prstGeom>
          <a:noFill/>
        </p:spPr>
        <p:txBody>
          <a:bodyPr wrap="square" lIns="0" tIns="0" rIns="0" bIns="0" rtlCol="0" anchor="ctr"/>
          <a:lstStyle/>
          <a:p>
            <a:pPr marL="0" indent="0">
              <a:buNone/>
            </a:pPr>
            <a:r>
              <a:rPr lang="en-US" sz="1550" b="1" dirty="0">
                <a:solidFill>
                  <a:srgbClr val="0B2E2B"/>
                </a:solidFill>
                <a:latin typeface="Calibri" panose="020F0502020204030204" pitchFamily="34" charset="0"/>
                <a:ea typeface="Calibri" panose="020F0502020204030204" pitchFamily="34" charset="-122"/>
                <a:cs typeface="Calibri" panose="020F0502020204030204" pitchFamily="34" charset="-120"/>
              </a:rPr>
              <a:t>Results &amp; Discussion</a:t>
            </a:r>
            <a:endParaRPr lang="en-US" sz="1550" dirty="0"/>
          </a:p>
        </p:txBody>
      </p:sp>
      <p:sp>
        <p:nvSpPr>
          <p:cNvPr id="41" name="Text 38"/>
          <p:cNvSpPr txBox="1"/>
          <p:nvPr/>
        </p:nvSpPr>
        <p:spPr>
          <a:xfrm>
            <a:off x="5806440" y="5623560"/>
            <a:ext cx="2194560" cy="274320"/>
          </a:xfrm>
          <a:prstGeom prst="rect">
            <a:avLst/>
          </a:prstGeom>
          <a:noFill/>
        </p:spPr>
        <p:txBody>
          <a:bodyPr wrap="square" lIns="0" tIns="0" rIns="0" bIns="0" rtlCol="0" anchor="t"/>
          <a:lstStyle/>
          <a:p>
            <a:pPr marL="0" indent="0">
              <a:buNone/>
            </a:pPr>
            <a:r>
              <a:rPr lang="en-US" sz="1200" dirty="0">
                <a:solidFill>
                  <a:srgbClr val="5A6E6A"/>
                </a:solidFill>
                <a:latin typeface="Calibri" panose="020F0502020204030204" pitchFamily="34" charset="0"/>
                <a:ea typeface="Calibri" panose="020F0502020204030204" pitchFamily="34" charset="-122"/>
                <a:cs typeface="Calibri" panose="020F0502020204030204" pitchFamily="34" charset="-120"/>
              </a:rPr>
              <a:t>Simulation &amp; evaluation</a:t>
            </a:r>
            <a:endParaRPr lang="en-US" sz="1200" dirty="0"/>
          </a:p>
        </p:txBody>
      </p:sp>
      <p:sp>
        <p:nvSpPr>
          <p:cNvPr id="42" name="Shape 39"/>
          <p:cNvSpPr/>
          <p:nvPr/>
        </p:nvSpPr>
        <p:spPr>
          <a:xfrm>
            <a:off x="8394192" y="5029200"/>
            <a:ext cx="3246120" cy="109728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43" name="Shape 40"/>
          <p:cNvSpPr/>
          <p:nvPr/>
        </p:nvSpPr>
        <p:spPr>
          <a:xfrm>
            <a:off x="8595360" y="5285232"/>
            <a:ext cx="585216" cy="585216"/>
          </a:xfrm>
          <a:prstGeom prst="ellipse">
            <a:avLst/>
          </a:prstGeom>
          <a:solidFill>
            <a:srgbClr val="14776B"/>
          </a:solidFill>
          <a:ln w="12700">
            <a:solidFill>
              <a:srgbClr val="14776B"/>
            </a:solidFill>
            <a:prstDash val="solid"/>
          </a:ln>
        </p:spPr>
      </p:sp>
      <p:sp>
        <p:nvSpPr>
          <p:cNvPr id="44" name="Text 41"/>
          <p:cNvSpPr txBox="1"/>
          <p:nvPr/>
        </p:nvSpPr>
        <p:spPr>
          <a:xfrm>
            <a:off x="8595360" y="5285232"/>
            <a:ext cx="585216" cy="585216"/>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08</a:t>
            </a:r>
            <a:endParaRPr lang="en-US" sz="1600" dirty="0"/>
          </a:p>
        </p:txBody>
      </p:sp>
      <p:sp>
        <p:nvSpPr>
          <p:cNvPr id="45" name="Text 42"/>
          <p:cNvSpPr txBox="1"/>
          <p:nvPr/>
        </p:nvSpPr>
        <p:spPr>
          <a:xfrm>
            <a:off x="9354312" y="5257800"/>
            <a:ext cx="2194560" cy="365760"/>
          </a:xfrm>
          <a:prstGeom prst="rect">
            <a:avLst/>
          </a:prstGeom>
          <a:noFill/>
        </p:spPr>
        <p:txBody>
          <a:bodyPr wrap="square" lIns="0" tIns="0" rIns="0" bIns="0" rtlCol="0" anchor="ctr"/>
          <a:lstStyle/>
          <a:p>
            <a:pPr marL="0" indent="0">
              <a:buNone/>
            </a:pPr>
            <a:r>
              <a:rPr lang="en-US" sz="1550" b="1" dirty="0">
                <a:solidFill>
                  <a:srgbClr val="0B2E2B"/>
                </a:solidFill>
                <a:latin typeface="Calibri" panose="020F0502020204030204" pitchFamily="34" charset="0"/>
                <a:ea typeface="Calibri" panose="020F0502020204030204" pitchFamily="34" charset="-122"/>
                <a:cs typeface="Calibri" panose="020F0502020204030204" pitchFamily="34" charset="-120"/>
              </a:rPr>
              <a:t>Conclusion</a:t>
            </a:r>
            <a:endParaRPr lang="en-US" sz="1550" dirty="0"/>
          </a:p>
        </p:txBody>
      </p:sp>
      <p:sp>
        <p:nvSpPr>
          <p:cNvPr id="46" name="Text 43"/>
          <p:cNvSpPr txBox="1"/>
          <p:nvPr/>
        </p:nvSpPr>
        <p:spPr>
          <a:xfrm>
            <a:off x="9354312" y="5623560"/>
            <a:ext cx="2194560" cy="274320"/>
          </a:xfrm>
          <a:prstGeom prst="rect">
            <a:avLst/>
          </a:prstGeom>
          <a:noFill/>
        </p:spPr>
        <p:txBody>
          <a:bodyPr wrap="square" lIns="0" tIns="0" rIns="0" bIns="0" rtlCol="0" anchor="t"/>
          <a:lstStyle/>
          <a:p>
            <a:pPr marL="0" indent="0">
              <a:buNone/>
            </a:pPr>
            <a:r>
              <a:rPr lang="en-US" sz="1200" dirty="0">
                <a:solidFill>
                  <a:srgbClr val="5A6E6A"/>
                </a:solidFill>
                <a:latin typeface="Calibri" panose="020F0502020204030204" pitchFamily="34" charset="0"/>
                <a:ea typeface="Calibri" panose="020F0502020204030204" pitchFamily="34" charset="-122"/>
                <a:cs typeface="Calibri" panose="020F0502020204030204" pitchFamily="34" charset="-120"/>
              </a:rPr>
              <a:t>Limitations &amp; future work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INTRODUCTION</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Why Autonomous Waste Collection?</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548640" y="1554480"/>
            <a:ext cx="3383280" cy="292608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6" name="Shape 4"/>
          <p:cNvSpPr/>
          <p:nvPr/>
        </p:nvSpPr>
        <p:spPr>
          <a:xfrm>
            <a:off x="822960" y="1828800"/>
            <a:ext cx="777240" cy="777240"/>
          </a:xfrm>
          <a:prstGeom prst="ellipse">
            <a:avLst/>
          </a:prstGeom>
          <a:solidFill>
            <a:srgbClr val="14776B"/>
          </a:solidFill>
          <a:ln w="12700">
            <a:solidFill>
              <a:srgbClr val="14776B"/>
            </a:solidFill>
            <a:prstDash val="solid"/>
          </a:ln>
        </p:spPr>
      </p:sp>
      <p:pic>
        <p:nvPicPr>
          <p:cNvPr id="7" name="Image 0" descr="preencoded.png"/>
          <p:cNvPicPr>
            <a:picLocks noChangeAspect="1"/>
          </p:cNvPicPr>
          <p:nvPr/>
        </p:nvPicPr>
        <p:blipFill>
          <a:blip r:embed="rId1"/>
          <a:stretch>
            <a:fillRect/>
          </a:stretch>
        </p:blipFill>
        <p:spPr>
          <a:xfrm>
            <a:off x="1032815" y="2038655"/>
            <a:ext cx="357530" cy="357530"/>
          </a:xfrm>
          <a:prstGeom prst="rect">
            <a:avLst/>
          </a:prstGeom>
        </p:spPr>
      </p:pic>
      <p:sp>
        <p:nvSpPr>
          <p:cNvPr id="8" name="Text 5"/>
          <p:cNvSpPr txBox="1"/>
          <p:nvPr/>
        </p:nvSpPr>
        <p:spPr>
          <a:xfrm>
            <a:off x="822960" y="2743200"/>
            <a:ext cx="2834640" cy="365760"/>
          </a:xfrm>
          <a:prstGeom prst="rect">
            <a:avLst/>
          </a:prstGeom>
          <a:noFill/>
        </p:spPr>
        <p:txBody>
          <a:bodyPr wrap="square" lIns="0" tIns="0" rIns="0" bIns="0" rtlCol="0" anchor="ctr"/>
          <a:lstStyle/>
          <a:p>
            <a:pPr marL="0" indent="0">
              <a:buNone/>
            </a:pPr>
            <a:r>
              <a:rPr lang="en-US" sz="1900" b="1" dirty="0">
                <a:solidFill>
                  <a:srgbClr val="0B2E2B"/>
                </a:solidFill>
                <a:latin typeface="Cambria" panose="02040503050406030204" pitchFamily="34" charset="0"/>
                <a:ea typeface="Cambria" panose="02040503050406030204" pitchFamily="34" charset="-122"/>
                <a:cs typeface="Cambria" panose="02040503050406030204" pitchFamily="34" charset="-120"/>
              </a:rPr>
              <a:t>Rapid urbanization</a:t>
            </a:r>
            <a:endParaRPr lang="en-US" sz="1900" dirty="0"/>
          </a:p>
        </p:txBody>
      </p:sp>
      <p:sp>
        <p:nvSpPr>
          <p:cNvPr id="9" name="Text 6"/>
          <p:cNvSpPr txBox="1"/>
          <p:nvPr/>
        </p:nvSpPr>
        <p:spPr>
          <a:xfrm>
            <a:off x="822960" y="3200400"/>
            <a:ext cx="2834640" cy="1188720"/>
          </a:xfrm>
          <a:prstGeom prst="rect">
            <a:avLst/>
          </a:prstGeom>
          <a:noFill/>
        </p:spPr>
        <p:txBody>
          <a:bodyPr wrap="square" lIns="0" tIns="0" rIns="0" bIns="0" rtlCol="0" anchor="t"/>
          <a:lstStyle/>
          <a:p>
            <a:pPr marL="0" indent="0">
              <a:buNone/>
            </a:pPr>
            <a:r>
              <a:rPr lang="en-US" sz="1400" dirty="0">
                <a:solidFill>
                  <a:srgbClr val="1E2B2A"/>
                </a:solidFill>
                <a:latin typeface="Calibri" panose="020F0502020204030204" pitchFamily="34" charset="0"/>
                <a:ea typeface="Calibri" panose="020F0502020204030204" pitchFamily="34" charset="-122"/>
                <a:cs typeface="Calibri" panose="020F0502020204030204" pitchFamily="34" charset="-120"/>
              </a:rPr>
              <a:t>Population growth is increasing solid waste in public spaces, straining collection and environmental management.</a:t>
            </a:r>
            <a:endParaRPr lang="en-US" sz="1400" dirty="0"/>
          </a:p>
        </p:txBody>
      </p:sp>
      <p:sp>
        <p:nvSpPr>
          <p:cNvPr id="10" name="Shape 7"/>
          <p:cNvSpPr/>
          <p:nvPr/>
        </p:nvSpPr>
        <p:spPr>
          <a:xfrm>
            <a:off x="4402836" y="1554480"/>
            <a:ext cx="3383280" cy="292608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11" name="Shape 8"/>
          <p:cNvSpPr/>
          <p:nvPr/>
        </p:nvSpPr>
        <p:spPr>
          <a:xfrm>
            <a:off x="4677156" y="1828800"/>
            <a:ext cx="777240" cy="777240"/>
          </a:xfrm>
          <a:prstGeom prst="ellipse">
            <a:avLst/>
          </a:prstGeom>
          <a:solidFill>
            <a:srgbClr val="14776B"/>
          </a:solidFill>
          <a:ln w="12700">
            <a:solidFill>
              <a:srgbClr val="14776B"/>
            </a:solidFill>
            <a:prstDash val="solid"/>
          </a:ln>
        </p:spPr>
      </p:sp>
      <p:pic>
        <p:nvPicPr>
          <p:cNvPr id="12" name="Image 1" descr="preencoded.png"/>
          <p:cNvPicPr>
            <a:picLocks noChangeAspect="1"/>
          </p:cNvPicPr>
          <p:nvPr/>
        </p:nvPicPr>
        <p:blipFill>
          <a:blip r:embed="rId2"/>
          <a:stretch>
            <a:fillRect/>
          </a:stretch>
        </p:blipFill>
        <p:spPr>
          <a:xfrm>
            <a:off x="4887011" y="2038655"/>
            <a:ext cx="357530" cy="357530"/>
          </a:xfrm>
          <a:prstGeom prst="rect">
            <a:avLst/>
          </a:prstGeom>
        </p:spPr>
      </p:pic>
      <p:sp>
        <p:nvSpPr>
          <p:cNvPr id="13" name="Text 9"/>
          <p:cNvSpPr txBox="1"/>
          <p:nvPr/>
        </p:nvSpPr>
        <p:spPr>
          <a:xfrm>
            <a:off x="4677156" y="2743200"/>
            <a:ext cx="2834640" cy="365760"/>
          </a:xfrm>
          <a:prstGeom prst="rect">
            <a:avLst/>
          </a:prstGeom>
          <a:noFill/>
        </p:spPr>
        <p:txBody>
          <a:bodyPr wrap="square" lIns="0" tIns="0" rIns="0" bIns="0" rtlCol="0" anchor="ctr"/>
          <a:lstStyle/>
          <a:p>
            <a:pPr marL="0" indent="0">
              <a:buNone/>
            </a:pPr>
            <a:r>
              <a:rPr lang="en-US" sz="1900" b="1" dirty="0">
                <a:solidFill>
                  <a:srgbClr val="0B2E2B"/>
                </a:solidFill>
                <a:latin typeface="Cambria" panose="02040503050406030204" pitchFamily="34" charset="0"/>
                <a:ea typeface="Cambria" panose="02040503050406030204" pitchFamily="34" charset="-122"/>
                <a:cs typeface="Cambria" panose="02040503050406030204" pitchFamily="34" charset="-120"/>
              </a:rPr>
              <a:t>Manual collection limits</a:t>
            </a:r>
            <a:endParaRPr lang="en-US" sz="1900" dirty="0"/>
          </a:p>
        </p:txBody>
      </p:sp>
      <p:sp>
        <p:nvSpPr>
          <p:cNvPr id="14" name="Text 10"/>
          <p:cNvSpPr txBox="1"/>
          <p:nvPr/>
        </p:nvSpPr>
        <p:spPr>
          <a:xfrm>
            <a:off x="4677156" y="3200400"/>
            <a:ext cx="2834640" cy="1188720"/>
          </a:xfrm>
          <a:prstGeom prst="rect">
            <a:avLst/>
          </a:prstGeom>
          <a:noFill/>
        </p:spPr>
        <p:txBody>
          <a:bodyPr wrap="square" lIns="0" tIns="0" rIns="0" bIns="0" rtlCol="0" anchor="t"/>
          <a:lstStyle/>
          <a:p>
            <a:pPr marL="0" indent="0">
              <a:buNone/>
            </a:pPr>
            <a:r>
              <a:rPr lang="en-US" sz="1400" dirty="0">
                <a:solidFill>
                  <a:srgbClr val="1E2B2A"/>
                </a:solidFill>
                <a:latin typeface="Calibri" panose="020F0502020204030204" pitchFamily="34" charset="0"/>
                <a:ea typeface="Calibri" panose="020F0502020204030204" pitchFamily="34" charset="-122"/>
                <a:cs typeface="Calibri" panose="020F0502020204030204" pitchFamily="34" charset="-120"/>
              </a:rPr>
              <a:t>Traditional collection depends on manual labor: time-consuming, inefficient and unhealthy for workers.</a:t>
            </a:r>
            <a:endParaRPr lang="en-US" sz="1400" dirty="0"/>
          </a:p>
        </p:txBody>
      </p:sp>
      <p:sp>
        <p:nvSpPr>
          <p:cNvPr id="15" name="Shape 11"/>
          <p:cNvSpPr/>
          <p:nvPr/>
        </p:nvSpPr>
        <p:spPr>
          <a:xfrm>
            <a:off x="8257032" y="1554480"/>
            <a:ext cx="3383280" cy="292608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16" name="Shape 12"/>
          <p:cNvSpPr/>
          <p:nvPr/>
        </p:nvSpPr>
        <p:spPr>
          <a:xfrm>
            <a:off x="8531352" y="1828800"/>
            <a:ext cx="777240" cy="777240"/>
          </a:xfrm>
          <a:prstGeom prst="ellipse">
            <a:avLst/>
          </a:prstGeom>
          <a:solidFill>
            <a:srgbClr val="14776B"/>
          </a:solidFill>
          <a:ln w="12700">
            <a:solidFill>
              <a:srgbClr val="14776B"/>
            </a:solidFill>
            <a:prstDash val="solid"/>
          </a:ln>
        </p:spPr>
      </p:sp>
      <p:pic>
        <p:nvPicPr>
          <p:cNvPr id="17" name="Image 2" descr="preencoded.png"/>
          <p:cNvPicPr>
            <a:picLocks noChangeAspect="1"/>
          </p:cNvPicPr>
          <p:nvPr/>
        </p:nvPicPr>
        <p:blipFill>
          <a:blip r:embed="rId3"/>
          <a:stretch>
            <a:fillRect/>
          </a:stretch>
        </p:blipFill>
        <p:spPr>
          <a:xfrm>
            <a:off x="8741207" y="2038655"/>
            <a:ext cx="357530" cy="357530"/>
          </a:xfrm>
          <a:prstGeom prst="rect">
            <a:avLst/>
          </a:prstGeom>
        </p:spPr>
      </p:pic>
      <p:sp>
        <p:nvSpPr>
          <p:cNvPr id="18" name="Text 13"/>
          <p:cNvSpPr txBox="1"/>
          <p:nvPr/>
        </p:nvSpPr>
        <p:spPr>
          <a:xfrm>
            <a:off x="8531352" y="2743200"/>
            <a:ext cx="2834640" cy="365760"/>
          </a:xfrm>
          <a:prstGeom prst="rect">
            <a:avLst/>
          </a:prstGeom>
          <a:noFill/>
        </p:spPr>
        <p:txBody>
          <a:bodyPr wrap="square" lIns="0" tIns="0" rIns="0" bIns="0" rtlCol="0" anchor="ctr"/>
          <a:lstStyle/>
          <a:p>
            <a:pPr marL="0" indent="0">
              <a:buNone/>
            </a:pPr>
            <a:r>
              <a:rPr lang="en-US" sz="1900" b="1" dirty="0">
                <a:solidFill>
                  <a:srgbClr val="0B2E2B"/>
                </a:solidFill>
                <a:latin typeface="Cambria" panose="02040503050406030204" pitchFamily="34" charset="0"/>
                <a:ea typeface="Cambria" panose="02040503050406030204" pitchFamily="34" charset="-122"/>
                <a:cs typeface="Cambria" panose="02040503050406030204" pitchFamily="34" charset="-120"/>
              </a:rPr>
              <a:t>Monitoring ≠ collecting</a:t>
            </a:r>
            <a:endParaRPr lang="en-US" sz="1900" dirty="0"/>
          </a:p>
        </p:txBody>
      </p:sp>
      <p:sp>
        <p:nvSpPr>
          <p:cNvPr id="19" name="Text 14"/>
          <p:cNvSpPr txBox="1"/>
          <p:nvPr/>
        </p:nvSpPr>
        <p:spPr>
          <a:xfrm>
            <a:off x="8531352" y="3200400"/>
            <a:ext cx="2834640" cy="1188720"/>
          </a:xfrm>
          <a:prstGeom prst="rect">
            <a:avLst/>
          </a:prstGeom>
          <a:noFill/>
        </p:spPr>
        <p:txBody>
          <a:bodyPr wrap="square" lIns="0" tIns="0" rIns="0" bIns="0" rtlCol="0" anchor="t"/>
          <a:lstStyle/>
          <a:p>
            <a:pPr marL="0" indent="0">
              <a:buNone/>
            </a:pPr>
            <a:r>
              <a:rPr lang="en-US" sz="1400" dirty="0">
                <a:solidFill>
                  <a:srgbClr val="1E2B2A"/>
                </a:solidFill>
                <a:latin typeface="Calibri" panose="020F0502020204030204" pitchFamily="34" charset="0"/>
                <a:ea typeface="Calibri" panose="020F0502020204030204" pitchFamily="34" charset="-122"/>
                <a:cs typeface="Calibri" panose="020F0502020204030204" pitchFamily="34" charset="-120"/>
              </a:rPr>
              <a:t>IoT and AI smart-waste systems mostly detect waste status; they do not physically collect scattered waste.</a:t>
            </a:r>
            <a:endParaRPr lang="en-US" sz="1400" dirty="0"/>
          </a:p>
        </p:txBody>
      </p:sp>
      <p:sp>
        <p:nvSpPr>
          <p:cNvPr id="20" name="Shape 15"/>
          <p:cNvSpPr/>
          <p:nvPr/>
        </p:nvSpPr>
        <p:spPr>
          <a:xfrm>
            <a:off x="548640" y="4754880"/>
            <a:ext cx="11091672" cy="1371600"/>
          </a:xfrm>
          <a:prstGeom prst="roundRect">
            <a:avLst>
              <a:gd name="adj" fmla="val 8000"/>
            </a:avLst>
          </a:prstGeom>
          <a:solidFill>
            <a:srgbClr val="0B2E2B"/>
          </a:solidFill>
          <a:ln w="12700">
            <a:solidFill>
              <a:srgbClr val="0B2E2B"/>
            </a:solidFill>
            <a:prstDash val="solid"/>
          </a:ln>
        </p:spPr>
      </p:sp>
      <p:sp>
        <p:nvSpPr>
          <p:cNvPr id="21" name="Shape 16"/>
          <p:cNvSpPr/>
          <p:nvPr/>
        </p:nvSpPr>
        <p:spPr>
          <a:xfrm>
            <a:off x="868680" y="5166360"/>
            <a:ext cx="548640" cy="548640"/>
          </a:xfrm>
          <a:prstGeom prst="ellipse">
            <a:avLst/>
          </a:prstGeom>
          <a:solidFill>
            <a:srgbClr val="F2A93B"/>
          </a:solidFill>
          <a:ln w="12700">
            <a:solidFill>
              <a:srgbClr val="F2A93B"/>
            </a:solidFill>
            <a:prstDash val="solid"/>
          </a:ln>
        </p:spPr>
      </p:sp>
      <p:pic>
        <p:nvPicPr>
          <p:cNvPr id="22" name="Image 3" descr="preencoded.png"/>
          <p:cNvPicPr>
            <a:picLocks noChangeAspect="1"/>
          </p:cNvPicPr>
          <p:nvPr/>
        </p:nvPicPr>
        <p:blipFill>
          <a:blip r:embed="rId4"/>
          <a:stretch>
            <a:fillRect/>
          </a:stretch>
        </p:blipFill>
        <p:spPr>
          <a:xfrm>
            <a:off x="1016813" y="5314493"/>
            <a:ext cx="252374" cy="252374"/>
          </a:xfrm>
          <a:prstGeom prst="rect">
            <a:avLst/>
          </a:prstGeom>
        </p:spPr>
      </p:pic>
      <p:sp>
        <p:nvSpPr>
          <p:cNvPr id="23" name="Text 17"/>
          <p:cNvSpPr txBox="1"/>
          <p:nvPr/>
        </p:nvSpPr>
        <p:spPr>
          <a:xfrm>
            <a:off x="1691640" y="4937760"/>
            <a:ext cx="3657600" cy="274320"/>
          </a:xfrm>
          <a:prstGeom prst="rect">
            <a:avLst/>
          </a:prstGeom>
          <a:noFill/>
        </p:spPr>
        <p:txBody>
          <a:bodyPr wrap="square" lIns="0" tIns="0" rIns="0" bIns="0" rtlCol="0" anchor="ctr"/>
          <a:lstStyle/>
          <a:p>
            <a:pPr marL="0" indent="0">
              <a:buNone/>
            </a:pPr>
            <a:r>
              <a:rPr lang="en-US" sz="12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Our approach</a:t>
            </a:r>
            <a:endParaRPr lang="en-US" sz="1200" dirty="0"/>
          </a:p>
        </p:txBody>
      </p:sp>
      <p:sp>
        <p:nvSpPr>
          <p:cNvPr id="24" name="Text 18"/>
          <p:cNvSpPr txBox="1"/>
          <p:nvPr/>
        </p:nvSpPr>
        <p:spPr>
          <a:xfrm>
            <a:off x="1691640" y="5257800"/>
            <a:ext cx="9601200" cy="731520"/>
          </a:xfrm>
          <a:prstGeom prst="rect">
            <a:avLst/>
          </a:prstGeom>
          <a:noFill/>
        </p:spPr>
        <p:txBody>
          <a:bodyPr wrap="square" lIns="0" tIns="0" rIns="0" bIns="0" rtlCol="0" anchor="t"/>
          <a:lstStyle/>
          <a:p>
            <a:pPr marL="0" indent="0">
              <a:buNone/>
            </a:pP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A mobile robot that detects, approaches, grasps and disposes of waste, covering the complete operational cycle in ROS 2 and Gazebo.</a:t>
            </a:r>
            <a:endParaRPr lang="en-US" sz="1700" dirty="0"/>
          </a:p>
        </p:txBody>
      </p:sp>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INTRODUCTION</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Objectives and Contributions</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548640" y="1554480"/>
            <a:ext cx="5120640" cy="4572000"/>
          </a:xfrm>
          <a:prstGeom prst="roundRect">
            <a:avLst>
              <a:gd name="adj" fmla="val 240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6" name="Text 4"/>
          <p:cNvSpPr txBox="1"/>
          <p:nvPr/>
        </p:nvSpPr>
        <p:spPr>
          <a:xfrm>
            <a:off x="868680" y="1783080"/>
            <a:ext cx="4480560" cy="365760"/>
          </a:xfrm>
          <a:prstGeom prst="rect">
            <a:avLst/>
          </a:prstGeom>
          <a:noFill/>
        </p:spPr>
        <p:txBody>
          <a:bodyPr wrap="square" lIns="0" tIns="0" rIns="0" bIns="0" rtlCol="0" anchor="ctr"/>
          <a:lstStyle/>
          <a:p>
            <a:pPr marL="0" indent="0">
              <a:buNone/>
            </a:pPr>
            <a:r>
              <a:rPr lang="en-US" sz="2000" b="1" dirty="0">
                <a:solidFill>
                  <a:srgbClr val="0B2E2B"/>
                </a:solidFill>
                <a:latin typeface="Cambria" panose="02040503050406030204" pitchFamily="34" charset="0"/>
                <a:ea typeface="Cambria" panose="02040503050406030204" pitchFamily="34" charset="-122"/>
                <a:cs typeface="Cambria" panose="02040503050406030204" pitchFamily="34" charset="-120"/>
              </a:rPr>
              <a:t>Design objectives</a:t>
            </a:r>
            <a:endParaRPr lang="en-US" sz="2000" dirty="0"/>
          </a:p>
        </p:txBody>
      </p:sp>
      <p:sp>
        <p:nvSpPr>
          <p:cNvPr id="7" name="Shape 5"/>
          <p:cNvSpPr/>
          <p:nvPr/>
        </p:nvSpPr>
        <p:spPr>
          <a:xfrm>
            <a:off x="868680" y="2377440"/>
            <a:ext cx="594360" cy="594360"/>
          </a:xfrm>
          <a:prstGeom prst="ellipse">
            <a:avLst/>
          </a:prstGeom>
          <a:solidFill>
            <a:srgbClr val="14776B"/>
          </a:solidFill>
          <a:ln w="12700">
            <a:solidFill>
              <a:srgbClr val="14776B"/>
            </a:solidFill>
            <a:prstDash val="solid"/>
          </a:ln>
        </p:spPr>
      </p:sp>
      <p:pic>
        <p:nvPicPr>
          <p:cNvPr id="8" name="Image 0" descr="preencoded.png"/>
          <p:cNvPicPr>
            <a:picLocks noChangeAspect="1"/>
          </p:cNvPicPr>
          <p:nvPr/>
        </p:nvPicPr>
        <p:blipFill>
          <a:blip r:embed="rId1"/>
          <a:stretch>
            <a:fillRect/>
          </a:stretch>
        </p:blipFill>
        <p:spPr>
          <a:xfrm>
            <a:off x="1029157" y="2537917"/>
            <a:ext cx="273406" cy="273406"/>
          </a:xfrm>
          <a:prstGeom prst="rect">
            <a:avLst/>
          </a:prstGeom>
        </p:spPr>
      </p:pic>
      <p:sp>
        <p:nvSpPr>
          <p:cNvPr id="9" name="Text 6"/>
          <p:cNvSpPr txBox="1"/>
          <p:nvPr/>
        </p:nvSpPr>
        <p:spPr>
          <a:xfrm>
            <a:off x="1691640" y="2377440"/>
            <a:ext cx="3749040" cy="594360"/>
          </a:xfrm>
          <a:prstGeom prst="rect">
            <a:avLst/>
          </a:prstGeom>
          <a:noFill/>
        </p:spPr>
        <p:txBody>
          <a:bodyPr wrap="square" lIns="0" tIns="0" rIns="0" bIns="0" rtlCol="0" anchor="ctr"/>
          <a:lstStyle/>
          <a:p>
            <a:pPr marL="0" indent="0">
              <a:buNone/>
            </a:pPr>
            <a:r>
              <a:rPr lang="en-US" sz="1500" dirty="0">
                <a:solidFill>
                  <a:srgbClr val="1E2B2A"/>
                </a:solidFill>
                <a:latin typeface="Calibri" panose="020F0502020204030204" pitchFamily="34" charset="0"/>
                <a:ea typeface="Calibri" panose="020F0502020204030204" pitchFamily="34" charset="-122"/>
                <a:cs typeface="Calibri" panose="020F0502020204030204" pitchFamily="34" charset="-120"/>
              </a:rPr>
              <a:t>Reliable waste perception</a:t>
            </a:r>
            <a:endParaRPr lang="en-US" sz="1500" dirty="0"/>
          </a:p>
        </p:txBody>
      </p:sp>
      <p:sp>
        <p:nvSpPr>
          <p:cNvPr id="10" name="Shape 7"/>
          <p:cNvSpPr/>
          <p:nvPr/>
        </p:nvSpPr>
        <p:spPr>
          <a:xfrm>
            <a:off x="868680" y="3291840"/>
            <a:ext cx="594360" cy="594360"/>
          </a:xfrm>
          <a:prstGeom prst="ellipse">
            <a:avLst/>
          </a:prstGeom>
          <a:solidFill>
            <a:srgbClr val="14776B"/>
          </a:solidFill>
          <a:ln w="12700">
            <a:solidFill>
              <a:srgbClr val="14776B"/>
            </a:solidFill>
            <a:prstDash val="solid"/>
          </a:ln>
        </p:spPr>
      </p:sp>
      <p:pic>
        <p:nvPicPr>
          <p:cNvPr id="11" name="Image 1" descr="preencoded.png"/>
          <p:cNvPicPr>
            <a:picLocks noChangeAspect="1"/>
          </p:cNvPicPr>
          <p:nvPr/>
        </p:nvPicPr>
        <p:blipFill>
          <a:blip r:embed="rId2"/>
          <a:stretch>
            <a:fillRect/>
          </a:stretch>
        </p:blipFill>
        <p:spPr>
          <a:xfrm>
            <a:off x="1029157" y="3452317"/>
            <a:ext cx="273406" cy="273406"/>
          </a:xfrm>
          <a:prstGeom prst="rect">
            <a:avLst/>
          </a:prstGeom>
        </p:spPr>
      </p:pic>
      <p:sp>
        <p:nvSpPr>
          <p:cNvPr id="12" name="Text 8"/>
          <p:cNvSpPr txBox="1"/>
          <p:nvPr/>
        </p:nvSpPr>
        <p:spPr>
          <a:xfrm>
            <a:off x="1691640" y="3291840"/>
            <a:ext cx="3749040" cy="594360"/>
          </a:xfrm>
          <a:prstGeom prst="rect">
            <a:avLst/>
          </a:prstGeom>
          <a:noFill/>
        </p:spPr>
        <p:txBody>
          <a:bodyPr wrap="square" lIns="0" tIns="0" rIns="0" bIns="0" rtlCol="0" anchor="ctr"/>
          <a:lstStyle/>
          <a:p>
            <a:pPr marL="0" indent="0">
              <a:buNone/>
            </a:pPr>
            <a:r>
              <a:rPr lang="en-US" sz="1500" dirty="0">
                <a:solidFill>
                  <a:srgbClr val="1E2B2A"/>
                </a:solidFill>
                <a:latin typeface="Calibri" panose="020F0502020204030204" pitchFamily="34" charset="0"/>
                <a:ea typeface="Calibri" panose="020F0502020204030204" pitchFamily="34" charset="-122"/>
                <a:cs typeface="Calibri" panose="020F0502020204030204" pitchFamily="34" charset="-120"/>
              </a:rPr>
              <a:t>Real-time communication among robot modules</a:t>
            </a:r>
            <a:endParaRPr lang="en-US" sz="1500" dirty="0"/>
          </a:p>
        </p:txBody>
      </p:sp>
      <p:sp>
        <p:nvSpPr>
          <p:cNvPr id="13" name="Shape 9"/>
          <p:cNvSpPr/>
          <p:nvPr/>
        </p:nvSpPr>
        <p:spPr>
          <a:xfrm>
            <a:off x="868680" y="4206240"/>
            <a:ext cx="594360" cy="594360"/>
          </a:xfrm>
          <a:prstGeom prst="ellipse">
            <a:avLst/>
          </a:prstGeom>
          <a:solidFill>
            <a:srgbClr val="14776B"/>
          </a:solidFill>
          <a:ln w="12700">
            <a:solidFill>
              <a:srgbClr val="14776B"/>
            </a:solidFill>
            <a:prstDash val="solid"/>
          </a:ln>
        </p:spPr>
      </p:sp>
      <p:pic>
        <p:nvPicPr>
          <p:cNvPr id="14" name="Image 2" descr="preencoded.png"/>
          <p:cNvPicPr>
            <a:picLocks noChangeAspect="1"/>
          </p:cNvPicPr>
          <p:nvPr/>
        </p:nvPicPr>
        <p:blipFill>
          <a:blip r:embed="rId3"/>
          <a:stretch>
            <a:fillRect/>
          </a:stretch>
        </p:blipFill>
        <p:spPr>
          <a:xfrm>
            <a:off x="1029157" y="4366717"/>
            <a:ext cx="273406" cy="273406"/>
          </a:xfrm>
          <a:prstGeom prst="rect">
            <a:avLst/>
          </a:prstGeom>
        </p:spPr>
      </p:pic>
      <p:sp>
        <p:nvSpPr>
          <p:cNvPr id="15" name="Text 10"/>
          <p:cNvSpPr txBox="1"/>
          <p:nvPr/>
        </p:nvSpPr>
        <p:spPr>
          <a:xfrm>
            <a:off x="1691640" y="4206240"/>
            <a:ext cx="3749040" cy="594360"/>
          </a:xfrm>
          <a:prstGeom prst="rect">
            <a:avLst/>
          </a:prstGeom>
          <a:noFill/>
        </p:spPr>
        <p:txBody>
          <a:bodyPr wrap="square" lIns="0" tIns="0" rIns="0" bIns="0" rtlCol="0" anchor="ctr"/>
          <a:lstStyle/>
          <a:p>
            <a:pPr marL="0" indent="0">
              <a:buNone/>
            </a:pPr>
            <a:r>
              <a:rPr lang="en-US" sz="1500" dirty="0">
                <a:solidFill>
                  <a:srgbClr val="1E2B2A"/>
                </a:solidFill>
                <a:latin typeface="Calibri" panose="020F0502020204030204" pitchFamily="34" charset="0"/>
                <a:ea typeface="Calibri" panose="020F0502020204030204" pitchFamily="34" charset="-122"/>
                <a:cs typeface="Calibri" panose="020F0502020204030204" pitchFamily="34" charset="-120"/>
              </a:rPr>
              <a:t>Autonomous movement toward detected objects</a:t>
            </a:r>
            <a:endParaRPr lang="en-US" sz="1500" dirty="0"/>
          </a:p>
        </p:txBody>
      </p:sp>
      <p:sp>
        <p:nvSpPr>
          <p:cNvPr id="16" name="Shape 11"/>
          <p:cNvSpPr/>
          <p:nvPr/>
        </p:nvSpPr>
        <p:spPr>
          <a:xfrm>
            <a:off x="868680" y="5120640"/>
            <a:ext cx="594360" cy="594360"/>
          </a:xfrm>
          <a:prstGeom prst="ellipse">
            <a:avLst/>
          </a:prstGeom>
          <a:solidFill>
            <a:srgbClr val="14776B"/>
          </a:solidFill>
          <a:ln w="12700">
            <a:solidFill>
              <a:srgbClr val="14776B"/>
            </a:solidFill>
            <a:prstDash val="solid"/>
          </a:ln>
        </p:spPr>
      </p:sp>
      <p:pic>
        <p:nvPicPr>
          <p:cNvPr id="17" name="Image 3" descr="preencoded.png"/>
          <p:cNvPicPr>
            <a:picLocks noChangeAspect="1"/>
          </p:cNvPicPr>
          <p:nvPr/>
        </p:nvPicPr>
        <p:blipFill>
          <a:blip r:embed="rId4"/>
          <a:stretch>
            <a:fillRect/>
          </a:stretch>
        </p:blipFill>
        <p:spPr>
          <a:xfrm>
            <a:off x="1029157" y="5281117"/>
            <a:ext cx="273406" cy="273406"/>
          </a:xfrm>
          <a:prstGeom prst="rect">
            <a:avLst/>
          </a:prstGeom>
        </p:spPr>
      </p:pic>
      <p:sp>
        <p:nvSpPr>
          <p:cNvPr id="18" name="Text 12"/>
          <p:cNvSpPr txBox="1"/>
          <p:nvPr/>
        </p:nvSpPr>
        <p:spPr>
          <a:xfrm>
            <a:off x="1691640" y="5120640"/>
            <a:ext cx="3749040" cy="594360"/>
          </a:xfrm>
          <a:prstGeom prst="rect">
            <a:avLst/>
          </a:prstGeom>
          <a:noFill/>
        </p:spPr>
        <p:txBody>
          <a:bodyPr wrap="square" lIns="0" tIns="0" rIns="0" bIns="0" rtlCol="0" anchor="ctr"/>
          <a:lstStyle/>
          <a:p>
            <a:pPr marL="0" indent="0">
              <a:buNone/>
            </a:pPr>
            <a:r>
              <a:rPr lang="en-US" sz="1500" dirty="0">
                <a:solidFill>
                  <a:srgbClr val="1E2B2A"/>
                </a:solidFill>
                <a:latin typeface="Calibri" panose="020F0502020204030204" pitchFamily="34" charset="0"/>
                <a:ea typeface="Calibri" panose="020F0502020204030204" pitchFamily="34" charset="-122"/>
                <a:cs typeface="Calibri" panose="020F0502020204030204" pitchFamily="34" charset="-120"/>
              </a:rPr>
              <a:t>Effective waste handling with arm and gripper</a:t>
            </a:r>
            <a:endParaRPr lang="en-US" sz="1500" dirty="0"/>
          </a:p>
        </p:txBody>
      </p:sp>
      <p:sp>
        <p:nvSpPr>
          <p:cNvPr id="19" name="Text 13"/>
          <p:cNvSpPr txBox="1"/>
          <p:nvPr/>
        </p:nvSpPr>
        <p:spPr>
          <a:xfrm>
            <a:off x="6126480" y="1783080"/>
            <a:ext cx="5486400" cy="365760"/>
          </a:xfrm>
          <a:prstGeom prst="rect">
            <a:avLst/>
          </a:prstGeom>
          <a:noFill/>
        </p:spPr>
        <p:txBody>
          <a:bodyPr wrap="square" lIns="0" tIns="0" rIns="0" bIns="0" rtlCol="0" anchor="ctr"/>
          <a:lstStyle/>
          <a:p>
            <a:pPr marL="0" indent="0">
              <a:buNone/>
            </a:pPr>
            <a:r>
              <a:rPr lang="en-US" sz="2000" b="1" dirty="0">
                <a:solidFill>
                  <a:srgbClr val="0B2E2B"/>
                </a:solidFill>
                <a:latin typeface="Cambria" panose="02040503050406030204" pitchFamily="34" charset="0"/>
                <a:ea typeface="Cambria" panose="02040503050406030204" pitchFamily="34" charset="-122"/>
                <a:cs typeface="Cambria" panose="02040503050406030204" pitchFamily="34" charset="-120"/>
              </a:rPr>
              <a:t>Key contributions</a:t>
            </a:r>
            <a:endParaRPr lang="en-US" sz="2000" dirty="0"/>
          </a:p>
        </p:txBody>
      </p:sp>
      <p:sp>
        <p:nvSpPr>
          <p:cNvPr id="20" name="Shape 14"/>
          <p:cNvSpPr/>
          <p:nvPr/>
        </p:nvSpPr>
        <p:spPr>
          <a:xfrm>
            <a:off x="6126480" y="2286000"/>
            <a:ext cx="5513832" cy="1170432"/>
          </a:xfrm>
          <a:prstGeom prst="roundRect">
            <a:avLst>
              <a:gd name="adj" fmla="val 9375"/>
            </a:avLst>
          </a:prstGeom>
          <a:solidFill>
            <a:srgbClr val="0B2E2B"/>
          </a:solidFill>
          <a:ln w="12700">
            <a:solidFill>
              <a:srgbClr val="0B2E2B"/>
            </a:solidFill>
            <a:prstDash val="solid"/>
          </a:ln>
        </p:spPr>
      </p:sp>
      <p:sp>
        <p:nvSpPr>
          <p:cNvPr id="21" name="Shape 15"/>
          <p:cNvSpPr/>
          <p:nvPr/>
        </p:nvSpPr>
        <p:spPr>
          <a:xfrm>
            <a:off x="6355080" y="2596896"/>
            <a:ext cx="548640" cy="548640"/>
          </a:xfrm>
          <a:prstGeom prst="ellipse">
            <a:avLst/>
          </a:prstGeom>
          <a:solidFill>
            <a:srgbClr val="F2A93B"/>
          </a:solidFill>
          <a:ln w="12700">
            <a:solidFill>
              <a:srgbClr val="F2A93B"/>
            </a:solidFill>
            <a:prstDash val="solid"/>
          </a:ln>
        </p:spPr>
      </p:sp>
      <p:sp>
        <p:nvSpPr>
          <p:cNvPr id="22" name="Text 16"/>
          <p:cNvSpPr txBox="1"/>
          <p:nvPr/>
        </p:nvSpPr>
        <p:spPr>
          <a:xfrm>
            <a:off x="6355080" y="2596896"/>
            <a:ext cx="548640" cy="548640"/>
          </a:xfrm>
          <a:prstGeom prst="rect">
            <a:avLst/>
          </a:prstGeom>
          <a:noFill/>
        </p:spPr>
        <p:txBody>
          <a:bodyPr wrap="square" lIns="0" tIns="0" rIns="0" bIns="0" rtlCol="0" anchor="ctr"/>
          <a:lstStyle/>
          <a:p>
            <a:pPr marL="0" indent="0" algn="ctr">
              <a:buNone/>
            </a:pPr>
            <a:r>
              <a:rPr lang="en-US" sz="1800" b="1" dirty="0">
                <a:solidFill>
                  <a:srgbClr val="0B2E2B"/>
                </a:solidFill>
                <a:latin typeface="Calibri" panose="020F0502020204030204" pitchFamily="34" charset="0"/>
                <a:ea typeface="Calibri" panose="020F0502020204030204" pitchFamily="34" charset="-122"/>
                <a:cs typeface="Calibri" panose="020F0502020204030204" pitchFamily="34" charset="-120"/>
              </a:rPr>
              <a:t>1</a:t>
            </a:r>
            <a:endParaRPr lang="en-US" sz="1800" dirty="0"/>
          </a:p>
        </p:txBody>
      </p:sp>
      <p:sp>
        <p:nvSpPr>
          <p:cNvPr id="23" name="Text 17"/>
          <p:cNvSpPr txBox="1"/>
          <p:nvPr/>
        </p:nvSpPr>
        <p:spPr>
          <a:xfrm>
            <a:off x="7132320" y="2423160"/>
            <a:ext cx="4343400" cy="320040"/>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Integrated robot architecture</a:t>
            </a:r>
            <a:endParaRPr lang="en-US" sz="1500" dirty="0"/>
          </a:p>
        </p:txBody>
      </p:sp>
      <p:sp>
        <p:nvSpPr>
          <p:cNvPr id="24" name="Text 18"/>
          <p:cNvSpPr txBox="1"/>
          <p:nvPr/>
        </p:nvSpPr>
        <p:spPr>
          <a:xfrm>
            <a:off x="7132320" y="2761488"/>
            <a:ext cx="4343400" cy="640080"/>
          </a:xfrm>
          <a:prstGeom prst="rect">
            <a:avLst/>
          </a:prstGeom>
          <a:noFill/>
        </p:spPr>
        <p:txBody>
          <a:bodyPr wrap="square" lIns="0" tIns="0" rIns="0" bIns="0" rtlCol="0" anchor="t"/>
          <a:lstStyle/>
          <a:p>
            <a:pPr marL="0" indent="0">
              <a:buNone/>
            </a:pPr>
            <a:r>
              <a:rPr lang="en-US" sz="1200" dirty="0">
                <a:solidFill>
                  <a:srgbClr val="CDE8DF"/>
                </a:solidFill>
                <a:latin typeface="Calibri" panose="020F0502020204030204" pitchFamily="34" charset="0"/>
                <a:ea typeface="Calibri" panose="020F0502020204030204" pitchFamily="34" charset="-122"/>
                <a:cs typeface="Calibri" panose="020F0502020204030204" pitchFamily="34" charset="-120"/>
              </a:rPr>
              <a:t>Camera perception, LiDAR sensing, ROS 2 communication, navigation and manipulation in one mobile platform.</a:t>
            </a:r>
            <a:endParaRPr lang="en-US" sz="1200" dirty="0"/>
          </a:p>
        </p:txBody>
      </p:sp>
      <p:sp>
        <p:nvSpPr>
          <p:cNvPr id="25" name="Shape 19"/>
          <p:cNvSpPr/>
          <p:nvPr/>
        </p:nvSpPr>
        <p:spPr>
          <a:xfrm>
            <a:off x="6126480" y="3584448"/>
            <a:ext cx="5513832" cy="1170432"/>
          </a:xfrm>
          <a:prstGeom prst="roundRect">
            <a:avLst>
              <a:gd name="adj" fmla="val 9375"/>
            </a:avLst>
          </a:prstGeom>
          <a:solidFill>
            <a:srgbClr val="0B2E2B"/>
          </a:solidFill>
          <a:ln w="12700">
            <a:solidFill>
              <a:srgbClr val="0B2E2B"/>
            </a:solidFill>
            <a:prstDash val="solid"/>
          </a:ln>
        </p:spPr>
      </p:sp>
      <p:sp>
        <p:nvSpPr>
          <p:cNvPr id="26" name="Shape 20"/>
          <p:cNvSpPr/>
          <p:nvPr/>
        </p:nvSpPr>
        <p:spPr>
          <a:xfrm>
            <a:off x="6355080" y="3895344"/>
            <a:ext cx="548640" cy="548640"/>
          </a:xfrm>
          <a:prstGeom prst="ellipse">
            <a:avLst/>
          </a:prstGeom>
          <a:solidFill>
            <a:srgbClr val="F2A93B"/>
          </a:solidFill>
          <a:ln w="12700">
            <a:solidFill>
              <a:srgbClr val="F2A93B"/>
            </a:solidFill>
            <a:prstDash val="solid"/>
          </a:ln>
        </p:spPr>
      </p:sp>
      <p:sp>
        <p:nvSpPr>
          <p:cNvPr id="27" name="Text 21"/>
          <p:cNvSpPr txBox="1"/>
          <p:nvPr/>
        </p:nvSpPr>
        <p:spPr>
          <a:xfrm>
            <a:off x="6355080" y="3895344"/>
            <a:ext cx="548640" cy="548640"/>
          </a:xfrm>
          <a:prstGeom prst="rect">
            <a:avLst/>
          </a:prstGeom>
          <a:noFill/>
        </p:spPr>
        <p:txBody>
          <a:bodyPr wrap="square" lIns="0" tIns="0" rIns="0" bIns="0" rtlCol="0" anchor="ctr"/>
          <a:lstStyle/>
          <a:p>
            <a:pPr marL="0" indent="0" algn="ctr">
              <a:buNone/>
            </a:pPr>
            <a:r>
              <a:rPr lang="en-US" sz="1800" b="1" dirty="0">
                <a:solidFill>
                  <a:srgbClr val="0B2E2B"/>
                </a:solidFill>
                <a:latin typeface="Calibri" panose="020F0502020204030204" pitchFamily="34" charset="0"/>
                <a:ea typeface="Calibri" panose="020F0502020204030204" pitchFamily="34" charset="-122"/>
                <a:cs typeface="Calibri" panose="020F0502020204030204" pitchFamily="34" charset="-120"/>
              </a:rPr>
              <a:t>2</a:t>
            </a:r>
            <a:endParaRPr lang="en-US" sz="1800" dirty="0"/>
          </a:p>
        </p:txBody>
      </p:sp>
      <p:sp>
        <p:nvSpPr>
          <p:cNvPr id="28" name="Text 22"/>
          <p:cNvSpPr txBox="1"/>
          <p:nvPr/>
        </p:nvSpPr>
        <p:spPr>
          <a:xfrm>
            <a:off x="7132320" y="3721608"/>
            <a:ext cx="4343400" cy="320040"/>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Simulation-based platform for waste handling</a:t>
            </a:r>
            <a:endParaRPr lang="en-US" sz="1500" dirty="0"/>
          </a:p>
        </p:txBody>
      </p:sp>
      <p:sp>
        <p:nvSpPr>
          <p:cNvPr id="29" name="Text 23"/>
          <p:cNvSpPr txBox="1"/>
          <p:nvPr/>
        </p:nvSpPr>
        <p:spPr>
          <a:xfrm>
            <a:off x="7132320" y="4059936"/>
            <a:ext cx="4343400" cy="640080"/>
          </a:xfrm>
          <a:prstGeom prst="rect">
            <a:avLst/>
          </a:prstGeom>
          <a:noFill/>
        </p:spPr>
        <p:txBody>
          <a:bodyPr wrap="square" lIns="0" tIns="0" rIns="0" bIns="0" rtlCol="0" anchor="t"/>
          <a:lstStyle/>
          <a:p>
            <a:pPr marL="0" indent="0">
              <a:buNone/>
            </a:pPr>
            <a:r>
              <a:rPr lang="en-US" sz="1200" dirty="0">
                <a:solidFill>
                  <a:srgbClr val="CDE8DF"/>
                </a:solidFill>
                <a:latin typeface="Calibri" panose="020F0502020204030204" pitchFamily="34" charset="0"/>
                <a:ea typeface="Calibri" panose="020F0502020204030204" pitchFamily="34" charset="-122"/>
                <a:cs typeface="Calibri" panose="020F0502020204030204" pitchFamily="34" charset="-120"/>
              </a:rPr>
              <a:t>Reproducible Gazebo environment with robot model, sensors, trash objects, robotic arm and gripper.</a:t>
            </a:r>
            <a:endParaRPr lang="en-US" sz="1200" dirty="0"/>
          </a:p>
        </p:txBody>
      </p:sp>
      <p:sp>
        <p:nvSpPr>
          <p:cNvPr id="30" name="Shape 24"/>
          <p:cNvSpPr/>
          <p:nvPr/>
        </p:nvSpPr>
        <p:spPr>
          <a:xfrm>
            <a:off x="6126480" y="4882896"/>
            <a:ext cx="5513832" cy="1170432"/>
          </a:xfrm>
          <a:prstGeom prst="roundRect">
            <a:avLst>
              <a:gd name="adj" fmla="val 9375"/>
            </a:avLst>
          </a:prstGeom>
          <a:solidFill>
            <a:srgbClr val="0B2E2B"/>
          </a:solidFill>
          <a:ln w="12700">
            <a:solidFill>
              <a:srgbClr val="0B2E2B"/>
            </a:solidFill>
            <a:prstDash val="solid"/>
          </a:ln>
        </p:spPr>
      </p:sp>
      <p:sp>
        <p:nvSpPr>
          <p:cNvPr id="31" name="Shape 25"/>
          <p:cNvSpPr/>
          <p:nvPr/>
        </p:nvSpPr>
        <p:spPr>
          <a:xfrm>
            <a:off x="6355080" y="5193792"/>
            <a:ext cx="548640" cy="548640"/>
          </a:xfrm>
          <a:prstGeom prst="ellipse">
            <a:avLst/>
          </a:prstGeom>
          <a:solidFill>
            <a:srgbClr val="F2A93B"/>
          </a:solidFill>
          <a:ln w="12700">
            <a:solidFill>
              <a:srgbClr val="F2A93B"/>
            </a:solidFill>
            <a:prstDash val="solid"/>
          </a:ln>
        </p:spPr>
      </p:sp>
      <p:sp>
        <p:nvSpPr>
          <p:cNvPr id="32" name="Text 26"/>
          <p:cNvSpPr txBox="1"/>
          <p:nvPr/>
        </p:nvSpPr>
        <p:spPr>
          <a:xfrm>
            <a:off x="6355080" y="5193792"/>
            <a:ext cx="548640" cy="548640"/>
          </a:xfrm>
          <a:prstGeom prst="rect">
            <a:avLst/>
          </a:prstGeom>
          <a:noFill/>
        </p:spPr>
        <p:txBody>
          <a:bodyPr wrap="square" lIns="0" tIns="0" rIns="0" bIns="0" rtlCol="0" anchor="ctr"/>
          <a:lstStyle/>
          <a:p>
            <a:pPr marL="0" indent="0" algn="ctr">
              <a:buNone/>
            </a:pPr>
            <a:r>
              <a:rPr lang="en-US" sz="1800" b="1" dirty="0">
                <a:solidFill>
                  <a:srgbClr val="0B2E2B"/>
                </a:solidFill>
                <a:latin typeface="Calibri" panose="020F0502020204030204" pitchFamily="34" charset="0"/>
                <a:ea typeface="Calibri" panose="020F0502020204030204" pitchFamily="34" charset="-122"/>
                <a:cs typeface="Calibri" panose="020F0502020204030204" pitchFamily="34" charset="-120"/>
              </a:rPr>
              <a:t>3</a:t>
            </a:r>
            <a:endParaRPr lang="en-US" sz="1800" dirty="0"/>
          </a:p>
        </p:txBody>
      </p:sp>
      <p:sp>
        <p:nvSpPr>
          <p:cNvPr id="33" name="Text 27"/>
          <p:cNvSpPr txBox="1"/>
          <p:nvPr/>
        </p:nvSpPr>
        <p:spPr>
          <a:xfrm>
            <a:off x="7132320" y="5020056"/>
            <a:ext cx="4343400" cy="320040"/>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ROS 2 perception-to-action control</a:t>
            </a:r>
            <a:endParaRPr lang="en-US" sz="1500" dirty="0"/>
          </a:p>
        </p:txBody>
      </p:sp>
      <p:sp>
        <p:nvSpPr>
          <p:cNvPr id="34" name="Text 28"/>
          <p:cNvSpPr txBox="1"/>
          <p:nvPr/>
        </p:nvSpPr>
        <p:spPr>
          <a:xfrm>
            <a:off x="7132320" y="5358384"/>
            <a:ext cx="4343400" cy="640080"/>
          </a:xfrm>
          <a:prstGeom prst="rect">
            <a:avLst/>
          </a:prstGeom>
          <a:noFill/>
        </p:spPr>
        <p:txBody>
          <a:bodyPr wrap="square" lIns="0" tIns="0" rIns="0" bIns="0" rtlCol="0" anchor="t"/>
          <a:lstStyle/>
          <a:p>
            <a:pPr marL="0" indent="0">
              <a:buNone/>
            </a:pPr>
            <a:r>
              <a:rPr lang="en-US" sz="1200" dirty="0">
                <a:solidFill>
                  <a:srgbClr val="CDE8DF"/>
                </a:solidFill>
                <a:latin typeface="Calibri" panose="020F0502020204030204" pitchFamily="34" charset="0"/>
                <a:ea typeface="Calibri" panose="020F0502020204030204" pitchFamily="34" charset="-122"/>
                <a:cs typeface="Calibri" panose="020F0502020204030204" pitchFamily="34" charset="-120"/>
              </a:rPr>
              <a:t>Sensor processing, navigation and arm operation connected through coordinated communication.</a:t>
            </a:r>
            <a:endParaRPr lang="en-US" sz="1200" dirty="0"/>
          </a:p>
        </p:txBody>
      </p:sp>
      <p:sp>
        <p:nvSpPr>
          <p:cNvPr id="3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LITERATURE REVIEW  ·  1 OF 3</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Vision-Based Waste Detection</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graphicFrame>
        <p:nvGraphicFramePr>
          <p:cNvPr id="6" name="Table 0"/>
          <p:cNvGraphicFramePr>
            <a:graphicFrameLocks noGrp="1"/>
          </p:cNvGraphicFramePr>
          <p:nvPr/>
        </p:nvGraphicFramePr>
        <p:xfrm>
          <a:off x="548640" y="1554480"/>
          <a:ext cx="7955280" cy="4663440"/>
        </p:xfrm>
        <a:graphic>
          <a:graphicData uri="http://schemas.openxmlformats.org/drawingml/2006/table">
            <a:tbl>
              <a:tblPr/>
              <a:tblGrid>
                <a:gridCol w="2286000"/>
                <a:gridCol w="3291840"/>
                <a:gridCol w="2377440"/>
              </a:tblGrid>
              <a:tr h="384048">
                <a:tc>
                  <a:txBody>
                    <a:bodyP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Work</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14776B"/>
                    </a:solidFill>
                  </a:tcPr>
                </a:tc>
                <a:tc>
                  <a:txBody>
                    <a:bodyP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Approach / focus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14776B"/>
                    </a:solidFill>
                  </a:tcPr>
                </a:tc>
                <a:tc>
                  <a:txBody>
                    <a:bodyP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Limitation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14776B"/>
                    </a:solidFill>
                  </a:tcPr>
                </a:tc>
              </a:tr>
              <a:tr h="713232">
                <a:tc>
                  <a:txBody>
                    <a:bodyPr/>
                    <a:lstStyle/>
                    <a:p>
                      <a:pPr marL="0" indent="0">
                        <a:buNone/>
                      </a:pPr>
                      <a:r>
                        <a:rPr lang="en-US" sz="1250" b="1" dirty="0">
                          <a:solidFill>
                            <a:srgbClr val="0B2E2B"/>
                          </a:solidFill>
                          <a:latin typeface="Calibri" panose="020F0502020204030204" pitchFamily="34" charset="0"/>
                          <a:ea typeface="Calibri" panose="020F0502020204030204" pitchFamily="34" charset="-122"/>
                          <a:cs typeface="Calibri" panose="020F0502020204030204" pitchFamily="34" charset="-120"/>
                        </a:rPr>
                        <a:t>DSYOLO-trash [4]</a:t>
                      </a:r>
                      <a:endParaRPr lang="en-US" sz="125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100" dirty="0">
                          <a:solidFill>
                            <a:srgbClr val="5A6E6A"/>
                          </a:solidFill>
                          <a:latin typeface="Calibri" panose="020F0502020204030204" pitchFamily="34" charset="0"/>
                          <a:ea typeface="Calibri" panose="020F0502020204030204" pitchFamily="34" charset="-122"/>
                          <a:cs typeface="Calibri" panose="020F0502020204030204" pitchFamily="34" charset="-120"/>
                        </a:rPr>
                        <a:t>Ma et al., 2024</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c>
                  <a:txBody>
                    <a:bodyPr/>
                    <a:lstStyle/>
                    <a:p>
                      <a:pPr marL="0" indent="0">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Attention mechanism + object tracking for solid waste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c>
                  <a:txBody>
                    <a:bodyPr/>
                    <a:lstStyle/>
                    <a:p>
                      <a:pPr marL="0" indent="0">
                        <a:buNone/>
                      </a:pPr>
                      <a:r>
                        <a:rPr lang="en-US" sz="1250" b="1" dirty="0">
                          <a:solidFill>
                            <a:srgbClr val="D9534F"/>
                          </a:solidFill>
                          <a:latin typeface="Calibri" panose="020F0502020204030204" pitchFamily="34" charset="0"/>
                          <a:ea typeface="Calibri" panose="020F0502020204030204" pitchFamily="34" charset="-122"/>
                          <a:cs typeface="Calibri" panose="020F0502020204030204" pitchFamily="34" charset="-120"/>
                        </a:rPr>
                        <a:t>Detection and tracking only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r>
              <a:tr h="713232">
                <a:tc>
                  <a:txBody>
                    <a:bodyPr/>
                    <a:lstStyle/>
                    <a:p>
                      <a:pPr marL="0" indent="0">
                        <a:buNone/>
                      </a:pPr>
                      <a:r>
                        <a:rPr lang="en-US" sz="1250" b="1" dirty="0">
                          <a:solidFill>
                            <a:srgbClr val="0B2E2B"/>
                          </a:solidFill>
                          <a:latin typeface="Calibri" panose="020F0502020204030204" pitchFamily="34" charset="0"/>
                          <a:ea typeface="Calibri" panose="020F0502020204030204" pitchFamily="34" charset="-122"/>
                          <a:cs typeface="Calibri" panose="020F0502020204030204" pitchFamily="34" charset="-120"/>
                        </a:rPr>
                        <a:t>MRS-YOLO [5]</a:t>
                      </a:r>
                      <a:endParaRPr lang="en-US" sz="125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100" dirty="0">
                          <a:solidFill>
                            <a:srgbClr val="5A6E6A"/>
                          </a:solidFill>
                          <a:latin typeface="Calibri" panose="020F0502020204030204" pitchFamily="34" charset="0"/>
                          <a:ea typeface="Calibri" panose="020F0502020204030204" pitchFamily="34" charset="-122"/>
                          <a:cs typeface="Calibri" panose="020F0502020204030204" pitchFamily="34" charset="-120"/>
                        </a:rPr>
                        <a:t>Ren et al., 2024</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c>
                  <a:txBody>
                    <a:bodyPr/>
                    <a:lstStyle/>
                    <a:p>
                      <a:pPr marL="0" indent="0">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High-precision detection and classification in complex conditions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c>
                  <a:txBody>
                    <a:bodyPr/>
                    <a:lstStyle/>
                    <a:p>
                      <a:pPr marL="0" indent="0">
                        <a:buNone/>
                      </a:pPr>
                      <a:r>
                        <a:rPr lang="en-US" sz="1250" b="1" dirty="0">
                          <a:solidFill>
                            <a:srgbClr val="D9534F"/>
                          </a:solidFill>
                          <a:latin typeface="Calibri" panose="020F0502020204030204" pitchFamily="34" charset="0"/>
                          <a:ea typeface="Calibri" panose="020F0502020204030204" pitchFamily="34" charset="-122"/>
                          <a:cs typeface="Calibri" panose="020F0502020204030204" pitchFamily="34" charset="-120"/>
                        </a:rPr>
                        <a:t>No robot integration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r>
              <a:tr h="713232">
                <a:tc>
                  <a:txBody>
                    <a:bodyPr/>
                    <a:lstStyle/>
                    <a:p>
                      <a:pPr marL="0" indent="0">
                        <a:buNone/>
                      </a:pPr>
                      <a:r>
                        <a:rPr lang="en-US" sz="1250" b="1" dirty="0">
                          <a:solidFill>
                            <a:srgbClr val="0B2E2B"/>
                          </a:solidFill>
                          <a:latin typeface="Calibri" panose="020F0502020204030204" pitchFamily="34" charset="0"/>
                          <a:ea typeface="Calibri" panose="020F0502020204030204" pitchFamily="34" charset="-122"/>
                          <a:cs typeface="Calibri" panose="020F0502020204030204" pitchFamily="34" charset="-120"/>
                        </a:rPr>
                        <a:t>DRSE-YOLO [6]</a:t>
                      </a:r>
                      <a:endParaRPr lang="en-US" sz="125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100" dirty="0">
                          <a:solidFill>
                            <a:srgbClr val="5A6E6A"/>
                          </a:solidFill>
                          <a:latin typeface="Calibri" panose="020F0502020204030204" pitchFamily="34" charset="0"/>
                          <a:ea typeface="Calibri" panose="020F0502020204030204" pitchFamily="34" charset="-122"/>
                          <a:cs typeface="Calibri" panose="020F0502020204030204" pitchFamily="34" charset="-120"/>
                        </a:rPr>
                        <a:t>Sun &amp; Zhang, 2025</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c>
                  <a:txBody>
                    <a:bodyPr/>
                    <a:lstStyle/>
                    <a:p>
                      <a:pPr marL="0" indent="0">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Efficient, lightweight architecture for waste detection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c>
                  <a:txBody>
                    <a:bodyPr/>
                    <a:lstStyle/>
                    <a:p>
                      <a:pPr marL="0" indent="0">
                        <a:buNone/>
                      </a:pPr>
                      <a:r>
                        <a:rPr lang="en-US" sz="1250" b="1" dirty="0">
                          <a:solidFill>
                            <a:srgbClr val="D9534F"/>
                          </a:solidFill>
                          <a:latin typeface="Calibri" panose="020F0502020204030204" pitchFamily="34" charset="0"/>
                          <a:ea typeface="Calibri" panose="020F0502020204030204" pitchFamily="34" charset="-122"/>
                          <a:cs typeface="Calibri" panose="020F0502020204030204" pitchFamily="34" charset="-120"/>
                        </a:rPr>
                        <a:t>Perception only; no navigation or pickup</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r>
              <a:tr h="713232">
                <a:tc>
                  <a:txBody>
                    <a:bodyPr/>
                    <a:lstStyle/>
                    <a:p>
                      <a:pPr marL="0" indent="0">
                        <a:buNone/>
                      </a:pPr>
                      <a:r>
                        <a:rPr lang="en-US" sz="1250" b="1" dirty="0">
                          <a:solidFill>
                            <a:srgbClr val="0B2E2B"/>
                          </a:solidFill>
                          <a:latin typeface="Calibri" panose="020F0502020204030204" pitchFamily="34" charset="0"/>
                          <a:ea typeface="Calibri" panose="020F0502020204030204" pitchFamily="34" charset="-122"/>
                          <a:cs typeface="Calibri" panose="020F0502020204030204" pitchFamily="34" charset="-120"/>
                        </a:rPr>
                        <a:t>YOLOv8n system [7]</a:t>
                      </a:r>
                      <a:endParaRPr lang="en-US" sz="125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100" dirty="0">
                          <a:solidFill>
                            <a:srgbClr val="5A6E6A"/>
                          </a:solidFill>
                          <a:latin typeface="Calibri" panose="020F0502020204030204" pitchFamily="34" charset="0"/>
                          <a:ea typeface="Calibri" panose="020F0502020204030204" pitchFamily="34" charset="-122"/>
                          <a:cs typeface="Calibri" panose="020F0502020204030204" pitchFamily="34" charset="-120"/>
                        </a:rPr>
                        <a:t>Khamis et al., 2025</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c>
                  <a:txBody>
                    <a:bodyPr/>
                    <a:lstStyle/>
                    <a:p>
                      <a:pPr marL="0" indent="0">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YOLOv8n-based trash detection for smart waste management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c>
                  <a:txBody>
                    <a:bodyPr/>
                    <a:lstStyle/>
                    <a:p>
                      <a:pPr marL="0" indent="0">
                        <a:buNone/>
                      </a:pPr>
                      <a:r>
                        <a:rPr lang="en-US" sz="1250" b="1" dirty="0">
                          <a:solidFill>
                            <a:srgbClr val="D9534F"/>
                          </a:solidFill>
                          <a:latin typeface="Calibri" panose="020F0502020204030204" pitchFamily="34" charset="0"/>
                          <a:ea typeface="Calibri" panose="020F0502020204030204" pitchFamily="34" charset="-122"/>
                          <a:cs typeface="Calibri" panose="020F0502020204030204" pitchFamily="34" charset="-120"/>
                        </a:rPr>
                        <a:t>Recognition, not collection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r>
              <a:tr h="713232">
                <a:tc>
                  <a:txBody>
                    <a:bodyPr/>
                    <a:lstStyle/>
                    <a:p>
                      <a:pPr marL="0" indent="0">
                        <a:buNone/>
                      </a:pPr>
                      <a:r>
                        <a:rPr lang="en-US" sz="1250" b="1" dirty="0">
                          <a:solidFill>
                            <a:srgbClr val="0B2E2B"/>
                          </a:solidFill>
                          <a:latin typeface="Calibri" panose="020F0502020204030204" pitchFamily="34" charset="0"/>
                          <a:ea typeface="Calibri" panose="020F0502020204030204" pitchFamily="34" charset="-122"/>
                          <a:cs typeface="Calibri" panose="020F0502020204030204" pitchFamily="34" charset="-120"/>
                        </a:rPr>
                        <a:t>HGCS-Det [10]</a:t>
                      </a:r>
                      <a:endParaRPr lang="en-US" sz="125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100" dirty="0">
                          <a:solidFill>
                            <a:srgbClr val="5A6E6A"/>
                          </a:solidFill>
                          <a:latin typeface="Calibri" panose="020F0502020204030204" pitchFamily="34" charset="0"/>
                          <a:ea typeface="Calibri" panose="020F0502020204030204" pitchFamily="34" charset="-122"/>
                          <a:cs typeface="Calibri" panose="020F0502020204030204" pitchFamily="34" charset="-120"/>
                        </a:rPr>
                        <a:t>Zhou et al., 2025</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c>
                  <a:txBody>
                    <a:bodyPr/>
                    <a:lstStyle/>
                    <a:p>
                      <a:pPr marL="0" indent="0">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Localizing and recognizing household garbage in complex scenes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c>
                  <a:txBody>
                    <a:bodyPr/>
                    <a:lstStyle/>
                    <a:p>
                      <a:pPr marL="0" indent="0">
                        <a:buNone/>
                      </a:pPr>
                      <a:r>
                        <a:rPr lang="en-US" sz="1250" b="1" dirty="0">
                          <a:solidFill>
                            <a:srgbClr val="D9534F"/>
                          </a:solidFill>
                          <a:latin typeface="Calibri" panose="020F0502020204030204" pitchFamily="34" charset="0"/>
                          <a:ea typeface="Calibri" panose="020F0502020204030204" pitchFamily="34" charset="-122"/>
                          <a:cs typeface="Calibri" panose="020F0502020204030204" pitchFamily="34" charset="-120"/>
                        </a:rPr>
                        <a:t>Vision-only solution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r>
              <a:tr h="713232">
                <a:tc>
                  <a:txBody>
                    <a:bodyPr/>
                    <a:lstStyle/>
                    <a:p>
                      <a:pPr marL="0" indent="0">
                        <a:buNone/>
                      </a:pPr>
                      <a:r>
                        <a:rPr lang="en-US" sz="1250" b="1" dirty="0">
                          <a:solidFill>
                            <a:srgbClr val="0B2E2B"/>
                          </a:solidFill>
                          <a:latin typeface="Calibri" panose="020F0502020204030204" pitchFamily="34" charset="0"/>
                          <a:ea typeface="Calibri" panose="020F0502020204030204" pitchFamily="34" charset="-122"/>
                          <a:cs typeface="Calibri" panose="020F0502020204030204" pitchFamily="34" charset="-120"/>
                        </a:rPr>
                        <a:t>Scene-guided YOLO [11]</a:t>
                      </a:r>
                      <a:endParaRPr lang="en-US" sz="125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100" dirty="0">
                          <a:solidFill>
                            <a:srgbClr val="5A6E6A"/>
                          </a:solidFill>
                          <a:latin typeface="Calibri" panose="020F0502020204030204" pitchFamily="34" charset="0"/>
                          <a:ea typeface="Calibri" panose="020F0502020204030204" pitchFamily="34" charset="-122"/>
                          <a:cs typeface="Calibri" panose="020F0502020204030204" pitchFamily="34" charset="-120"/>
                        </a:rPr>
                        <a:t>Hu et al., 2026</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c>
                  <a:txBody>
                    <a:bodyPr/>
                    <a:lstStyle/>
                    <a:p>
                      <a:pPr marL="0" indent="0">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Contextual feature fusion for diverse real-world environments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c>
                  <a:txBody>
                    <a:bodyPr/>
                    <a:lstStyle/>
                    <a:p>
                      <a:pPr marL="0" indent="0">
                        <a:buNone/>
                      </a:pPr>
                      <a:r>
                        <a:rPr lang="en-US" sz="1250" b="1" dirty="0">
                          <a:solidFill>
                            <a:srgbClr val="D9534F"/>
                          </a:solidFill>
                          <a:latin typeface="Calibri" panose="020F0502020204030204" pitchFamily="34" charset="0"/>
                          <a:ea typeface="Calibri" panose="020F0502020204030204" pitchFamily="34" charset="-122"/>
                          <a:cs typeface="Calibri" panose="020F0502020204030204" pitchFamily="34" charset="-120"/>
                        </a:rPr>
                        <a:t>Detection focus only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36576" marB="36576"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r>
            </a:tbl>
          </a:graphicData>
        </a:graphic>
      </p:graphicFrame>
      <p:sp>
        <p:nvSpPr>
          <p:cNvPr id="5" name="Shape 3"/>
          <p:cNvSpPr/>
          <p:nvPr/>
        </p:nvSpPr>
        <p:spPr>
          <a:xfrm>
            <a:off x="8778240" y="1554480"/>
            <a:ext cx="2862072" cy="4663440"/>
          </a:xfrm>
          <a:prstGeom prst="roundRect">
            <a:avLst>
              <a:gd name="adj" fmla="val 3834"/>
            </a:avLst>
          </a:prstGeom>
          <a:solidFill>
            <a:srgbClr val="0B2E2B"/>
          </a:solidFill>
          <a:ln w="12700">
            <a:solidFill>
              <a:srgbClr val="0B2E2B"/>
            </a:solidFill>
            <a:prstDash val="solid"/>
          </a:ln>
        </p:spPr>
      </p:sp>
      <p:sp>
        <p:nvSpPr>
          <p:cNvPr id="7" name="Shape 4"/>
          <p:cNvSpPr/>
          <p:nvPr/>
        </p:nvSpPr>
        <p:spPr>
          <a:xfrm>
            <a:off x="9052560" y="1828800"/>
            <a:ext cx="685800" cy="685800"/>
          </a:xfrm>
          <a:prstGeom prst="ellipse">
            <a:avLst/>
          </a:prstGeom>
          <a:solidFill>
            <a:srgbClr val="F2A93B"/>
          </a:solidFill>
          <a:ln w="12700">
            <a:solidFill>
              <a:srgbClr val="F2A93B"/>
            </a:solidFill>
            <a:prstDash val="solid"/>
          </a:ln>
        </p:spPr>
      </p:sp>
      <p:pic>
        <p:nvPicPr>
          <p:cNvPr id="8" name="Image 0" descr="preencoded.png"/>
          <p:cNvPicPr>
            <a:picLocks noChangeAspect="1"/>
          </p:cNvPicPr>
          <p:nvPr/>
        </p:nvPicPr>
        <p:blipFill>
          <a:blip r:embed="rId1"/>
          <a:stretch>
            <a:fillRect/>
          </a:stretch>
        </p:blipFill>
        <p:spPr>
          <a:xfrm>
            <a:off x="9237726" y="2013966"/>
            <a:ext cx="315468" cy="315468"/>
          </a:xfrm>
          <a:prstGeom prst="rect">
            <a:avLst/>
          </a:prstGeom>
        </p:spPr>
      </p:pic>
      <p:sp>
        <p:nvSpPr>
          <p:cNvPr id="9" name="Text 5"/>
          <p:cNvSpPr txBox="1"/>
          <p:nvPr/>
        </p:nvSpPr>
        <p:spPr>
          <a:xfrm>
            <a:off x="9052560" y="2743200"/>
            <a:ext cx="2377440" cy="365760"/>
          </a:xfrm>
          <a:prstGeom prst="rect">
            <a:avLst/>
          </a:prstGeom>
          <a:noFill/>
        </p:spPr>
        <p:txBody>
          <a:bodyPr wrap="square" lIns="0" tIns="0" rIns="0" bIns="0" rtlCol="0" anchor="ctr"/>
          <a:lstStyle/>
          <a:p>
            <a:pPr marL="0" indent="0">
              <a:buNone/>
            </a:pPr>
            <a:r>
              <a:rPr lang="en-US" sz="1900" b="1" dirty="0">
                <a:solidFill>
                  <a:srgbClr val="FFFFFF"/>
                </a:solidFill>
                <a:latin typeface="Cambria" panose="02040503050406030204" pitchFamily="34" charset="0"/>
                <a:ea typeface="Cambria" panose="02040503050406030204" pitchFamily="34" charset="-122"/>
                <a:cs typeface="Cambria" panose="02040503050406030204" pitchFamily="34" charset="-120"/>
              </a:rPr>
              <a:t>Key takeaway</a:t>
            </a:r>
            <a:endParaRPr lang="en-US" sz="1900" dirty="0"/>
          </a:p>
        </p:txBody>
      </p:sp>
      <p:sp>
        <p:nvSpPr>
          <p:cNvPr id="10" name="Text 6"/>
          <p:cNvSpPr txBox="1"/>
          <p:nvPr/>
        </p:nvSpPr>
        <p:spPr>
          <a:xfrm>
            <a:off x="9052560" y="3200400"/>
            <a:ext cx="2377440" cy="2377440"/>
          </a:xfrm>
          <a:prstGeom prst="rect">
            <a:avLst/>
          </a:prstGeom>
          <a:noFill/>
        </p:spPr>
        <p:txBody>
          <a:bodyPr wrap="square" lIns="0" tIns="0" rIns="0" bIns="0" rtlCol="0" anchor="t"/>
          <a:lstStyle/>
          <a:p>
            <a:pPr marL="0" indent="0">
              <a:buNone/>
            </a:pPr>
            <a:r>
              <a:rPr lang="en-US" sz="1400" dirty="0">
                <a:solidFill>
                  <a:srgbClr val="CDE8DF"/>
                </a:solidFill>
                <a:latin typeface="Calibri" panose="020F0502020204030204" pitchFamily="34" charset="0"/>
                <a:ea typeface="Calibri" panose="020F0502020204030204" pitchFamily="34" charset="-122"/>
                <a:cs typeface="Calibri" panose="020F0502020204030204" pitchFamily="34" charset="-120"/>
              </a:rPr>
              <a:t>Deep-learning detectors have become accurate and lightweight, but they stop at recognition. None of them navigates, grasps or disposes of waste.</a:t>
            </a:r>
            <a:endParaRPr lang="en-US" sz="1400" dirty="0"/>
          </a:p>
        </p:txBody>
      </p:sp>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LITERATURE REVIEW  ·  2 OF 3</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Robotic Waste Collection and Sorting</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548640" y="1554480"/>
            <a:ext cx="3566160" cy="2212848"/>
          </a:xfrm>
          <a:prstGeom prst="roundRect">
            <a:avLst>
              <a:gd name="adj" fmla="val 495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6" name="Shape 4"/>
          <p:cNvSpPr/>
          <p:nvPr/>
        </p:nvSpPr>
        <p:spPr>
          <a:xfrm>
            <a:off x="777240" y="1783080"/>
            <a:ext cx="548640" cy="548640"/>
          </a:xfrm>
          <a:prstGeom prst="ellipse">
            <a:avLst/>
          </a:prstGeom>
          <a:solidFill>
            <a:srgbClr val="14776B"/>
          </a:solidFill>
          <a:ln w="12700">
            <a:solidFill>
              <a:srgbClr val="14776B"/>
            </a:solidFill>
            <a:prstDash val="solid"/>
          </a:ln>
        </p:spPr>
      </p:sp>
      <p:pic>
        <p:nvPicPr>
          <p:cNvPr id="7" name="Image 0" descr="preencoded.png"/>
          <p:cNvPicPr>
            <a:picLocks noChangeAspect="1"/>
          </p:cNvPicPr>
          <p:nvPr/>
        </p:nvPicPr>
        <p:blipFill>
          <a:blip r:embed="rId1"/>
          <a:stretch>
            <a:fillRect/>
          </a:stretch>
        </p:blipFill>
        <p:spPr>
          <a:xfrm>
            <a:off x="925373" y="1931213"/>
            <a:ext cx="252374" cy="252374"/>
          </a:xfrm>
          <a:prstGeom prst="rect">
            <a:avLst/>
          </a:prstGeom>
        </p:spPr>
      </p:pic>
      <p:sp>
        <p:nvSpPr>
          <p:cNvPr id="8" name="Text 5"/>
          <p:cNvSpPr txBox="1"/>
          <p:nvPr/>
        </p:nvSpPr>
        <p:spPr>
          <a:xfrm>
            <a:off x="1463040" y="1755648"/>
            <a:ext cx="2514600" cy="320040"/>
          </a:xfrm>
          <a:prstGeom prst="rect">
            <a:avLst/>
          </a:prstGeom>
          <a:noFill/>
        </p:spPr>
        <p:txBody>
          <a:bodyPr wrap="square" lIns="0" tIns="0" rIns="0" bIns="0" rtlCol="0" anchor="ctr"/>
          <a:lstStyle/>
          <a:p>
            <a:pPr marL="0" indent="0">
              <a:buNone/>
            </a:pPr>
            <a:r>
              <a:rPr lang="en-US" sz="1450" b="1" dirty="0">
                <a:solidFill>
                  <a:srgbClr val="0B2E2B"/>
                </a:solidFill>
                <a:latin typeface="Calibri" panose="020F0502020204030204" pitchFamily="34" charset="0"/>
                <a:ea typeface="Calibri" panose="020F0502020204030204" pitchFamily="34" charset="-122"/>
                <a:cs typeface="Calibri" panose="020F0502020204030204" pitchFamily="34" charset="-120"/>
              </a:rPr>
              <a:t>SHIFT-T [3]</a:t>
            </a:r>
            <a:endParaRPr lang="en-US" sz="1450" dirty="0"/>
          </a:p>
        </p:txBody>
      </p:sp>
      <p:sp>
        <p:nvSpPr>
          <p:cNvPr id="9" name="Text 6"/>
          <p:cNvSpPr txBox="1"/>
          <p:nvPr/>
        </p:nvSpPr>
        <p:spPr>
          <a:xfrm>
            <a:off x="1463040" y="2084832"/>
            <a:ext cx="2514600" cy="256032"/>
          </a:xfrm>
          <a:prstGeom prst="rect">
            <a:avLst/>
          </a:prstGeom>
          <a:noFill/>
        </p:spPr>
        <p:txBody>
          <a:bodyPr wrap="square" lIns="0" tIns="0" rIns="0" bIns="0" rtlCol="0" anchor="t"/>
          <a:lstStyle/>
          <a:p>
            <a:pPr marL="0" indent="0">
              <a:buNone/>
            </a:pPr>
            <a:r>
              <a:rPr lang="en-US" sz="1150" dirty="0">
                <a:solidFill>
                  <a:srgbClr val="5A6E6A"/>
                </a:solidFill>
                <a:latin typeface="Calibri" panose="020F0502020204030204" pitchFamily="34" charset="0"/>
                <a:ea typeface="Calibri" panose="020F0502020204030204" pitchFamily="34" charset="-122"/>
                <a:cs typeface="Calibri" panose="020F0502020204030204" pitchFamily="34" charset="-120"/>
              </a:rPr>
              <a:t>Zaman et al., 2024</a:t>
            </a:r>
            <a:endParaRPr lang="en-US" sz="1150" dirty="0"/>
          </a:p>
        </p:txBody>
      </p:sp>
      <p:sp>
        <p:nvSpPr>
          <p:cNvPr id="10" name="Text 7"/>
          <p:cNvSpPr txBox="1"/>
          <p:nvPr/>
        </p:nvSpPr>
        <p:spPr>
          <a:xfrm>
            <a:off x="777240" y="2514600"/>
            <a:ext cx="3154680" cy="1188720"/>
          </a:xfrm>
          <a:prstGeom prst="rect">
            <a:avLst/>
          </a:prstGeom>
          <a:noFill/>
        </p:spPr>
        <p:txBody>
          <a:bodyPr wrap="square" lIns="0" tIns="0" rIns="0" bIns="0" rtlCol="0" anchor="t"/>
          <a:lstStyle/>
          <a:p>
            <a:pPr marL="0" indent="0">
              <a:spcAft>
                <a:spcPts val="500"/>
              </a:spcAft>
              <a:buNone/>
            </a:pPr>
            <a:r>
              <a:rPr lang="en-US" sz="1400" dirty="0">
                <a:solidFill>
                  <a:srgbClr val="1E2B2A"/>
                </a:solidFill>
                <a:latin typeface="Calibri" panose="020F0502020204030204" pitchFamily="34" charset="0"/>
                <a:ea typeface="Calibri" panose="020F0502020204030204" pitchFamily="34" charset="-122"/>
                <a:cs typeface="Calibri" panose="020F0502020204030204" pitchFamily="34" charset="-120"/>
              </a:rPr>
              <a:t>Low-cost autonomous mobile robot for trash collection and sorting.</a:t>
            </a:r>
            <a:endParaRPr lang="en-US" sz="1400" dirty="0"/>
          </a:p>
          <a:p>
            <a:pPr marL="0" indent="0">
              <a:spcAft>
                <a:spcPts val="500"/>
              </a:spcAft>
              <a:buNone/>
            </a:pPr>
            <a:r>
              <a:rPr lang="en-US" sz="1400" b="1" dirty="0">
                <a:solidFill>
                  <a:srgbClr val="D9534F"/>
                </a:solidFill>
                <a:latin typeface="Calibri" panose="020F0502020204030204" pitchFamily="34" charset="0"/>
                <a:ea typeface="Calibri" panose="020F0502020204030204" pitchFamily="34" charset="-122"/>
                <a:cs typeface="Calibri" panose="020F0502020204030204" pitchFamily="34" charset="-120"/>
              </a:rPr>
              <a:t>Gap: Limited manipulation.</a:t>
            </a:r>
            <a:endParaRPr lang="en-US" sz="1400" dirty="0"/>
          </a:p>
        </p:txBody>
      </p:sp>
      <p:sp>
        <p:nvSpPr>
          <p:cNvPr id="11" name="Shape 8"/>
          <p:cNvSpPr/>
          <p:nvPr/>
        </p:nvSpPr>
        <p:spPr>
          <a:xfrm>
            <a:off x="4311396" y="1554480"/>
            <a:ext cx="3566160" cy="2212848"/>
          </a:xfrm>
          <a:prstGeom prst="roundRect">
            <a:avLst>
              <a:gd name="adj" fmla="val 495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12" name="Shape 9"/>
          <p:cNvSpPr/>
          <p:nvPr/>
        </p:nvSpPr>
        <p:spPr>
          <a:xfrm>
            <a:off x="4539996" y="1783080"/>
            <a:ext cx="548640" cy="548640"/>
          </a:xfrm>
          <a:prstGeom prst="ellipse">
            <a:avLst/>
          </a:prstGeom>
          <a:solidFill>
            <a:srgbClr val="14776B"/>
          </a:solidFill>
          <a:ln w="12700">
            <a:solidFill>
              <a:srgbClr val="14776B"/>
            </a:solidFill>
            <a:prstDash val="solid"/>
          </a:ln>
        </p:spPr>
      </p:sp>
      <p:pic>
        <p:nvPicPr>
          <p:cNvPr id="13" name="Image 1" descr="preencoded.png"/>
          <p:cNvPicPr>
            <a:picLocks noChangeAspect="1"/>
          </p:cNvPicPr>
          <p:nvPr/>
        </p:nvPicPr>
        <p:blipFill>
          <a:blip r:embed="rId2"/>
          <a:stretch>
            <a:fillRect/>
          </a:stretch>
        </p:blipFill>
        <p:spPr>
          <a:xfrm>
            <a:off x="4688129" y="1931213"/>
            <a:ext cx="252374" cy="252374"/>
          </a:xfrm>
          <a:prstGeom prst="rect">
            <a:avLst/>
          </a:prstGeom>
        </p:spPr>
      </p:pic>
      <p:sp>
        <p:nvSpPr>
          <p:cNvPr id="14" name="Text 10"/>
          <p:cNvSpPr txBox="1"/>
          <p:nvPr/>
        </p:nvSpPr>
        <p:spPr>
          <a:xfrm>
            <a:off x="5225796" y="1755648"/>
            <a:ext cx="2514600" cy="320040"/>
          </a:xfrm>
          <a:prstGeom prst="rect">
            <a:avLst/>
          </a:prstGeom>
          <a:noFill/>
        </p:spPr>
        <p:txBody>
          <a:bodyPr wrap="square" lIns="0" tIns="0" rIns="0" bIns="0" rtlCol="0" anchor="ctr"/>
          <a:lstStyle/>
          <a:p>
            <a:pPr marL="0" indent="0">
              <a:buNone/>
            </a:pPr>
            <a:r>
              <a:rPr lang="en-US" sz="1450" b="1" dirty="0">
                <a:solidFill>
                  <a:srgbClr val="0B2E2B"/>
                </a:solidFill>
                <a:latin typeface="Calibri" panose="020F0502020204030204" pitchFamily="34" charset="0"/>
                <a:ea typeface="Calibri" panose="020F0502020204030204" pitchFamily="34" charset="-122"/>
                <a:cs typeface="Calibri" panose="020F0502020204030204" pitchFamily="34" charset="-120"/>
              </a:rPr>
              <a:t>Smart Waste Robot [1]</a:t>
            </a:r>
            <a:endParaRPr lang="en-US" sz="1450" dirty="0"/>
          </a:p>
        </p:txBody>
      </p:sp>
      <p:sp>
        <p:nvSpPr>
          <p:cNvPr id="15" name="Text 11"/>
          <p:cNvSpPr txBox="1"/>
          <p:nvPr/>
        </p:nvSpPr>
        <p:spPr>
          <a:xfrm>
            <a:off x="5225796" y="2084832"/>
            <a:ext cx="2514600" cy="256032"/>
          </a:xfrm>
          <a:prstGeom prst="rect">
            <a:avLst/>
          </a:prstGeom>
          <a:noFill/>
        </p:spPr>
        <p:txBody>
          <a:bodyPr wrap="square" lIns="0" tIns="0" rIns="0" bIns="0" rtlCol="0" anchor="t"/>
          <a:lstStyle/>
          <a:p>
            <a:pPr marL="0" indent="0">
              <a:buNone/>
            </a:pPr>
            <a:r>
              <a:rPr lang="en-US" sz="1150" dirty="0">
                <a:solidFill>
                  <a:srgbClr val="5A6E6A"/>
                </a:solidFill>
                <a:latin typeface="Calibri" panose="020F0502020204030204" pitchFamily="34" charset="0"/>
                <a:ea typeface="Calibri" panose="020F0502020204030204" pitchFamily="34" charset="-122"/>
                <a:cs typeface="Calibri" panose="020F0502020204030204" pitchFamily="34" charset="-120"/>
              </a:rPr>
              <a:t>Islam et al., 2024</a:t>
            </a:r>
            <a:endParaRPr lang="en-US" sz="1150" dirty="0"/>
          </a:p>
        </p:txBody>
      </p:sp>
      <p:sp>
        <p:nvSpPr>
          <p:cNvPr id="16" name="Text 12"/>
          <p:cNvSpPr txBox="1"/>
          <p:nvPr/>
        </p:nvSpPr>
        <p:spPr>
          <a:xfrm>
            <a:off x="4539996" y="2514600"/>
            <a:ext cx="3154680" cy="1188720"/>
          </a:xfrm>
          <a:prstGeom prst="rect">
            <a:avLst/>
          </a:prstGeom>
          <a:noFill/>
        </p:spPr>
        <p:txBody>
          <a:bodyPr wrap="square" lIns="0" tIns="0" rIns="0" bIns="0" rtlCol="0" anchor="t"/>
          <a:lstStyle/>
          <a:p>
            <a:pPr marL="0" indent="0">
              <a:spcAft>
                <a:spcPts val="500"/>
              </a:spcAft>
              <a:buNone/>
            </a:pPr>
            <a:r>
              <a:rPr lang="en-US" sz="1400" dirty="0">
                <a:solidFill>
                  <a:srgbClr val="1E2B2A"/>
                </a:solidFill>
                <a:latin typeface="Calibri" panose="020F0502020204030204" pitchFamily="34" charset="0"/>
                <a:ea typeface="Calibri" panose="020F0502020204030204" pitchFamily="34" charset="-122"/>
                <a:cs typeface="Calibri" panose="020F0502020204030204" pitchFamily="34" charset="-120"/>
              </a:rPr>
              <a:t>Combines IoT, AI, SLAM and CNN-based image processing for collection and categorization.</a:t>
            </a:r>
            <a:endParaRPr lang="en-US" sz="1400" dirty="0"/>
          </a:p>
          <a:p>
            <a:pPr marL="0" indent="0">
              <a:spcAft>
                <a:spcPts val="500"/>
              </a:spcAft>
              <a:buNone/>
            </a:pPr>
            <a:r>
              <a:rPr lang="en-US" sz="1400" b="1" dirty="0">
                <a:solidFill>
                  <a:srgbClr val="D9534F"/>
                </a:solidFill>
                <a:latin typeface="Calibri" panose="020F0502020204030204" pitchFamily="34" charset="0"/>
                <a:ea typeface="Calibri" panose="020F0502020204030204" pitchFamily="34" charset="-122"/>
                <a:cs typeface="Calibri" panose="020F0502020204030204" pitchFamily="34" charset="-120"/>
              </a:rPr>
              <a:t>Gap: Higher system complexity.</a:t>
            </a:r>
            <a:endParaRPr lang="en-US" sz="1400" dirty="0"/>
          </a:p>
        </p:txBody>
      </p:sp>
      <p:sp>
        <p:nvSpPr>
          <p:cNvPr id="17" name="Shape 13"/>
          <p:cNvSpPr/>
          <p:nvPr/>
        </p:nvSpPr>
        <p:spPr>
          <a:xfrm>
            <a:off x="8074152" y="1554480"/>
            <a:ext cx="3566160" cy="2212848"/>
          </a:xfrm>
          <a:prstGeom prst="roundRect">
            <a:avLst>
              <a:gd name="adj" fmla="val 495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18" name="Shape 14"/>
          <p:cNvSpPr/>
          <p:nvPr/>
        </p:nvSpPr>
        <p:spPr>
          <a:xfrm>
            <a:off x="8302752" y="1783080"/>
            <a:ext cx="548640" cy="548640"/>
          </a:xfrm>
          <a:prstGeom prst="ellipse">
            <a:avLst/>
          </a:prstGeom>
          <a:solidFill>
            <a:srgbClr val="14776B"/>
          </a:solidFill>
          <a:ln w="12700">
            <a:solidFill>
              <a:srgbClr val="14776B"/>
            </a:solidFill>
            <a:prstDash val="solid"/>
          </a:ln>
        </p:spPr>
      </p:sp>
      <p:pic>
        <p:nvPicPr>
          <p:cNvPr id="19" name="Image 2" descr="preencoded.png"/>
          <p:cNvPicPr>
            <a:picLocks noChangeAspect="1"/>
          </p:cNvPicPr>
          <p:nvPr/>
        </p:nvPicPr>
        <p:blipFill>
          <a:blip r:embed="rId3"/>
          <a:stretch>
            <a:fillRect/>
          </a:stretch>
        </p:blipFill>
        <p:spPr>
          <a:xfrm>
            <a:off x="8450885" y="1931213"/>
            <a:ext cx="252374" cy="252374"/>
          </a:xfrm>
          <a:prstGeom prst="rect">
            <a:avLst/>
          </a:prstGeom>
        </p:spPr>
      </p:pic>
      <p:sp>
        <p:nvSpPr>
          <p:cNvPr id="20" name="Text 15"/>
          <p:cNvSpPr txBox="1"/>
          <p:nvPr/>
        </p:nvSpPr>
        <p:spPr>
          <a:xfrm>
            <a:off x="8988552" y="1755648"/>
            <a:ext cx="2514600" cy="320040"/>
          </a:xfrm>
          <a:prstGeom prst="rect">
            <a:avLst/>
          </a:prstGeom>
          <a:noFill/>
        </p:spPr>
        <p:txBody>
          <a:bodyPr wrap="square" lIns="0" tIns="0" rIns="0" bIns="0" rtlCol="0" anchor="ctr"/>
          <a:lstStyle/>
          <a:p>
            <a:pPr marL="0" indent="0">
              <a:buNone/>
            </a:pPr>
            <a:r>
              <a:rPr lang="en-US" sz="1450" b="1" dirty="0">
                <a:solidFill>
                  <a:srgbClr val="0B2E2B"/>
                </a:solidFill>
                <a:latin typeface="Calibri" panose="020F0502020204030204" pitchFamily="34" charset="0"/>
                <a:ea typeface="Calibri" panose="020F0502020204030204" pitchFamily="34" charset="-122"/>
                <a:cs typeface="Calibri" panose="020F0502020204030204" pitchFamily="34" charset="-120"/>
              </a:rPr>
              <a:t>WasteSortBot [2]</a:t>
            </a:r>
            <a:endParaRPr lang="en-US" sz="1450" dirty="0"/>
          </a:p>
        </p:txBody>
      </p:sp>
      <p:sp>
        <p:nvSpPr>
          <p:cNvPr id="21" name="Text 16"/>
          <p:cNvSpPr txBox="1"/>
          <p:nvPr/>
        </p:nvSpPr>
        <p:spPr>
          <a:xfrm>
            <a:off x="8988552" y="2084832"/>
            <a:ext cx="2514600" cy="256032"/>
          </a:xfrm>
          <a:prstGeom prst="rect">
            <a:avLst/>
          </a:prstGeom>
          <a:noFill/>
        </p:spPr>
        <p:txBody>
          <a:bodyPr wrap="square" lIns="0" tIns="0" rIns="0" bIns="0" rtlCol="0" anchor="t"/>
          <a:lstStyle/>
          <a:p>
            <a:pPr marL="0" indent="0">
              <a:buNone/>
            </a:pPr>
            <a:r>
              <a:rPr lang="en-US" sz="1150" dirty="0">
                <a:solidFill>
                  <a:srgbClr val="5A6E6A"/>
                </a:solidFill>
                <a:latin typeface="Calibri" panose="020F0502020204030204" pitchFamily="34" charset="0"/>
                <a:ea typeface="Calibri" panose="020F0502020204030204" pitchFamily="34" charset="-122"/>
                <a:cs typeface="Calibri" panose="020F0502020204030204" pitchFamily="34" charset="-120"/>
              </a:rPr>
              <a:t>Hossen et al., 2025</a:t>
            </a:r>
            <a:endParaRPr lang="en-US" sz="1150" dirty="0"/>
          </a:p>
        </p:txBody>
      </p:sp>
      <p:sp>
        <p:nvSpPr>
          <p:cNvPr id="22" name="Text 17"/>
          <p:cNvSpPr txBox="1"/>
          <p:nvPr/>
        </p:nvSpPr>
        <p:spPr>
          <a:xfrm>
            <a:off x="8302752" y="2514600"/>
            <a:ext cx="3154680" cy="1188720"/>
          </a:xfrm>
          <a:prstGeom prst="rect">
            <a:avLst/>
          </a:prstGeom>
          <a:noFill/>
        </p:spPr>
        <p:txBody>
          <a:bodyPr wrap="square" lIns="0" tIns="0" rIns="0" bIns="0" rtlCol="0" anchor="t"/>
          <a:lstStyle/>
          <a:p>
            <a:pPr marL="0" indent="0">
              <a:spcAft>
                <a:spcPts val="500"/>
              </a:spcAft>
              <a:buNone/>
            </a:pPr>
            <a:r>
              <a:rPr lang="en-US" sz="1400" dirty="0">
                <a:solidFill>
                  <a:srgbClr val="1E2B2A"/>
                </a:solidFill>
                <a:latin typeface="Calibri" panose="020F0502020204030204" pitchFamily="34" charset="0"/>
                <a:ea typeface="Calibri" panose="020F0502020204030204" pitchFamily="34" charset="-122"/>
                <a:cs typeface="Calibri" panose="020F0502020204030204" pitchFamily="34" charset="-120"/>
              </a:rPr>
              <a:t>Vision-based multi-category waste separator bin using ROS and cloud computing.</a:t>
            </a:r>
            <a:endParaRPr lang="en-US" sz="1400" dirty="0"/>
          </a:p>
          <a:p>
            <a:pPr marL="0" indent="0">
              <a:spcAft>
                <a:spcPts val="500"/>
              </a:spcAft>
              <a:buNone/>
            </a:pPr>
            <a:r>
              <a:rPr lang="en-US" sz="1400" b="1" dirty="0">
                <a:solidFill>
                  <a:srgbClr val="D9534F"/>
                </a:solidFill>
                <a:latin typeface="Calibri" panose="020F0502020204030204" pitchFamily="34" charset="0"/>
                <a:ea typeface="Calibri" panose="020F0502020204030204" pitchFamily="34" charset="-122"/>
                <a:cs typeface="Calibri" panose="020F0502020204030204" pitchFamily="34" charset="-120"/>
              </a:rPr>
              <a:t>Gap: Limited mobile platform.</a:t>
            </a:r>
            <a:endParaRPr lang="en-US" sz="1400" dirty="0"/>
          </a:p>
        </p:txBody>
      </p:sp>
      <p:sp>
        <p:nvSpPr>
          <p:cNvPr id="23" name="Shape 18"/>
          <p:cNvSpPr/>
          <p:nvPr/>
        </p:nvSpPr>
        <p:spPr>
          <a:xfrm>
            <a:off x="548640" y="3950208"/>
            <a:ext cx="3566160" cy="2212848"/>
          </a:xfrm>
          <a:prstGeom prst="roundRect">
            <a:avLst>
              <a:gd name="adj" fmla="val 495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24" name="Shape 19"/>
          <p:cNvSpPr/>
          <p:nvPr/>
        </p:nvSpPr>
        <p:spPr>
          <a:xfrm>
            <a:off x="777240" y="4178808"/>
            <a:ext cx="548640" cy="548640"/>
          </a:xfrm>
          <a:prstGeom prst="ellipse">
            <a:avLst/>
          </a:prstGeom>
          <a:solidFill>
            <a:srgbClr val="14776B"/>
          </a:solidFill>
          <a:ln w="12700">
            <a:solidFill>
              <a:srgbClr val="14776B"/>
            </a:solidFill>
            <a:prstDash val="solid"/>
          </a:ln>
        </p:spPr>
      </p:sp>
      <p:pic>
        <p:nvPicPr>
          <p:cNvPr id="25" name="Image 3" descr="preencoded.png"/>
          <p:cNvPicPr>
            <a:picLocks noChangeAspect="1"/>
          </p:cNvPicPr>
          <p:nvPr/>
        </p:nvPicPr>
        <p:blipFill>
          <a:blip r:embed="rId4"/>
          <a:stretch>
            <a:fillRect/>
          </a:stretch>
        </p:blipFill>
        <p:spPr>
          <a:xfrm>
            <a:off x="925373" y="4326941"/>
            <a:ext cx="252374" cy="252374"/>
          </a:xfrm>
          <a:prstGeom prst="rect">
            <a:avLst/>
          </a:prstGeom>
        </p:spPr>
      </p:pic>
      <p:sp>
        <p:nvSpPr>
          <p:cNvPr id="26" name="Text 20"/>
          <p:cNvSpPr txBox="1"/>
          <p:nvPr/>
        </p:nvSpPr>
        <p:spPr>
          <a:xfrm>
            <a:off x="1463040" y="4151376"/>
            <a:ext cx="2514600" cy="320040"/>
          </a:xfrm>
          <a:prstGeom prst="rect">
            <a:avLst/>
          </a:prstGeom>
          <a:noFill/>
        </p:spPr>
        <p:txBody>
          <a:bodyPr wrap="square" lIns="0" tIns="0" rIns="0" bIns="0" rtlCol="0" anchor="ctr"/>
          <a:lstStyle/>
          <a:p>
            <a:pPr marL="0" indent="0">
              <a:buNone/>
            </a:pPr>
            <a:r>
              <a:rPr lang="en-US" sz="1450" b="1" dirty="0">
                <a:solidFill>
                  <a:srgbClr val="0B2E2B"/>
                </a:solidFill>
                <a:latin typeface="Calibri" panose="020F0502020204030204" pitchFamily="34" charset="0"/>
                <a:ea typeface="Calibri" panose="020F0502020204030204" pitchFamily="34" charset="-122"/>
                <a:cs typeface="Calibri" panose="020F0502020204030204" pitchFamily="34" charset="-120"/>
              </a:rPr>
              <a:t>Vision-guided arm [8]</a:t>
            </a:r>
            <a:endParaRPr lang="en-US" sz="1450" dirty="0"/>
          </a:p>
        </p:txBody>
      </p:sp>
      <p:sp>
        <p:nvSpPr>
          <p:cNvPr id="27" name="Text 21"/>
          <p:cNvSpPr txBox="1"/>
          <p:nvPr/>
        </p:nvSpPr>
        <p:spPr>
          <a:xfrm>
            <a:off x="1463040" y="4480560"/>
            <a:ext cx="2514600" cy="256032"/>
          </a:xfrm>
          <a:prstGeom prst="rect">
            <a:avLst/>
          </a:prstGeom>
          <a:noFill/>
        </p:spPr>
        <p:txBody>
          <a:bodyPr wrap="square" lIns="0" tIns="0" rIns="0" bIns="0" rtlCol="0" anchor="t"/>
          <a:lstStyle/>
          <a:p>
            <a:pPr marL="0" indent="0">
              <a:buNone/>
            </a:pPr>
            <a:r>
              <a:rPr lang="en-US" sz="1150" dirty="0">
                <a:solidFill>
                  <a:srgbClr val="5A6E6A"/>
                </a:solidFill>
                <a:latin typeface="Calibri" panose="020F0502020204030204" pitchFamily="34" charset="0"/>
                <a:ea typeface="Calibri" panose="020F0502020204030204" pitchFamily="34" charset="-122"/>
                <a:cs typeface="Calibri" panose="020F0502020204030204" pitchFamily="34" charset="-120"/>
              </a:rPr>
              <a:t>Chaidir et al., 2025</a:t>
            </a:r>
            <a:endParaRPr lang="en-US" sz="1150" dirty="0"/>
          </a:p>
        </p:txBody>
      </p:sp>
      <p:sp>
        <p:nvSpPr>
          <p:cNvPr id="28" name="Text 22"/>
          <p:cNvSpPr txBox="1"/>
          <p:nvPr/>
        </p:nvSpPr>
        <p:spPr>
          <a:xfrm>
            <a:off x="777240" y="4910328"/>
            <a:ext cx="3154680" cy="1188720"/>
          </a:xfrm>
          <a:prstGeom prst="rect">
            <a:avLst/>
          </a:prstGeom>
          <a:noFill/>
        </p:spPr>
        <p:txBody>
          <a:bodyPr wrap="square" lIns="0" tIns="0" rIns="0" bIns="0" rtlCol="0" anchor="t"/>
          <a:lstStyle/>
          <a:p>
            <a:pPr marL="0" indent="0">
              <a:spcAft>
                <a:spcPts val="500"/>
              </a:spcAft>
              <a:buNone/>
            </a:pPr>
            <a:r>
              <a:rPr lang="en-US" sz="1400" dirty="0">
                <a:solidFill>
                  <a:srgbClr val="1E2B2A"/>
                </a:solidFill>
                <a:latin typeface="Calibri" panose="020F0502020204030204" pitchFamily="34" charset="0"/>
                <a:ea typeface="Calibri" panose="020F0502020204030204" pitchFamily="34" charset="-122"/>
                <a:cs typeface="Calibri" panose="020F0502020204030204" pitchFamily="34" charset="-120"/>
              </a:rPr>
              <a:t>Holonomic wheeled robot arm with YOLOv5 for waste sorting.</a:t>
            </a:r>
            <a:endParaRPr lang="en-US" sz="1400" dirty="0"/>
          </a:p>
          <a:p>
            <a:pPr marL="0" indent="0">
              <a:spcAft>
                <a:spcPts val="500"/>
              </a:spcAft>
              <a:buNone/>
            </a:pPr>
            <a:r>
              <a:rPr lang="en-US" sz="1400" b="1" dirty="0">
                <a:solidFill>
                  <a:srgbClr val="D9534F"/>
                </a:solidFill>
                <a:latin typeface="Calibri" panose="020F0502020204030204" pitchFamily="34" charset="0"/>
                <a:ea typeface="Calibri" panose="020F0502020204030204" pitchFamily="34" charset="-122"/>
                <a:cs typeface="Calibri" panose="020F0502020204030204" pitchFamily="34" charset="-120"/>
              </a:rPr>
              <a:t>Gap: Limited collection.</a:t>
            </a:r>
            <a:endParaRPr lang="en-US" sz="1400" dirty="0"/>
          </a:p>
        </p:txBody>
      </p:sp>
      <p:sp>
        <p:nvSpPr>
          <p:cNvPr id="29" name="Shape 23"/>
          <p:cNvSpPr/>
          <p:nvPr/>
        </p:nvSpPr>
        <p:spPr>
          <a:xfrm>
            <a:off x="4311396" y="3950208"/>
            <a:ext cx="3566160" cy="2212848"/>
          </a:xfrm>
          <a:prstGeom prst="roundRect">
            <a:avLst>
              <a:gd name="adj" fmla="val 495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30" name="Shape 24"/>
          <p:cNvSpPr/>
          <p:nvPr/>
        </p:nvSpPr>
        <p:spPr>
          <a:xfrm>
            <a:off x="4539996" y="4178808"/>
            <a:ext cx="548640" cy="548640"/>
          </a:xfrm>
          <a:prstGeom prst="ellipse">
            <a:avLst/>
          </a:prstGeom>
          <a:solidFill>
            <a:srgbClr val="14776B"/>
          </a:solidFill>
          <a:ln w="12700">
            <a:solidFill>
              <a:srgbClr val="14776B"/>
            </a:solidFill>
            <a:prstDash val="solid"/>
          </a:ln>
        </p:spPr>
      </p:sp>
      <p:pic>
        <p:nvPicPr>
          <p:cNvPr id="31" name="Image 4" descr="preencoded.png"/>
          <p:cNvPicPr>
            <a:picLocks noChangeAspect="1"/>
          </p:cNvPicPr>
          <p:nvPr/>
        </p:nvPicPr>
        <p:blipFill>
          <a:blip r:embed="rId5"/>
          <a:stretch>
            <a:fillRect/>
          </a:stretch>
        </p:blipFill>
        <p:spPr>
          <a:xfrm>
            <a:off x="4688129" y="4326941"/>
            <a:ext cx="252374" cy="252374"/>
          </a:xfrm>
          <a:prstGeom prst="rect">
            <a:avLst/>
          </a:prstGeom>
        </p:spPr>
      </p:pic>
      <p:sp>
        <p:nvSpPr>
          <p:cNvPr id="32" name="Text 25"/>
          <p:cNvSpPr txBox="1"/>
          <p:nvPr/>
        </p:nvSpPr>
        <p:spPr>
          <a:xfrm>
            <a:off x="5225796" y="4151376"/>
            <a:ext cx="2514600" cy="320040"/>
          </a:xfrm>
          <a:prstGeom prst="rect">
            <a:avLst/>
          </a:prstGeom>
          <a:noFill/>
        </p:spPr>
        <p:txBody>
          <a:bodyPr wrap="square" lIns="0" tIns="0" rIns="0" bIns="0" rtlCol="0" anchor="ctr"/>
          <a:lstStyle/>
          <a:p>
            <a:pPr marL="0" indent="0">
              <a:buNone/>
            </a:pPr>
            <a:r>
              <a:rPr lang="en-US" sz="1450" b="1" dirty="0">
                <a:solidFill>
                  <a:srgbClr val="0B2E2B"/>
                </a:solidFill>
                <a:latin typeface="Calibri" panose="020F0502020204030204" pitchFamily="34" charset="0"/>
                <a:ea typeface="Calibri" panose="020F0502020204030204" pitchFamily="34" charset="-122"/>
                <a:cs typeface="Calibri" panose="020F0502020204030204" pitchFamily="34" charset="-120"/>
              </a:rPr>
              <a:t>Autonomous Litter Robot [9]</a:t>
            </a:r>
            <a:endParaRPr lang="en-US" sz="1450" dirty="0"/>
          </a:p>
        </p:txBody>
      </p:sp>
      <p:sp>
        <p:nvSpPr>
          <p:cNvPr id="33" name="Text 26"/>
          <p:cNvSpPr txBox="1"/>
          <p:nvPr/>
        </p:nvSpPr>
        <p:spPr>
          <a:xfrm>
            <a:off x="5225796" y="4480560"/>
            <a:ext cx="2514600" cy="256032"/>
          </a:xfrm>
          <a:prstGeom prst="rect">
            <a:avLst/>
          </a:prstGeom>
          <a:noFill/>
        </p:spPr>
        <p:txBody>
          <a:bodyPr wrap="square" lIns="0" tIns="0" rIns="0" bIns="0" rtlCol="0" anchor="t"/>
          <a:lstStyle/>
          <a:p>
            <a:pPr marL="0" indent="0">
              <a:buNone/>
            </a:pPr>
            <a:r>
              <a:rPr lang="en-US" sz="1150" dirty="0">
                <a:solidFill>
                  <a:srgbClr val="5A6E6A"/>
                </a:solidFill>
                <a:latin typeface="Calibri" panose="020F0502020204030204" pitchFamily="34" charset="0"/>
                <a:ea typeface="Calibri" panose="020F0502020204030204" pitchFamily="34" charset="-122"/>
                <a:cs typeface="Calibri" panose="020F0502020204030204" pitchFamily="34" charset="-120"/>
              </a:rPr>
              <a:t>Dube et al., 2025</a:t>
            </a:r>
            <a:endParaRPr lang="en-US" sz="1150" dirty="0"/>
          </a:p>
        </p:txBody>
      </p:sp>
      <p:sp>
        <p:nvSpPr>
          <p:cNvPr id="34" name="Text 27"/>
          <p:cNvSpPr txBox="1"/>
          <p:nvPr/>
        </p:nvSpPr>
        <p:spPr>
          <a:xfrm>
            <a:off x="4539996" y="4910328"/>
            <a:ext cx="3154680" cy="1188720"/>
          </a:xfrm>
          <a:prstGeom prst="rect">
            <a:avLst/>
          </a:prstGeom>
          <a:noFill/>
        </p:spPr>
        <p:txBody>
          <a:bodyPr wrap="square" lIns="0" tIns="0" rIns="0" bIns="0" rtlCol="0" anchor="t"/>
          <a:lstStyle/>
          <a:p>
            <a:pPr marL="0" indent="0">
              <a:spcAft>
                <a:spcPts val="500"/>
              </a:spcAft>
              <a:buNone/>
            </a:pPr>
            <a:r>
              <a:rPr lang="en-US" sz="1400" dirty="0">
                <a:solidFill>
                  <a:srgbClr val="1E2B2A"/>
                </a:solidFill>
                <a:latin typeface="Calibri" panose="020F0502020204030204" pitchFamily="34" charset="0"/>
                <a:ea typeface="Calibri" panose="020F0502020204030204" pitchFamily="34" charset="-122"/>
                <a:cs typeface="Calibri" panose="020F0502020204030204" pitchFamily="34" charset="-120"/>
              </a:rPr>
              <a:t>Litter collecting robot with integrated detection and sorting capabilities.</a:t>
            </a:r>
            <a:endParaRPr lang="en-US" sz="1400" dirty="0"/>
          </a:p>
          <a:p>
            <a:pPr marL="0" indent="0">
              <a:spcAft>
                <a:spcPts val="500"/>
              </a:spcAft>
              <a:buNone/>
            </a:pPr>
            <a:r>
              <a:rPr lang="en-US" sz="1400" b="1" dirty="0">
                <a:solidFill>
                  <a:srgbClr val="D9534F"/>
                </a:solidFill>
                <a:latin typeface="Calibri" panose="020F0502020204030204" pitchFamily="34" charset="0"/>
                <a:ea typeface="Calibri" panose="020F0502020204030204" pitchFamily="34" charset="-122"/>
                <a:cs typeface="Calibri" panose="020F0502020204030204" pitchFamily="34" charset="-120"/>
              </a:rPr>
              <a:t>Gap: Limited ROS use and simulation.</a:t>
            </a:r>
            <a:endParaRPr lang="en-US" sz="1400" dirty="0"/>
          </a:p>
        </p:txBody>
      </p:sp>
      <p:sp>
        <p:nvSpPr>
          <p:cNvPr id="35" name="Shape 28"/>
          <p:cNvSpPr/>
          <p:nvPr/>
        </p:nvSpPr>
        <p:spPr>
          <a:xfrm>
            <a:off x="8074152" y="3950208"/>
            <a:ext cx="3566160" cy="2212848"/>
          </a:xfrm>
          <a:prstGeom prst="roundRect">
            <a:avLst>
              <a:gd name="adj" fmla="val 495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36" name="Shape 29"/>
          <p:cNvSpPr/>
          <p:nvPr/>
        </p:nvSpPr>
        <p:spPr>
          <a:xfrm>
            <a:off x="8302752" y="4178808"/>
            <a:ext cx="548640" cy="548640"/>
          </a:xfrm>
          <a:prstGeom prst="ellipse">
            <a:avLst/>
          </a:prstGeom>
          <a:solidFill>
            <a:srgbClr val="14776B"/>
          </a:solidFill>
          <a:ln w="12700">
            <a:solidFill>
              <a:srgbClr val="14776B"/>
            </a:solidFill>
            <a:prstDash val="solid"/>
          </a:ln>
        </p:spPr>
      </p:sp>
      <p:pic>
        <p:nvPicPr>
          <p:cNvPr id="37" name="Image 5" descr="preencoded.png"/>
          <p:cNvPicPr>
            <a:picLocks noChangeAspect="1"/>
          </p:cNvPicPr>
          <p:nvPr/>
        </p:nvPicPr>
        <p:blipFill>
          <a:blip r:embed="rId6"/>
          <a:stretch>
            <a:fillRect/>
          </a:stretch>
        </p:blipFill>
        <p:spPr>
          <a:xfrm>
            <a:off x="8450885" y="4326941"/>
            <a:ext cx="252374" cy="252374"/>
          </a:xfrm>
          <a:prstGeom prst="rect">
            <a:avLst/>
          </a:prstGeom>
        </p:spPr>
      </p:pic>
      <p:sp>
        <p:nvSpPr>
          <p:cNvPr id="38" name="Text 30"/>
          <p:cNvSpPr txBox="1"/>
          <p:nvPr/>
        </p:nvSpPr>
        <p:spPr>
          <a:xfrm>
            <a:off x="8988552" y="4151376"/>
            <a:ext cx="2514600" cy="320040"/>
          </a:xfrm>
          <a:prstGeom prst="rect">
            <a:avLst/>
          </a:prstGeom>
          <a:noFill/>
        </p:spPr>
        <p:txBody>
          <a:bodyPr wrap="square" lIns="0" tIns="0" rIns="0" bIns="0" rtlCol="0" anchor="ctr"/>
          <a:lstStyle/>
          <a:p>
            <a:pPr marL="0" indent="0">
              <a:buNone/>
            </a:pPr>
            <a:r>
              <a:rPr lang="en-US" sz="1450" b="1" dirty="0">
                <a:solidFill>
                  <a:srgbClr val="0B2E2B"/>
                </a:solidFill>
                <a:latin typeface="Calibri" panose="020F0502020204030204" pitchFamily="34" charset="0"/>
                <a:ea typeface="Calibri" panose="020F0502020204030204" pitchFamily="34" charset="-122"/>
                <a:cs typeface="Calibri" panose="020F0502020204030204" pitchFamily="34" charset="-120"/>
              </a:rPr>
              <a:t>Other robotic studies [12]–[15]</a:t>
            </a:r>
            <a:endParaRPr lang="en-US" sz="1450" dirty="0"/>
          </a:p>
        </p:txBody>
      </p:sp>
      <p:sp>
        <p:nvSpPr>
          <p:cNvPr id="39" name="Text 31"/>
          <p:cNvSpPr txBox="1"/>
          <p:nvPr/>
        </p:nvSpPr>
        <p:spPr>
          <a:xfrm>
            <a:off x="8988552" y="4480560"/>
            <a:ext cx="2514600" cy="256032"/>
          </a:xfrm>
          <a:prstGeom prst="rect">
            <a:avLst/>
          </a:prstGeom>
          <a:noFill/>
        </p:spPr>
        <p:txBody>
          <a:bodyPr wrap="square" lIns="0" tIns="0" rIns="0" bIns="0" rtlCol="0" anchor="t"/>
          <a:lstStyle/>
          <a:p>
            <a:pPr marL="0" indent="0">
              <a:buNone/>
            </a:pPr>
            <a:r>
              <a:rPr lang="en-US" sz="1150" dirty="0">
                <a:solidFill>
                  <a:srgbClr val="5A6E6A"/>
                </a:solidFill>
                <a:latin typeface="Calibri" panose="020F0502020204030204" pitchFamily="34" charset="0"/>
                <a:ea typeface="Calibri" panose="020F0502020204030204" pitchFamily="34" charset="-122"/>
                <a:cs typeface="Calibri" panose="020F0502020204030204" pitchFamily="34" charset="-120"/>
              </a:rPr>
              <a:t>2024–2026</a:t>
            </a:r>
            <a:endParaRPr lang="en-US" sz="1150" dirty="0"/>
          </a:p>
        </p:txBody>
      </p:sp>
      <p:sp>
        <p:nvSpPr>
          <p:cNvPr id="40" name="Text 32"/>
          <p:cNvSpPr txBox="1"/>
          <p:nvPr/>
        </p:nvSpPr>
        <p:spPr>
          <a:xfrm>
            <a:off x="8302752" y="4910328"/>
            <a:ext cx="3154680" cy="1188720"/>
          </a:xfrm>
          <a:prstGeom prst="rect">
            <a:avLst/>
          </a:prstGeom>
          <a:noFill/>
        </p:spPr>
        <p:txBody>
          <a:bodyPr wrap="square" lIns="0" tIns="0" rIns="0" bIns="0" rtlCol="0" anchor="t"/>
          <a:lstStyle/>
          <a:p>
            <a:pPr marL="0" indent="0">
              <a:spcAft>
                <a:spcPts val="500"/>
              </a:spcAft>
              <a:buNone/>
            </a:pPr>
            <a:r>
              <a:rPr lang="en-US" sz="1400" dirty="0">
                <a:solidFill>
                  <a:srgbClr val="1E2B2A"/>
                </a:solidFill>
                <a:latin typeface="Calibri" panose="020F0502020204030204" pitchFamily="34" charset="0"/>
                <a:ea typeface="Calibri" panose="020F0502020204030204" pitchFamily="34" charset="-122"/>
                <a:cs typeface="Calibri" panose="020F0502020204030204" pitchFamily="34" charset="-120"/>
              </a:rPr>
              <a:t>Floating-debris collection, quadruped trash containers, door-operating arms, mobile classification robots.</a:t>
            </a:r>
            <a:endParaRPr lang="en-US" sz="1400" dirty="0"/>
          </a:p>
          <a:p>
            <a:pPr marL="0" indent="0">
              <a:spcAft>
                <a:spcPts val="500"/>
              </a:spcAft>
              <a:buNone/>
            </a:pPr>
            <a:r>
              <a:rPr lang="en-US" sz="1400" b="1" dirty="0">
                <a:solidFill>
                  <a:srgbClr val="D9534F"/>
                </a:solidFill>
                <a:latin typeface="Calibri" panose="020F0502020204030204" pitchFamily="34" charset="0"/>
                <a:ea typeface="Calibri" panose="020F0502020204030204" pitchFamily="34" charset="-122"/>
                <a:cs typeface="Calibri" panose="020F0502020204030204" pitchFamily="34" charset="-120"/>
              </a:rPr>
              <a:t>Gap: Task-specific designs.</a:t>
            </a:r>
            <a:endParaRPr lang="en-US" sz="1400" dirty="0"/>
          </a:p>
        </p:txBody>
      </p:sp>
      <p:sp>
        <p:nvSpPr>
          <p:cNvPr id="41"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LITERATURE REVIEW  ·  3 OF 3</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Comparison with Existing Approaches</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graphicFrame>
        <p:nvGraphicFramePr>
          <p:cNvPr id="8" name="Table 0"/>
          <p:cNvGraphicFramePr>
            <a:graphicFrameLocks noGrp="1"/>
          </p:cNvGraphicFramePr>
          <p:nvPr/>
        </p:nvGraphicFramePr>
        <p:xfrm>
          <a:off x="548640" y="1508760"/>
          <a:ext cx="11091672" cy="4279392"/>
        </p:xfrm>
        <a:graphic>
          <a:graphicData uri="http://schemas.openxmlformats.org/drawingml/2006/table">
            <a:tbl>
              <a:tblPr/>
              <a:tblGrid>
                <a:gridCol w="3246120"/>
                <a:gridCol w="1307592"/>
                <a:gridCol w="1307592"/>
                <a:gridCol w="1307592"/>
                <a:gridCol w="1307592"/>
                <a:gridCol w="1307592"/>
                <a:gridCol w="1307592"/>
              </a:tblGrid>
              <a:tr h="475488">
                <a:tc>
                  <a:txBody>
                    <a:bodyPr/>
                    <a:lstStyle/>
                    <a:p>
                      <a:pPr marL="0" indent="0" algn="l">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Work</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776B"/>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Vision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776B"/>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ROS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776B"/>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Mobile Robot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776B"/>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Robotic Arm</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776B"/>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Collection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776B"/>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Simulation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776B"/>
                    </a:solidFill>
                  </a:tcPr>
                </a:tc>
              </a:tr>
              <a:tr h="475488">
                <a:tc>
                  <a:txBody>
                    <a:bodyPr/>
                    <a:lstStyle/>
                    <a:p>
                      <a:pPr marL="0" indent="0">
                        <a:buNone/>
                      </a:pPr>
                      <a:r>
                        <a:rPr lang="en-US" sz="1300" b="1" dirty="0">
                          <a:solidFill>
                            <a:srgbClr val="0B2E2B"/>
                          </a:solidFill>
                          <a:latin typeface="Calibri" panose="020F0502020204030204" pitchFamily="34" charset="0"/>
                          <a:ea typeface="Calibri" panose="020F0502020204030204" pitchFamily="34" charset="-122"/>
                          <a:cs typeface="Calibri" panose="020F0502020204030204" pitchFamily="34" charset="-120"/>
                        </a:rPr>
                        <a:t>DSYOLO-trash [4]</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B23A35"/>
                          </a:solidFill>
                          <a:latin typeface="Calibri" panose="020F0502020204030204" pitchFamily="34" charset="0"/>
                          <a:ea typeface="Calibri" panose="020F0502020204030204" pitchFamily="34" charset="-122"/>
                          <a:cs typeface="Calibri" panose="020F0502020204030204" pitchFamily="34" charset="-120"/>
                        </a:rPr>
                        <a:t>No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E2"/>
                    </a:solidFill>
                  </a:tcPr>
                </a:tc>
                <a:tc>
                  <a:txBody>
                    <a:bodyPr/>
                    <a:lstStyle/>
                    <a:p>
                      <a:pPr marL="0" indent="0" algn="ctr">
                        <a:buNone/>
                      </a:pPr>
                      <a:r>
                        <a:rPr lang="en-US" sz="1300" b="1" dirty="0">
                          <a:solidFill>
                            <a:srgbClr val="B23A35"/>
                          </a:solidFill>
                          <a:latin typeface="Calibri" panose="020F0502020204030204" pitchFamily="34" charset="0"/>
                          <a:ea typeface="Calibri" panose="020F0502020204030204" pitchFamily="34" charset="-122"/>
                          <a:cs typeface="Calibri" panose="020F0502020204030204" pitchFamily="34" charset="-120"/>
                        </a:rPr>
                        <a:t>No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E2"/>
                    </a:solidFill>
                  </a:tcPr>
                </a:tc>
                <a:tc>
                  <a:txBody>
                    <a:bodyPr/>
                    <a:lstStyle/>
                    <a:p>
                      <a:pPr marL="0" indent="0" algn="ctr">
                        <a:buNone/>
                      </a:pPr>
                      <a:r>
                        <a:rPr lang="en-US" sz="1300" b="1" dirty="0">
                          <a:solidFill>
                            <a:srgbClr val="B23A35"/>
                          </a:solidFill>
                          <a:latin typeface="Calibri" panose="020F0502020204030204" pitchFamily="34" charset="0"/>
                          <a:ea typeface="Calibri" panose="020F0502020204030204" pitchFamily="34" charset="-122"/>
                          <a:cs typeface="Calibri" panose="020F0502020204030204" pitchFamily="34" charset="-120"/>
                        </a:rPr>
                        <a:t>No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E2"/>
                    </a:solidFill>
                  </a:tcPr>
                </a:tc>
                <a:tc>
                  <a:txBody>
                    <a:bodyPr/>
                    <a:lstStyle/>
                    <a:p>
                      <a:pPr marL="0" indent="0" algn="ctr">
                        <a:buNone/>
                      </a:pPr>
                      <a:r>
                        <a:rPr lang="en-US" sz="1300" b="1" dirty="0">
                          <a:solidFill>
                            <a:srgbClr val="B23A35"/>
                          </a:solidFill>
                          <a:latin typeface="Calibri" panose="020F0502020204030204" pitchFamily="34" charset="0"/>
                          <a:ea typeface="Calibri" panose="020F0502020204030204" pitchFamily="34" charset="-122"/>
                          <a:cs typeface="Calibri" panose="020F0502020204030204" pitchFamily="34" charset="-120"/>
                        </a:rPr>
                        <a:t>No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E2"/>
                    </a:solidFill>
                  </a:tcPr>
                </a:tc>
                <a:tc>
                  <a:txBody>
                    <a:bodyPr/>
                    <a:lstStyle/>
                    <a:p>
                      <a:pPr marL="0" indent="0" algn="ctr">
                        <a:buNone/>
                      </a:pPr>
                      <a:r>
                        <a:rPr lang="en-US" sz="1300" b="1" dirty="0">
                          <a:solidFill>
                            <a:srgbClr val="B23A35"/>
                          </a:solidFill>
                          <a:latin typeface="Calibri" panose="020F0502020204030204" pitchFamily="34" charset="0"/>
                          <a:ea typeface="Calibri" panose="020F0502020204030204" pitchFamily="34" charset="-122"/>
                          <a:cs typeface="Calibri" panose="020F0502020204030204" pitchFamily="34" charset="-120"/>
                        </a:rPr>
                        <a:t>No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E2"/>
                    </a:solidFill>
                  </a:tcPr>
                </a:tc>
              </a:tr>
              <a:tr h="475488">
                <a:tc>
                  <a:txBody>
                    <a:bodyPr/>
                    <a:lstStyle/>
                    <a:p>
                      <a:pPr marL="0" indent="0">
                        <a:buNone/>
                      </a:pPr>
                      <a:r>
                        <a:rPr lang="en-US" sz="1300" b="1" dirty="0">
                          <a:solidFill>
                            <a:srgbClr val="0B2E2B"/>
                          </a:solidFill>
                          <a:latin typeface="Calibri" panose="020F0502020204030204" pitchFamily="34" charset="0"/>
                          <a:ea typeface="Calibri" panose="020F0502020204030204" pitchFamily="34" charset="-122"/>
                          <a:cs typeface="Calibri" panose="020F0502020204030204" pitchFamily="34" charset="-120"/>
                        </a:rPr>
                        <a:t>MRS-YOLO [5]</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B23A35"/>
                          </a:solidFill>
                          <a:latin typeface="Calibri" panose="020F0502020204030204" pitchFamily="34" charset="0"/>
                          <a:ea typeface="Calibri" panose="020F0502020204030204" pitchFamily="34" charset="-122"/>
                          <a:cs typeface="Calibri" panose="020F0502020204030204" pitchFamily="34" charset="-120"/>
                        </a:rPr>
                        <a:t>No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E2"/>
                    </a:solidFill>
                  </a:tcPr>
                </a:tc>
                <a:tc>
                  <a:txBody>
                    <a:bodyPr/>
                    <a:lstStyle/>
                    <a:p>
                      <a:pPr marL="0" indent="0" algn="ctr">
                        <a:buNone/>
                      </a:pPr>
                      <a:r>
                        <a:rPr lang="en-US" sz="1300" b="1" dirty="0">
                          <a:solidFill>
                            <a:srgbClr val="B23A35"/>
                          </a:solidFill>
                          <a:latin typeface="Calibri" panose="020F0502020204030204" pitchFamily="34" charset="0"/>
                          <a:ea typeface="Calibri" panose="020F0502020204030204" pitchFamily="34" charset="-122"/>
                          <a:cs typeface="Calibri" panose="020F0502020204030204" pitchFamily="34" charset="-120"/>
                        </a:rPr>
                        <a:t>No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E2"/>
                    </a:solidFill>
                  </a:tcPr>
                </a:tc>
                <a:tc>
                  <a:txBody>
                    <a:bodyPr/>
                    <a:lstStyle/>
                    <a:p>
                      <a:pPr marL="0" indent="0" algn="ctr">
                        <a:buNone/>
                      </a:pPr>
                      <a:r>
                        <a:rPr lang="en-US" sz="1300" b="1" dirty="0">
                          <a:solidFill>
                            <a:srgbClr val="B23A35"/>
                          </a:solidFill>
                          <a:latin typeface="Calibri" panose="020F0502020204030204" pitchFamily="34" charset="0"/>
                          <a:ea typeface="Calibri" panose="020F0502020204030204" pitchFamily="34" charset="-122"/>
                          <a:cs typeface="Calibri" panose="020F0502020204030204" pitchFamily="34" charset="-120"/>
                        </a:rPr>
                        <a:t>No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E2"/>
                    </a:solidFill>
                  </a:tcPr>
                </a:tc>
                <a:tc>
                  <a:txBody>
                    <a:bodyPr/>
                    <a:lstStyle/>
                    <a:p>
                      <a:pPr marL="0" indent="0" algn="ctr">
                        <a:buNone/>
                      </a:pPr>
                      <a:r>
                        <a:rPr lang="en-US" sz="1300" b="1" dirty="0">
                          <a:solidFill>
                            <a:srgbClr val="B23A35"/>
                          </a:solidFill>
                          <a:latin typeface="Calibri" panose="020F0502020204030204" pitchFamily="34" charset="0"/>
                          <a:ea typeface="Calibri" panose="020F0502020204030204" pitchFamily="34" charset="-122"/>
                          <a:cs typeface="Calibri" panose="020F0502020204030204" pitchFamily="34" charset="-120"/>
                        </a:rPr>
                        <a:t>No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E2"/>
                    </a:solidFill>
                  </a:tcPr>
                </a:tc>
                <a:tc>
                  <a:txBody>
                    <a:bodyPr/>
                    <a:lstStyle/>
                    <a:p>
                      <a:pPr marL="0" indent="0" algn="ctr">
                        <a:buNone/>
                      </a:pPr>
                      <a:r>
                        <a:rPr lang="en-US" sz="1300" b="1" dirty="0">
                          <a:solidFill>
                            <a:srgbClr val="B23A35"/>
                          </a:solidFill>
                          <a:latin typeface="Calibri" panose="020F0502020204030204" pitchFamily="34" charset="0"/>
                          <a:ea typeface="Calibri" panose="020F0502020204030204" pitchFamily="34" charset="-122"/>
                          <a:cs typeface="Calibri" panose="020F0502020204030204" pitchFamily="34" charset="-120"/>
                        </a:rPr>
                        <a:t>No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4E2"/>
                    </a:solidFill>
                  </a:tcPr>
                </a:tc>
              </a:tr>
              <a:tr h="475488">
                <a:tc>
                  <a:txBody>
                    <a:bodyPr/>
                    <a:lstStyle/>
                    <a:p>
                      <a:pPr marL="0" indent="0">
                        <a:buNone/>
                      </a:pPr>
                      <a:r>
                        <a:rPr lang="en-US" sz="1300" b="1" dirty="0">
                          <a:solidFill>
                            <a:srgbClr val="0B2E2B"/>
                          </a:solidFill>
                          <a:latin typeface="Calibri" panose="020F0502020204030204" pitchFamily="34" charset="0"/>
                          <a:ea typeface="Calibri" panose="020F0502020204030204" pitchFamily="34" charset="-122"/>
                          <a:cs typeface="Calibri" panose="020F0502020204030204" pitchFamily="34" charset="-120"/>
                        </a:rPr>
                        <a:t>SHIFT-T [3]</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8A5A00"/>
                          </a:solidFill>
                          <a:latin typeface="Calibri" panose="020F0502020204030204" pitchFamily="34" charset="0"/>
                          <a:ea typeface="Calibri" panose="020F0502020204030204" pitchFamily="34" charset="-122"/>
                          <a:cs typeface="Calibri" panose="020F0502020204030204" pitchFamily="34" charset="-120"/>
                        </a:rPr>
                        <a:t>Limited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D2"/>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r>
              <a:tr h="475488">
                <a:tc>
                  <a:txBody>
                    <a:bodyPr/>
                    <a:lstStyle/>
                    <a:p>
                      <a:pPr marL="0" indent="0">
                        <a:buNone/>
                      </a:pPr>
                      <a:r>
                        <a:rPr lang="en-US" sz="1300" b="1" dirty="0">
                          <a:solidFill>
                            <a:srgbClr val="0B2E2B"/>
                          </a:solidFill>
                          <a:latin typeface="Calibri" panose="020F0502020204030204" pitchFamily="34" charset="0"/>
                          <a:ea typeface="Calibri" panose="020F0502020204030204" pitchFamily="34" charset="-122"/>
                          <a:cs typeface="Calibri" panose="020F0502020204030204" pitchFamily="34" charset="-120"/>
                        </a:rPr>
                        <a:t>Islam et al. [1]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8A5A00"/>
                          </a:solidFill>
                          <a:latin typeface="Calibri" panose="020F0502020204030204" pitchFamily="34" charset="0"/>
                          <a:ea typeface="Calibri" panose="020F0502020204030204" pitchFamily="34" charset="-122"/>
                          <a:cs typeface="Calibri" panose="020F0502020204030204" pitchFamily="34" charset="-120"/>
                        </a:rPr>
                        <a:t>Limited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D2"/>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r>
              <a:tr h="475488">
                <a:tc>
                  <a:txBody>
                    <a:bodyPr/>
                    <a:lstStyle/>
                    <a:p>
                      <a:pPr marL="0" indent="0">
                        <a:buNone/>
                      </a:pPr>
                      <a:r>
                        <a:rPr lang="en-US" sz="1300" b="1" dirty="0">
                          <a:solidFill>
                            <a:srgbClr val="0B2E2B"/>
                          </a:solidFill>
                          <a:latin typeface="Calibri" panose="020F0502020204030204" pitchFamily="34" charset="0"/>
                          <a:ea typeface="Calibri" panose="020F0502020204030204" pitchFamily="34" charset="-122"/>
                          <a:cs typeface="Calibri" panose="020F0502020204030204" pitchFamily="34" charset="-120"/>
                        </a:rPr>
                        <a:t>WasteSortBot [2]</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8A5A00"/>
                          </a:solidFill>
                          <a:latin typeface="Calibri" panose="020F0502020204030204" pitchFamily="34" charset="0"/>
                          <a:ea typeface="Calibri" panose="020F0502020204030204" pitchFamily="34" charset="-122"/>
                          <a:cs typeface="Calibri" panose="020F0502020204030204" pitchFamily="34" charset="-120"/>
                        </a:rPr>
                        <a:t>Limited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D2"/>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8A5A00"/>
                          </a:solidFill>
                          <a:latin typeface="Calibri" panose="020F0502020204030204" pitchFamily="34" charset="0"/>
                          <a:ea typeface="Calibri" panose="020F0502020204030204" pitchFamily="34" charset="-122"/>
                          <a:cs typeface="Calibri" panose="020F0502020204030204" pitchFamily="34" charset="-120"/>
                        </a:rPr>
                        <a:t>Limited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D2"/>
                    </a:solidFill>
                  </a:tcPr>
                </a:tc>
              </a:tr>
              <a:tr h="475488">
                <a:tc>
                  <a:txBody>
                    <a:bodyPr/>
                    <a:lstStyle/>
                    <a:p>
                      <a:pPr marL="0" indent="0">
                        <a:buNone/>
                      </a:pPr>
                      <a:r>
                        <a:rPr lang="en-US" sz="1300" b="1" dirty="0">
                          <a:solidFill>
                            <a:srgbClr val="0B2E2B"/>
                          </a:solidFill>
                          <a:latin typeface="Calibri" panose="020F0502020204030204" pitchFamily="34" charset="0"/>
                          <a:ea typeface="Calibri" panose="020F0502020204030204" pitchFamily="34" charset="-122"/>
                          <a:cs typeface="Calibri" panose="020F0502020204030204" pitchFamily="34" charset="-120"/>
                        </a:rPr>
                        <a:t>Chaidir et al. [8]</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8A5A00"/>
                          </a:solidFill>
                          <a:latin typeface="Calibri" panose="020F0502020204030204" pitchFamily="34" charset="0"/>
                          <a:ea typeface="Calibri" panose="020F0502020204030204" pitchFamily="34" charset="-122"/>
                          <a:cs typeface="Calibri" panose="020F0502020204030204" pitchFamily="34" charset="-120"/>
                        </a:rPr>
                        <a:t>Limited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D2"/>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r>
              <a:tr h="475488">
                <a:tc>
                  <a:txBody>
                    <a:bodyPr/>
                    <a:lstStyle/>
                    <a:p>
                      <a:pPr marL="0" indent="0">
                        <a:buNone/>
                      </a:pPr>
                      <a:r>
                        <a:rPr lang="en-US" sz="1300" b="1" dirty="0">
                          <a:solidFill>
                            <a:srgbClr val="0B2E2B"/>
                          </a:solidFill>
                          <a:latin typeface="Calibri" panose="020F0502020204030204" pitchFamily="34" charset="0"/>
                          <a:ea typeface="Calibri" panose="020F0502020204030204" pitchFamily="34" charset="-122"/>
                          <a:cs typeface="Calibri" panose="020F0502020204030204" pitchFamily="34" charset="-120"/>
                        </a:rPr>
                        <a:t>Autonomous Litter Robot [9]</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8A5A00"/>
                          </a:solidFill>
                          <a:latin typeface="Calibri" panose="020F0502020204030204" pitchFamily="34" charset="0"/>
                          <a:ea typeface="Calibri" panose="020F0502020204030204" pitchFamily="34" charset="-122"/>
                          <a:cs typeface="Calibri" panose="020F0502020204030204" pitchFamily="34" charset="-120"/>
                        </a:rPr>
                        <a:t>Limited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D2"/>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1E7A4C"/>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F3EA"/>
                    </a:solidFill>
                  </a:tcPr>
                </a:tc>
                <a:tc>
                  <a:txBody>
                    <a:bodyPr/>
                    <a:lstStyle/>
                    <a:p>
                      <a:pPr marL="0" indent="0" algn="ctr">
                        <a:buNone/>
                      </a:pPr>
                      <a:r>
                        <a:rPr lang="en-US" sz="1300" b="1" dirty="0">
                          <a:solidFill>
                            <a:srgbClr val="8A5A00"/>
                          </a:solidFill>
                          <a:latin typeface="Calibri" panose="020F0502020204030204" pitchFamily="34" charset="0"/>
                          <a:ea typeface="Calibri" panose="020F0502020204030204" pitchFamily="34" charset="-122"/>
                          <a:cs typeface="Calibri" panose="020F0502020204030204" pitchFamily="34" charset="-120"/>
                        </a:rPr>
                        <a:t>Limited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0D2"/>
                    </a:solidFill>
                  </a:tcPr>
                </a:tc>
              </a:tr>
              <a:tr h="475488">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Proposed Robot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2E2B"/>
                    </a:solidFill>
                  </a:tcPr>
                </a:tc>
                <a:tc>
                  <a:txBody>
                    <a:bodyPr/>
                    <a:lstStyle/>
                    <a:p>
                      <a:pPr marL="0" indent="0" algn="ctr">
                        <a:buNone/>
                      </a:pPr>
                      <a:r>
                        <a:rPr lang="en-US" sz="1300" b="1" dirty="0">
                          <a:solidFill>
                            <a:srgbClr val="0B2E2B"/>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A93B"/>
                    </a:solidFill>
                  </a:tcPr>
                </a:tc>
                <a:tc>
                  <a:txBody>
                    <a:bodyPr/>
                    <a:lstStyle/>
                    <a:p>
                      <a:pPr marL="0" indent="0" algn="ctr">
                        <a:buNone/>
                      </a:pPr>
                      <a:r>
                        <a:rPr lang="en-US" sz="1300" b="1" dirty="0">
                          <a:solidFill>
                            <a:srgbClr val="0B2E2B"/>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A93B"/>
                    </a:solidFill>
                  </a:tcPr>
                </a:tc>
                <a:tc>
                  <a:txBody>
                    <a:bodyPr/>
                    <a:lstStyle/>
                    <a:p>
                      <a:pPr marL="0" indent="0" algn="ctr">
                        <a:buNone/>
                      </a:pPr>
                      <a:r>
                        <a:rPr lang="en-US" sz="1300" b="1" dirty="0">
                          <a:solidFill>
                            <a:srgbClr val="0B2E2B"/>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A93B"/>
                    </a:solidFill>
                  </a:tcPr>
                </a:tc>
                <a:tc>
                  <a:txBody>
                    <a:bodyPr/>
                    <a:lstStyle/>
                    <a:p>
                      <a:pPr marL="0" indent="0" algn="ctr">
                        <a:buNone/>
                      </a:pPr>
                      <a:r>
                        <a:rPr lang="en-US" sz="1300" b="1" dirty="0">
                          <a:solidFill>
                            <a:srgbClr val="0B2E2B"/>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A93B"/>
                    </a:solidFill>
                  </a:tcPr>
                </a:tc>
                <a:tc>
                  <a:txBody>
                    <a:bodyPr/>
                    <a:lstStyle/>
                    <a:p>
                      <a:pPr marL="0" indent="0" algn="ctr">
                        <a:buNone/>
                      </a:pPr>
                      <a:r>
                        <a:rPr lang="en-US" sz="1300" b="1" dirty="0">
                          <a:solidFill>
                            <a:srgbClr val="0B2E2B"/>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A93B"/>
                    </a:solidFill>
                  </a:tcPr>
                </a:tc>
                <a:tc>
                  <a:txBody>
                    <a:bodyPr/>
                    <a:lstStyle/>
                    <a:p>
                      <a:pPr marL="0" indent="0" algn="ctr">
                        <a:buNone/>
                      </a:pPr>
                      <a:r>
                        <a:rPr lang="en-US" sz="1300" b="1" dirty="0">
                          <a:solidFill>
                            <a:srgbClr val="0B2E2B"/>
                          </a:solidFill>
                          <a:latin typeface="Calibri" panose="020F0502020204030204" pitchFamily="34" charset="0"/>
                          <a:ea typeface="Calibri" panose="020F0502020204030204" pitchFamily="34" charset="-122"/>
                          <a:cs typeface="Calibri" panose="020F0502020204030204" pitchFamily="34" charset="-120"/>
                        </a:rPr>
                        <a:t>Yes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A93B"/>
                    </a:solidFill>
                  </a:tcPr>
                </a:tc>
              </a:tr>
            </a:tbl>
          </a:graphicData>
        </a:graphic>
      </p:graphicFrame>
      <p:sp>
        <p:nvSpPr>
          <p:cNvPr id="6" name="Text 3"/>
          <p:cNvSpPr txBox="1"/>
          <p:nvPr/>
        </p:nvSpPr>
        <p:spPr>
          <a:xfrm>
            <a:off x="548640" y="5852160"/>
            <a:ext cx="11091672" cy="365760"/>
          </a:xfrm>
          <a:prstGeom prst="rect">
            <a:avLst/>
          </a:prstGeom>
          <a:noFill/>
        </p:spPr>
        <p:txBody>
          <a:bodyPr wrap="square" lIns="0" tIns="0" rIns="0" bIns="0" rtlCol="0" anchor="ctr"/>
          <a:lstStyle/>
          <a:p>
            <a:pPr marL="0" indent="0">
              <a:buNone/>
            </a:pPr>
            <a:r>
              <a:rPr lang="en-US" sz="1400" i="1" dirty="0">
                <a:solidFill>
                  <a:srgbClr val="14776B"/>
                </a:solidFill>
                <a:latin typeface="Calibri" panose="020F0502020204030204" pitchFamily="34" charset="0"/>
                <a:ea typeface="Calibri" panose="020F0502020204030204" pitchFamily="34" charset="-122"/>
                <a:cs typeface="Calibri" panose="020F0502020204030204" pitchFamily="34" charset="-120"/>
              </a:rPr>
              <a:t>Only the proposed robot covers the full detection, navigation, pickup and disposal cycle in a ROS-based simulation.</a:t>
            </a:r>
            <a:endParaRPr lang="en-US" sz="1400" dirty="0"/>
          </a:p>
        </p:txBody>
      </p:sp>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RESEARCH GAP</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What Is Still Missing</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548640" y="1600200"/>
            <a:ext cx="3383280" cy="3154680"/>
          </a:xfrm>
          <a:prstGeom prst="roundRect">
            <a:avLst>
              <a:gd name="adj" fmla="val 3478"/>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6" name="Shape 4"/>
          <p:cNvSpPr/>
          <p:nvPr/>
        </p:nvSpPr>
        <p:spPr>
          <a:xfrm>
            <a:off x="822960" y="1874520"/>
            <a:ext cx="731520" cy="731520"/>
          </a:xfrm>
          <a:prstGeom prst="ellipse">
            <a:avLst/>
          </a:prstGeom>
          <a:solidFill>
            <a:srgbClr val="14776B"/>
          </a:solidFill>
          <a:ln w="12700">
            <a:solidFill>
              <a:srgbClr val="14776B"/>
            </a:solidFill>
            <a:prstDash val="solid"/>
          </a:ln>
        </p:spPr>
      </p:sp>
      <p:pic>
        <p:nvPicPr>
          <p:cNvPr id="7" name="Image 0" descr="preencoded.png"/>
          <p:cNvPicPr>
            <a:picLocks noChangeAspect="1"/>
          </p:cNvPicPr>
          <p:nvPr/>
        </p:nvPicPr>
        <p:blipFill>
          <a:blip r:embed="rId1"/>
          <a:stretch>
            <a:fillRect/>
          </a:stretch>
        </p:blipFill>
        <p:spPr>
          <a:xfrm>
            <a:off x="1020470" y="2072030"/>
            <a:ext cx="336499" cy="336499"/>
          </a:xfrm>
          <a:prstGeom prst="rect">
            <a:avLst/>
          </a:prstGeom>
        </p:spPr>
      </p:pic>
      <p:sp>
        <p:nvSpPr>
          <p:cNvPr id="8" name="Text 5"/>
          <p:cNvSpPr txBox="1"/>
          <p:nvPr/>
        </p:nvSpPr>
        <p:spPr>
          <a:xfrm>
            <a:off x="822960" y="2788920"/>
            <a:ext cx="2834640" cy="411480"/>
          </a:xfrm>
          <a:prstGeom prst="rect">
            <a:avLst/>
          </a:prstGeom>
          <a:noFill/>
        </p:spPr>
        <p:txBody>
          <a:bodyPr wrap="square" lIns="0" tIns="0" rIns="0" bIns="0" rtlCol="0" anchor="ctr"/>
          <a:lstStyle/>
          <a:p>
            <a:pPr marL="0" indent="0">
              <a:buNone/>
            </a:pPr>
            <a:r>
              <a:rPr lang="en-US" sz="1900" b="1" dirty="0">
                <a:solidFill>
                  <a:srgbClr val="0B2E2B"/>
                </a:solidFill>
                <a:latin typeface="Cambria" panose="02040503050406030204" pitchFamily="34" charset="0"/>
                <a:ea typeface="Cambria" panose="02040503050406030204" pitchFamily="34" charset="-122"/>
                <a:cs typeface="Cambria" panose="02040503050406030204" pitchFamily="34" charset="-120"/>
              </a:rPr>
              <a:t>Vision-based detection</a:t>
            </a:r>
            <a:endParaRPr lang="en-US" sz="1900" dirty="0"/>
          </a:p>
        </p:txBody>
      </p:sp>
      <p:sp>
        <p:nvSpPr>
          <p:cNvPr id="9" name="Text 6"/>
          <p:cNvSpPr txBox="1"/>
          <p:nvPr/>
        </p:nvSpPr>
        <p:spPr>
          <a:xfrm>
            <a:off x="822960" y="3291840"/>
            <a:ext cx="2834640" cy="1371600"/>
          </a:xfrm>
          <a:prstGeom prst="rect">
            <a:avLst/>
          </a:prstGeom>
          <a:noFill/>
        </p:spPr>
        <p:txBody>
          <a:bodyPr wrap="square" lIns="0" tIns="0" rIns="0" bIns="0" rtlCol="0" anchor="t"/>
          <a:lstStyle/>
          <a:p>
            <a:pPr marL="0" indent="0">
              <a:buNone/>
            </a:pPr>
            <a:r>
              <a:rPr lang="en-US" sz="1400" dirty="0">
                <a:solidFill>
                  <a:srgbClr val="1E2B2A"/>
                </a:solidFill>
                <a:latin typeface="Calibri" panose="020F0502020204030204" pitchFamily="34" charset="0"/>
                <a:ea typeface="Calibri" panose="020F0502020204030204" pitchFamily="34" charset="-122"/>
                <a:cs typeface="Calibri" panose="020F0502020204030204" pitchFamily="34" charset="-120"/>
              </a:rPr>
              <a:t>Deep-learning models recognize waste well, but detection and classification are where they end.</a:t>
            </a:r>
            <a:endParaRPr lang="en-US" sz="1400" dirty="0"/>
          </a:p>
        </p:txBody>
      </p:sp>
      <p:sp>
        <p:nvSpPr>
          <p:cNvPr id="10" name="Shape 7"/>
          <p:cNvSpPr/>
          <p:nvPr/>
        </p:nvSpPr>
        <p:spPr>
          <a:xfrm>
            <a:off x="3959352" y="2971800"/>
            <a:ext cx="411480" cy="411480"/>
          </a:xfrm>
          <a:prstGeom prst="ellipse">
            <a:avLst/>
          </a:prstGeom>
          <a:solidFill>
            <a:srgbClr val="F2A93B"/>
          </a:solidFill>
          <a:ln w="12700">
            <a:solidFill>
              <a:srgbClr val="F2A93B"/>
            </a:solidFill>
            <a:prstDash val="solid"/>
          </a:ln>
        </p:spPr>
      </p:sp>
      <p:pic>
        <p:nvPicPr>
          <p:cNvPr id="11" name="Image 1" descr="preencoded.png"/>
          <p:cNvPicPr>
            <a:picLocks noChangeAspect="1"/>
          </p:cNvPicPr>
          <p:nvPr/>
        </p:nvPicPr>
        <p:blipFill>
          <a:blip r:embed="rId2"/>
          <a:stretch>
            <a:fillRect/>
          </a:stretch>
        </p:blipFill>
        <p:spPr>
          <a:xfrm>
            <a:off x="4070452" y="3082900"/>
            <a:ext cx="189281" cy="189281"/>
          </a:xfrm>
          <a:prstGeom prst="rect">
            <a:avLst/>
          </a:prstGeom>
        </p:spPr>
      </p:pic>
      <p:sp>
        <p:nvSpPr>
          <p:cNvPr id="12" name="Shape 8"/>
          <p:cNvSpPr/>
          <p:nvPr/>
        </p:nvSpPr>
        <p:spPr>
          <a:xfrm>
            <a:off x="4402836" y="1600200"/>
            <a:ext cx="3383280" cy="3154680"/>
          </a:xfrm>
          <a:prstGeom prst="roundRect">
            <a:avLst>
              <a:gd name="adj" fmla="val 3478"/>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13" name="Shape 9"/>
          <p:cNvSpPr/>
          <p:nvPr/>
        </p:nvSpPr>
        <p:spPr>
          <a:xfrm>
            <a:off x="4677156" y="1874520"/>
            <a:ext cx="731520" cy="731520"/>
          </a:xfrm>
          <a:prstGeom prst="ellipse">
            <a:avLst/>
          </a:prstGeom>
          <a:solidFill>
            <a:srgbClr val="14776B"/>
          </a:solidFill>
          <a:ln w="12700">
            <a:solidFill>
              <a:srgbClr val="14776B"/>
            </a:solidFill>
            <a:prstDash val="solid"/>
          </a:ln>
        </p:spPr>
      </p:sp>
      <p:pic>
        <p:nvPicPr>
          <p:cNvPr id="14" name="Image 2" descr="preencoded.png"/>
          <p:cNvPicPr>
            <a:picLocks noChangeAspect="1"/>
          </p:cNvPicPr>
          <p:nvPr/>
        </p:nvPicPr>
        <p:blipFill>
          <a:blip r:embed="rId3"/>
          <a:stretch>
            <a:fillRect/>
          </a:stretch>
        </p:blipFill>
        <p:spPr>
          <a:xfrm>
            <a:off x="4874666" y="2072030"/>
            <a:ext cx="336499" cy="336499"/>
          </a:xfrm>
          <a:prstGeom prst="rect">
            <a:avLst/>
          </a:prstGeom>
        </p:spPr>
      </p:pic>
      <p:sp>
        <p:nvSpPr>
          <p:cNvPr id="15" name="Text 10"/>
          <p:cNvSpPr txBox="1"/>
          <p:nvPr/>
        </p:nvSpPr>
        <p:spPr>
          <a:xfrm>
            <a:off x="4677156" y="2788920"/>
            <a:ext cx="2834640" cy="411480"/>
          </a:xfrm>
          <a:prstGeom prst="rect">
            <a:avLst/>
          </a:prstGeom>
          <a:noFill/>
        </p:spPr>
        <p:txBody>
          <a:bodyPr wrap="square" lIns="0" tIns="0" rIns="0" bIns="0" rtlCol="0" anchor="ctr"/>
          <a:lstStyle/>
          <a:p>
            <a:pPr marL="0" indent="0">
              <a:buNone/>
            </a:pPr>
            <a:r>
              <a:rPr lang="en-US" sz="1900" b="1" dirty="0">
                <a:solidFill>
                  <a:srgbClr val="0B2E2B"/>
                </a:solidFill>
                <a:latin typeface="Cambria" panose="02040503050406030204" pitchFamily="34" charset="0"/>
                <a:ea typeface="Cambria" panose="02040503050406030204" pitchFamily="34" charset="-122"/>
                <a:cs typeface="Cambria" panose="02040503050406030204" pitchFamily="34" charset="-120"/>
              </a:rPr>
              <a:t>Sorting and collection</a:t>
            </a:r>
            <a:endParaRPr lang="en-US" sz="1900" dirty="0"/>
          </a:p>
        </p:txBody>
      </p:sp>
      <p:sp>
        <p:nvSpPr>
          <p:cNvPr id="16" name="Text 11"/>
          <p:cNvSpPr txBox="1"/>
          <p:nvPr/>
        </p:nvSpPr>
        <p:spPr>
          <a:xfrm>
            <a:off x="4677156" y="3291840"/>
            <a:ext cx="2834640" cy="1371600"/>
          </a:xfrm>
          <a:prstGeom prst="rect">
            <a:avLst/>
          </a:prstGeom>
          <a:noFill/>
        </p:spPr>
        <p:txBody>
          <a:bodyPr wrap="square" lIns="0" tIns="0" rIns="0" bIns="0" rtlCol="0" anchor="t"/>
          <a:lstStyle/>
          <a:p>
            <a:pPr marL="0" indent="0">
              <a:buNone/>
            </a:pPr>
            <a:r>
              <a:rPr lang="en-US" sz="1400" dirty="0">
                <a:solidFill>
                  <a:srgbClr val="1E2B2A"/>
                </a:solidFill>
                <a:latin typeface="Calibri" panose="020F0502020204030204" pitchFamily="34" charset="0"/>
                <a:ea typeface="Calibri" panose="020F0502020204030204" pitchFamily="34" charset="-122"/>
                <a:cs typeface="Calibri" panose="020F0502020204030204" pitchFamily="34" charset="-120"/>
              </a:rPr>
              <a:t>Systems handle collection or sorting under specific conditions; manipulation, autonomy or simulation is often limited.</a:t>
            </a:r>
            <a:endParaRPr lang="en-US" sz="1400" dirty="0"/>
          </a:p>
        </p:txBody>
      </p:sp>
      <p:sp>
        <p:nvSpPr>
          <p:cNvPr id="17" name="Shape 12"/>
          <p:cNvSpPr/>
          <p:nvPr/>
        </p:nvSpPr>
        <p:spPr>
          <a:xfrm>
            <a:off x="7813548" y="2971800"/>
            <a:ext cx="411480" cy="411480"/>
          </a:xfrm>
          <a:prstGeom prst="ellipse">
            <a:avLst/>
          </a:prstGeom>
          <a:solidFill>
            <a:srgbClr val="F2A93B"/>
          </a:solidFill>
          <a:ln w="12700">
            <a:solidFill>
              <a:srgbClr val="F2A93B"/>
            </a:solidFill>
            <a:prstDash val="solid"/>
          </a:ln>
        </p:spPr>
      </p:sp>
      <p:pic>
        <p:nvPicPr>
          <p:cNvPr id="18" name="Image 3" descr="preencoded.png"/>
          <p:cNvPicPr>
            <a:picLocks noChangeAspect="1"/>
          </p:cNvPicPr>
          <p:nvPr/>
        </p:nvPicPr>
        <p:blipFill>
          <a:blip r:embed="rId2"/>
          <a:stretch>
            <a:fillRect/>
          </a:stretch>
        </p:blipFill>
        <p:spPr>
          <a:xfrm>
            <a:off x="7924648" y="3082900"/>
            <a:ext cx="189281" cy="189281"/>
          </a:xfrm>
          <a:prstGeom prst="rect">
            <a:avLst/>
          </a:prstGeom>
        </p:spPr>
      </p:pic>
      <p:sp>
        <p:nvSpPr>
          <p:cNvPr id="19" name="Shape 13"/>
          <p:cNvSpPr/>
          <p:nvPr/>
        </p:nvSpPr>
        <p:spPr>
          <a:xfrm>
            <a:off x="8257032" y="1600200"/>
            <a:ext cx="3383280" cy="3154680"/>
          </a:xfrm>
          <a:prstGeom prst="roundRect">
            <a:avLst>
              <a:gd name="adj" fmla="val 3478"/>
            </a:avLst>
          </a:prstGeom>
          <a:solidFill>
            <a:srgbClr val="14776B"/>
          </a:solidFill>
          <a:ln w="12700">
            <a:solidFill>
              <a:srgbClr val="14776B"/>
            </a:solidFill>
            <a:prstDash val="solid"/>
          </a:ln>
        </p:spPr>
      </p:sp>
      <p:sp>
        <p:nvSpPr>
          <p:cNvPr id="20" name="Shape 14"/>
          <p:cNvSpPr/>
          <p:nvPr/>
        </p:nvSpPr>
        <p:spPr>
          <a:xfrm>
            <a:off x="8531352" y="1874520"/>
            <a:ext cx="731520" cy="731520"/>
          </a:xfrm>
          <a:prstGeom prst="ellipse">
            <a:avLst/>
          </a:prstGeom>
          <a:solidFill>
            <a:srgbClr val="FFFFFF"/>
          </a:solidFill>
          <a:ln w="12700">
            <a:solidFill>
              <a:srgbClr val="FFFFFF"/>
            </a:solidFill>
            <a:prstDash val="solid"/>
          </a:ln>
        </p:spPr>
      </p:sp>
      <p:pic>
        <p:nvPicPr>
          <p:cNvPr id="21" name="Image 4" descr="preencoded.png"/>
          <p:cNvPicPr>
            <a:picLocks noChangeAspect="1"/>
          </p:cNvPicPr>
          <p:nvPr/>
        </p:nvPicPr>
        <p:blipFill>
          <a:blip r:embed="rId4"/>
          <a:stretch>
            <a:fillRect/>
          </a:stretch>
        </p:blipFill>
        <p:spPr>
          <a:xfrm>
            <a:off x="8728862" y="2072030"/>
            <a:ext cx="336499" cy="336499"/>
          </a:xfrm>
          <a:prstGeom prst="rect">
            <a:avLst/>
          </a:prstGeom>
        </p:spPr>
      </p:pic>
      <p:sp>
        <p:nvSpPr>
          <p:cNvPr id="22" name="Text 15"/>
          <p:cNvSpPr txBox="1"/>
          <p:nvPr/>
        </p:nvSpPr>
        <p:spPr>
          <a:xfrm>
            <a:off x="8531352" y="2788920"/>
            <a:ext cx="2834640" cy="411480"/>
          </a:xfrm>
          <a:prstGeom prst="rect">
            <a:avLst/>
          </a:prstGeom>
          <a:noFill/>
        </p:spPr>
        <p:txBody>
          <a:bodyPr wrap="square" lIns="0" tIns="0" rIns="0" bIns="0" rtlCol="0" anchor="ctr"/>
          <a:lstStyle/>
          <a:p>
            <a:pPr marL="0" indent="0">
              <a:buNone/>
            </a:pPr>
            <a:r>
              <a:rPr lang="en-US" sz="19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This work</a:t>
            </a:r>
            <a:endParaRPr lang="en-US" sz="1900" dirty="0"/>
          </a:p>
        </p:txBody>
      </p:sp>
      <p:sp>
        <p:nvSpPr>
          <p:cNvPr id="23" name="Text 16"/>
          <p:cNvSpPr txBox="1"/>
          <p:nvPr/>
        </p:nvSpPr>
        <p:spPr>
          <a:xfrm>
            <a:off x="8531352" y="3291840"/>
            <a:ext cx="2834640" cy="1371600"/>
          </a:xfrm>
          <a:prstGeom prst="rect">
            <a:avLst/>
          </a:prstGeom>
          <a:noFill/>
        </p:spPr>
        <p:txBody>
          <a:bodyPr wrap="square" lIns="0" tIns="0" rIns="0" bIns="0" rtlCol="0" anchor="t"/>
          <a:lstStyle/>
          <a:p>
            <a:pPr marL="0" indent="0">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One unified ROS 2 and Gazebo framework: detect, navigate, grasp and dispose of waste end to end.</a:t>
            </a:r>
            <a:endParaRPr lang="en-US" sz="1400" dirty="0"/>
          </a:p>
        </p:txBody>
      </p:sp>
      <p:sp>
        <p:nvSpPr>
          <p:cNvPr id="24" name="Shape 17"/>
          <p:cNvSpPr/>
          <p:nvPr/>
        </p:nvSpPr>
        <p:spPr>
          <a:xfrm>
            <a:off x="548640" y="5029200"/>
            <a:ext cx="11091672" cy="1097280"/>
          </a:xfrm>
          <a:prstGeom prst="roundRect">
            <a:avLst>
              <a:gd name="adj" fmla="val 10000"/>
            </a:avLst>
          </a:prstGeom>
          <a:solidFill>
            <a:srgbClr val="EAF4F0"/>
          </a:solidFill>
          <a:ln w="12700">
            <a:solidFill>
              <a:srgbClr val="EAF4F0"/>
            </a:solidFill>
            <a:prstDash val="solid"/>
          </a:ln>
        </p:spPr>
      </p:sp>
      <p:sp>
        <p:nvSpPr>
          <p:cNvPr id="25" name="Shape 18"/>
          <p:cNvSpPr/>
          <p:nvPr/>
        </p:nvSpPr>
        <p:spPr>
          <a:xfrm>
            <a:off x="868680" y="5303520"/>
            <a:ext cx="548640" cy="548640"/>
          </a:xfrm>
          <a:prstGeom prst="ellipse">
            <a:avLst/>
          </a:prstGeom>
          <a:solidFill>
            <a:srgbClr val="F2A93B"/>
          </a:solidFill>
          <a:ln w="12700">
            <a:solidFill>
              <a:srgbClr val="F2A93B"/>
            </a:solidFill>
            <a:prstDash val="solid"/>
          </a:ln>
        </p:spPr>
      </p:sp>
      <p:pic>
        <p:nvPicPr>
          <p:cNvPr id="26" name="Image 5" descr="preencoded.png"/>
          <p:cNvPicPr>
            <a:picLocks noChangeAspect="1"/>
          </p:cNvPicPr>
          <p:nvPr/>
        </p:nvPicPr>
        <p:blipFill>
          <a:blip r:embed="rId5"/>
          <a:stretch>
            <a:fillRect/>
          </a:stretch>
        </p:blipFill>
        <p:spPr>
          <a:xfrm>
            <a:off x="1016813" y="5451653"/>
            <a:ext cx="252374" cy="252374"/>
          </a:xfrm>
          <a:prstGeom prst="rect">
            <a:avLst/>
          </a:prstGeom>
        </p:spPr>
      </p:pic>
      <p:sp>
        <p:nvSpPr>
          <p:cNvPr id="27" name="Text 19"/>
          <p:cNvSpPr txBox="1"/>
          <p:nvPr/>
        </p:nvSpPr>
        <p:spPr>
          <a:xfrm>
            <a:off x="1691640" y="5120640"/>
            <a:ext cx="9692640" cy="914400"/>
          </a:xfrm>
          <a:prstGeom prst="rect">
            <a:avLst/>
          </a:prstGeom>
          <a:noFill/>
        </p:spPr>
        <p:txBody>
          <a:bodyPr wrap="square" lIns="0" tIns="0" rIns="0" bIns="0" rtlCol="0" anchor="ctr"/>
          <a:lstStyle/>
          <a:p>
            <a:pPr marL="0" indent="0">
              <a:buNone/>
            </a:pPr>
            <a:r>
              <a:rPr lang="en-US" sz="1600" dirty="0">
                <a:solidFill>
                  <a:srgbClr val="0B2E2B"/>
                </a:solidFill>
                <a:latin typeface="Calibri" panose="020F0502020204030204" pitchFamily="34" charset="0"/>
                <a:ea typeface="Calibri" panose="020F0502020204030204" pitchFamily="34" charset="-122"/>
                <a:cs typeface="Calibri" panose="020F0502020204030204" pitchFamily="34" charset="-120"/>
              </a:rPr>
              <a:t>A complete autonomous workflow that combines perception, navigation and manipulation remains challenging. This work integrates them in a single simulation framework.</a:t>
            </a:r>
            <a:endParaRPr lang="en-US" sz="1600" dirty="0"/>
          </a:p>
        </p:txBody>
      </p:sp>
      <p:sp>
        <p:nvSpPr>
          <p:cNvPr id="28"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Three-Layer Robot Architecture</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548640" y="1463040"/>
            <a:ext cx="8001000" cy="4846320"/>
          </a:xfrm>
          <a:prstGeom prst="roundRect">
            <a:avLst>
              <a:gd name="adj" fmla="val 2264"/>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6" name="Image 0" descr="arch.png"/>
          <p:cNvPicPr>
            <a:picLocks noChangeAspect="1"/>
          </p:cNvPicPr>
          <p:nvPr/>
        </p:nvPicPr>
        <p:blipFill>
          <a:blip r:embed="rId1"/>
          <a:stretch>
            <a:fillRect/>
          </a:stretch>
        </p:blipFill>
        <p:spPr>
          <a:xfrm>
            <a:off x="788895" y="1572768"/>
            <a:ext cx="7520490" cy="4626864"/>
          </a:xfrm>
          <a:prstGeom prst="rect">
            <a:avLst/>
          </a:prstGeom>
        </p:spPr>
      </p:pic>
      <p:sp>
        <p:nvSpPr>
          <p:cNvPr id="7" name="Shape 4"/>
          <p:cNvSpPr/>
          <p:nvPr/>
        </p:nvSpPr>
        <p:spPr>
          <a:xfrm>
            <a:off x="8823960" y="1463040"/>
            <a:ext cx="2816352" cy="1499616"/>
          </a:xfrm>
          <a:prstGeom prst="roundRect">
            <a:avLst>
              <a:gd name="adj" fmla="val 7317"/>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8" name="Shape 5"/>
          <p:cNvSpPr/>
          <p:nvPr/>
        </p:nvSpPr>
        <p:spPr>
          <a:xfrm>
            <a:off x="9006840" y="1618488"/>
            <a:ext cx="457200" cy="457200"/>
          </a:xfrm>
          <a:prstGeom prst="ellipse">
            <a:avLst/>
          </a:prstGeom>
          <a:solidFill>
            <a:srgbClr val="14776B"/>
          </a:solidFill>
          <a:ln w="12700">
            <a:solidFill>
              <a:srgbClr val="14776B"/>
            </a:solidFill>
            <a:prstDash val="solid"/>
          </a:ln>
        </p:spPr>
      </p:sp>
      <p:pic>
        <p:nvPicPr>
          <p:cNvPr id="9" name="Image 1" descr="preencoded.png"/>
          <p:cNvPicPr>
            <a:picLocks noChangeAspect="1"/>
          </p:cNvPicPr>
          <p:nvPr/>
        </p:nvPicPr>
        <p:blipFill>
          <a:blip r:embed="rId2"/>
          <a:stretch>
            <a:fillRect/>
          </a:stretch>
        </p:blipFill>
        <p:spPr>
          <a:xfrm>
            <a:off x="9130284" y="1741932"/>
            <a:ext cx="210312" cy="210312"/>
          </a:xfrm>
          <a:prstGeom prst="rect">
            <a:avLst/>
          </a:prstGeom>
        </p:spPr>
      </p:pic>
      <p:sp>
        <p:nvSpPr>
          <p:cNvPr id="10" name="Text 6"/>
          <p:cNvSpPr txBox="1"/>
          <p:nvPr/>
        </p:nvSpPr>
        <p:spPr>
          <a:xfrm>
            <a:off x="9601200" y="1618488"/>
            <a:ext cx="1965960" cy="457200"/>
          </a:xfrm>
          <a:prstGeom prst="rect">
            <a:avLst/>
          </a:prstGeom>
          <a:noFill/>
        </p:spPr>
        <p:txBody>
          <a:bodyPr wrap="square" lIns="0" tIns="0" rIns="0" bIns="0" rtlCol="0" anchor="ctr"/>
          <a:lstStyle/>
          <a:p>
            <a:pPr marL="0" indent="0">
              <a:buNone/>
            </a:pPr>
            <a:r>
              <a:rPr lang="en-US" sz="1600" b="1" dirty="0">
                <a:solidFill>
                  <a:srgbClr val="0B2E2B"/>
                </a:solidFill>
                <a:latin typeface="Cambria" panose="02040503050406030204" pitchFamily="34" charset="0"/>
                <a:ea typeface="Cambria" panose="02040503050406030204" pitchFamily="34" charset="-122"/>
                <a:cs typeface="Cambria" panose="02040503050406030204" pitchFamily="34" charset="-120"/>
              </a:rPr>
              <a:t>Perception</a:t>
            </a:r>
            <a:endParaRPr lang="en-US" sz="1600" dirty="0"/>
          </a:p>
        </p:txBody>
      </p:sp>
      <p:sp>
        <p:nvSpPr>
          <p:cNvPr id="11" name="Text 7"/>
          <p:cNvSpPr txBox="1"/>
          <p:nvPr/>
        </p:nvSpPr>
        <p:spPr>
          <a:xfrm>
            <a:off x="9006840" y="2121408"/>
            <a:ext cx="2514600" cy="822960"/>
          </a:xfrm>
          <a:prstGeom prst="rect">
            <a:avLst/>
          </a:prstGeom>
          <a:noFill/>
        </p:spPr>
        <p:txBody>
          <a:bodyPr wrap="square" lIns="0" tIns="0" rIns="0" bIns="0" rtlCol="0" anchor="t"/>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RGB camera and LiDAR collect environment data. The camera feeds trash detection; LiDAR supports obstacle awareness.</a:t>
            </a:r>
            <a:endParaRPr lang="en-US" sz="1200" dirty="0"/>
          </a:p>
        </p:txBody>
      </p:sp>
      <p:sp>
        <p:nvSpPr>
          <p:cNvPr id="12" name="Shape 8"/>
          <p:cNvSpPr/>
          <p:nvPr/>
        </p:nvSpPr>
        <p:spPr>
          <a:xfrm>
            <a:off x="8823960" y="3090672"/>
            <a:ext cx="2816352" cy="1499616"/>
          </a:xfrm>
          <a:prstGeom prst="roundRect">
            <a:avLst>
              <a:gd name="adj" fmla="val 7317"/>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13" name="Shape 9"/>
          <p:cNvSpPr/>
          <p:nvPr/>
        </p:nvSpPr>
        <p:spPr>
          <a:xfrm>
            <a:off x="9006840" y="3246120"/>
            <a:ext cx="457200" cy="457200"/>
          </a:xfrm>
          <a:prstGeom prst="ellipse">
            <a:avLst/>
          </a:prstGeom>
          <a:solidFill>
            <a:srgbClr val="14776B"/>
          </a:solidFill>
          <a:ln w="12700">
            <a:solidFill>
              <a:srgbClr val="14776B"/>
            </a:solidFill>
            <a:prstDash val="solid"/>
          </a:ln>
        </p:spPr>
      </p:sp>
      <p:pic>
        <p:nvPicPr>
          <p:cNvPr id="14" name="Image 2" descr="preencoded.png"/>
          <p:cNvPicPr>
            <a:picLocks noChangeAspect="1"/>
          </p:cNvPicPr>
          <p:nvPr/>
        </p:nvPicPr>
        <p:blipFill>
          <a:blip r:embed="rId3"/>
          <a:stretch>
            <a:fillRect/>
          </a:stretch>
        </p:blipFill>
        <p:spPr>
          <a:xfrm>
            <a:off x="9130284" y="3369564"/>
            <a:ext cx="210312" cy="210312"/>
          </a:xfrm>
          <a:prstGeom prst="rect">
            <a:avLst/>
          </a:prstGeom>
        </p:spPr>
      </p:pic>
      <p:sp>
        <p:nvSpPr>
          <p:cNvPr id="15" name="Text 10"/>
          <p:cNvSpPr txBox="1"/>
          <p:nvPr/>
        </p:nvSpPr>
        <p:spPr>
          <a:xfrm>
            <a:off x="9601200" y="3246120"/>
            <a:ext cx="1965960" cy="457200"/>
          </a:xfrm>
          <a:prstGeom prst="rect">
            <a:avLst/>
          </a:prstGeom>
          <a:noFill/>
        </p:spPr>
        <p:txBody>
          <a:bodyPr wrap="square" lIns="0" tIns="0" rIns="0" bIns="0" rtlCol="0" anchor="ctr"/>
          <a:lstStyle/>
          <a:p>
            <a:pPr marL="0" indent="0">
              <a:buNone/>
            </a:pPr>
            <a:r>
              <a:rPr lang="en-US" sz="1600" b="1" dirty="0">
                <a:solidFill>
                  <a:srgbClr val="0B2E2B"/>
                </a:solidFill>
                <a:latin typeface="Cambria" panose="02040503050406030204" pitchFamily="34" charset="0"/>
                <a:ea typeface="Cambria" panose="02040503050406030204" pitchFamily="34" charset="-122"/>
                <a:cs typeface="Cambria" panose="02040503050406030204" pitchFamily="34" charset="-120"/>
              </a:rPr>
              <a:t>Decision-making</a:t>
            </a:r>
            <a:endParaRPr lang="en-US" sz="1600" dirty="0"/>
          </a:p>
        </p:txBody>
      </p:sp>
      <p:sp>
        <p:nvSpPr>
          <p:cNvPr id="16" name="Text 11"/>
          <p:cNvSpPr txBox="1"/>
          <p:nvPr/>
        </p:nvSpPr>
        <p:spPr>
          <a:xfrm>
            <a:off x="9006840" y="3749040"/>
            <a:ext cx="2514600" cy="822960"/>
          </a:xfrm>
          <a:prstGeom prst="rect">
            <a:avLst/>
          </a:prstGeom>
          <a:noFill/>
        </p:spPr>
        <p:txBody>
          <a:bodyPr wrap="square" lIns="0" tIns="0" rIns="0" bIns="0" rtlCol="0" anchor="t"/>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ROS 2 nodes analyze sensor data, select targets, plan paths and generate control commands.</a:t>
            </a:r>
            <a:endParaRPr lang="en-US" sz="1200" dirty="0"/>
          </a:p>
        </p:txBody>
      </p:sp>
      <p:sp>
        <p:nvSpPr>
          <p:cNvPr id="17" name="Shape 12"/>
          <p:cNvSpPr/>
          <p:nvPr/>
        </p:nvSpPr>
        <p:spPr>
          <a:xfrm>
            <a:off x="8823960" y="4718304"/>
            <a:ext cx="2816352" cy="1499616"/>
          </a:xfrm>
          <a:prstGeom prst="roundRect">
            <a:avLst>
              <a:gd name="adj" fmla="val 7317"/>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18" name="Shape 13"/>
          <p:cNvSpPr/>
          <p:nvPr/>
        </p:nvSpPr>
        <p:spPr>
          <a:xfrm>
            <a:off x="9006840" y="4873752"/>
            <a:ext cx="457200" cy="457200"/>
          </a:xfrm>
          <a:prstGeom prst="ellipse">
            <a:avLst/>
          </a:prstGeom>
          <a:solidFill>
            <a:srgbClr val="14776B"/>
          </a:solidFill>
          <a:ln w="12700">
            <a:solidFill>
              <a:srgbClr val="14776B"/>
            </a:solidFill>
            <a:prstDash val="solid"/>
          </a:ln>
        </p:spPr>
      </p:sp>
      <p:pic>
        <p:nvPicPr>
          <p:cNvPr id="19" name="Image 3" descr="preencoded.png"/>
          <p:cNvPicPr>
            <a:picLocks noChangeAspect="1"/>
          </p:cNvPicPr>
          <p:nvPr/>
        </p:nvPicPr>
        <p:blipFill>
          <a:blip r:embed="rId4"/>
          <a:stretch>
            <a:fillRect/>
          </a:stretch>
        </p:blipFill>
        <p:spPr>
          <a:xfrm>
            <a:off x="9130284" y="4997196"/>
            <a:ext cx="210312" cy="210312"/>
          </a:xfrm>
          <a:prstGeom prst="rect">
            <a:avLst/>
          </a:prstGeom>
        </p:spPr>
      </p:pic>
      <p:sp>
        <p:nvSpPr>
          <p:cNvPr id="20" name="Text 14"/>
          <p:cNvSpPr txBox="1"/>
          <p:nvPr/>
        </p:nvSpPr>
        <p:spPr>
          <a:xfrm>
            <a:off x="9601200" y="4873752"/>
            <a:ext cx="1965960" cy="457200"/>
          </a:xfrm>
          <a:prstGeom prst="rect">
            <a:avLst/>
          </a:prstGeom>
          <a:noFill/>
        </p:spPr>
        <p:txBody>
          <a:bodyPr wrap="square" lIns="0" tIns="0" rIns="0" bIns="0" rtlCol="0" anchor="ctr"/>
          <a:lstStyle/>
          <a:p>
            <a:pPr marL="0" indent="0">
              <a:buNone/>
            </a:pPr>
            <a:r>
              <a:rPr lang="en-US" sz="1600" b="1" dirty="0">
                <a:solidFill>
                  <a:srgbClr val="0B2E2B"/>
                </a:solidFill>
                <a:latin typeface="Cambria" panose="02040503050406030204" pitchFamily="34" charset="0"/>
                <a:ea typeface="Cambria" panose="02040503050406030204" pitchFamily="34" charset="-122"/>
                <a:cs typeface="Cambria" panose="02040503050406030204" pitchFamily="34" charset="-120"/>
              </a:rPr>
              <a:t>Action</a:t>
            </a:r>
            <a:endParaRPr lang="en-US" sz="1600" dirty="0"/>
          </a:p>
        </p:txBody>
      </p:sp>
      <p:sp>
        <p:nvSpPr>
          <p:cNvPr id="21" name="Text 15"/>
          <p:cNvSpPr txBox="1"/>
          <p:nvPr/>
        </p:nvSpPr>
        <p:spPr>
          <a:xfrm>
            <a:off x="9006840" y="5376672"/>
            <a:ext cx="2514600" cy="822960"/>
          </a:xfrm>
          <a:prstGeom prst="rect">
            <a:avLst/>
          </a:prstGeom>
          <a:noFill/>
        </p:spPr>
        <p:txBody>
          <a:bodyPr wrap="square" lIns="0" tIns="0" rIns="0" bIns="0" rtlCol="0" anchor="t"/>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Differential-drive base and a robotic arm with gripper approach, pick and dispose of waste.</a:t>
            </a:r>
            <a:endParaRPr lang="en-US" sz="1200" dirty="0"/>
          </a:p>
        </p:txBody>
      </p:sp>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Simulation Platform and Robot Model</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548640" y="1508760"/>
            <a:ext cx="6675120" cy="3611880"/>
          </a:xfrm>
          <a:prstGeom prst="roundRect">
            <a:avLst>
              <a:gd name="adj" fmla="val 3038"/>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6" name="Image 0" descr="gazebo.png"/>
          <p:cNvPicPr>
            <a:picLocks noChangeAspect="1"/>
          </p:cNvPicPr>
          <p:nvPr/>
        </p:nvPicPr>
        <p:blipFill>
          <a:blip r:embed="rId1"/>
          <a:stretch>
            <a:fillRect/>
          </a:stretch>
        </p:blipFill>
        <p:spPr>
          <a:xfrm>
            <a:off x="667125" y="1618488"/>
            <a:ext cx="6438150" cy="3392424"/>
          </a:xfrm>
          <a:prstGeom prst="rect">
            <a:avLst/>
          </a:prstGeom>
        </p:spPr>
      </p:pic>
      <p:graphicFrame>
        <p:nvGraphicFramePr>
          <p:cNvPr id="11" name="Table 0"/>
          <p:cNvGraphicFramePr>
            <a:graphicFrameLocks noGrp="1"/>
          </p:cNvGraphicFramePr>
          <p:nvPr/>
        </p:nvGraphicFramePr>
        <p:xfrm>
          <a:off x="7498080" y="1508760"/>
          <a:ext cx="4142232" cy="3621024"/>
        </p:xfrm>
        <a:graphic>
          <a:graphicData uri="http://schemas.openxmlformats.org/drawingml/2006/table">
            <a:tbl>
              <a:tblPr/>
              <a:tblGrid>
                <a:gridCol w="1691640"/>
                <a:gridCol w="2450592"/>
              </a:tblGrid>
              <a:tr h="402336">
                <a:tc>
                  <a:txBody>
                    <a:bodyP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Component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14776B"/>
                    </a:solidFill>
                  </a:tcPr>
                </a:tc>
                <a:tc>
                  <a:txBody>
                    <a:bodyP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Description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14776B"/>
                    </a:solidFill>
                  </a:tcPr>
                </a:tc>
              </a:tr>
              <a:tr h="402336">
                <a:tc>
                  <a:txBody>
                    <a:bodyPr/>
                    <a:lstStyle/>
                    <a:p>
                      <a:pPr marL="0" indent="0">
                        <a:buNone/>
                      </a:pPr>
                      <a:r>
                        <a:rPr lang="en-US" sz="1200" b="1" dirty="0">
                          <a:solidFill>
                            <a:srgbClr val="0B2E2B"/>
                          </a:solidFill>
                          <a:latin typeface="Calibri" panose="020F0502020204030204" pitchFamily="34" charset="0"/>
                          <a:ea typeface="Calibri" panose="020F0502020204030204" pitchFamily="34" charset="-122"/>
                          <a:cs typeface="Calibri" panose="020F0502020204030204" pitchFamily="34" charset="-120"/>
                        </a:rPr>
                        <a:t>Simulation Platform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c>
                  <a:txBody>
                    <a:bodyPr/>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Gazebo Classic</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0B2E2B"/>
                          </a:solidFill>
                          <a:latin typeface="Calibri" panose="020F0502020204030204" pitchFamily="34" charset="0"/>
                          <a:ea typeface="Calibri" panose="020F0502020204030204" pitchFamily="34" charset="-122"/>
                          <a:cs typeface="Calibri" panose="020F0502020204030204" pitchFamily="34" charset="-120"/>
                        </a:rPr>
                        <a:t>Middleware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c>
                  <a:txBody>
                    <a:bodyPr/>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ROS 2 Humble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r>
              <a:tr h="402336">
                <a:tc>
                  <a:txBody>
                    <a:bodyPr/>
                    <a:lstStyle/>
                    <a:p>
                      <a:pPr marL="0" indent="0">
                        <a:buNone/>
                      </a:pPr>
                      <a:r>
                        <a:rPr lang="en-US" sz="1200" b="1" dirty="0">
                          <a:solidFill>
                            <a:srgbClr val="0B2E2B"/>
                          </a:solidFill>
                          <a:latin typeface="Calibri" panose="020F0502020204030204" pitchFamily="34" charset="0"/>
                          <a:ea typeface="Calibri" panose="020F0502020204030204" pitchFamily="34" charset="-122"/>
                          <a:cs typeface="Calibri" panose="020F0502020204030204" pitchFamily="34" charset="-120"/>
                        </a:rPr>
                        <a:t>Robot Model</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c>
                  <a:txBody>
                    <a:bodyPr/>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SDF-based Mobile Robot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0B2E2B"/>
                          </a:solidFill>
                          <a:latin typeface="Calibri" panose="020F0502020204030204" pitchFamily="34" charset="0"/>
                          <a:ea typeface="Calibri" panose="020F0502020204030204" pitchFamily="34" charset="-122"/>
                          <a:cs typeface="Calibri" panose="020F0502020204030204" pitchFamily="34" charset="-120"/>
                        </a:rPr>
                        <a:t>Vision Sensor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c>
                  <a:txBody>
                    <a:bodyPr/>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RGB Camera</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r>
              <a:tr h="402336">
                <a:tc>
                  <a:txBody>
                    <a:bodyPr/>
                    <a:lstStyle/>
                    <a:p>
                      <a:pPr marL="0" indent="0">
                        <a:buNone/>
                      </a:pPr>
                      <a:r>
                        <a:rPr lang="en-US" sz="1200" b="1" dirty="0">
                          <a:solidFill>
                            <a:srgbClr val="0B2E2B"/>
                          </a:solidFill>
                          <a:latin typeface="Calibri" panose="020F0502020204030204" pitchFamily="34" charset="0"/>
                          <a:ea typeface="Calibri" panose="020F0502020204030204" pitchFamily="34" charset="-122"/>
                          <a:cs typeface="Calibri" panose="020F0502020204030204" pitchFamily="34" charset="-120"/>
                        </a:rPr>
                        <a:t>Distance Sensor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c>
                  <a:txBody>
                    <a:bodyPr/>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LiDAR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0B2E2B"/>
                          </a:solidFill>
                          <a:latin typeface="Calibri" panose="020F0502020204030204" pitchFamily="34" charset="0"/>
                          <a:ea typeface="Calibri" panose="020F0502020204030204" pitchFamily="34" charset="-122"/>
                          <a:cs typeface="Calibri" panose="020F0502020204030204" pitchFamily="34" charset="-120"/>
                        </a:rPr>
                        <a:t>Navigation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c>
                  <a:txBody>
                    <a:bodyPr/>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Differential Drive Control</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r>
              <a:tr h="402336">
                <a:tc>
                  <a:txBody>
                    <a:bodyPr/>
                    <a:lstStyle/>
                    <a:p>
                      <a:pPr marL="0" indent="0">
                        <a:buNone/>
                      </a:pPr>
                      <a:r>
                        <a:rPr lang="en-US" sz="1200" b="1" dirty="0">
                          <a:solidFill>
                            <a:srgbClr val="0B2E2B"/>
                          </a:solidFill>
                          <a:latin typeface="Calibri" panose="020F0502020204030204" pitchFamily="34" charset="0"/>
                          <a:ea typeface="Calibri" panose="020F0502020204030204" pitchFamily="34" charset="-122"/>
                          <a:cs typeface="Calibri" panose="020F0502020204030204" pitchFamily="34" charset="-120"/>
                        </a:rPr>
                        <a:t>Manipulator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c>
                  <a:txBody>
                    <a:bodyPr/>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Robotic Arm with Gripper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0B2E2B"/>
                          </a:solidFill>
                          <a:latin typeface="Calibri" panose="020F0502020204030204" pitchFamily="34" charset="0"/>
                          <a:ea typeface="Calibri" panose="020F0502020204030204" pitchFamily="34" charset="-122"/>
                          <a:cs typeface="Calibri" panose="020F0502020204030204" pitchFamily="34" charset="-120"/>
                        </a:rPr>
                        <a:t>Control Framework</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c>
                  <a:txBody>
                    <a:bodyPr/>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ROS 2 Nodes and Topics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r>
            </a:tbl>
          </a:graphicData>
        </a:graphic>
      </p:graphicFrame>
      <p:sp>
        <p:nvSpPr>
          <p:cNvPr id="8" name="Shape 4"/>
          <p:cNvSpPr/>
          <p:nvPr/>
        </p:nvSpPr>
        <p:spPr>
          <a:xfrm>
            <a:off x="548640" y="5349240"/>
            <a:ext cx="11091672" cy="868680"/>
          </a:xfrm>
          <a:prstGeom prst="roundRect">
            <a:avLst>
              <a:gd name="adj" fmla="val 12632"/>
            </a:avLst>
          </a:prstGeom>
          <a:solidFill>
            <a:srgbClr val="EAF4F0"/>
          </a:solidFill>
          <a:ln w="12700">
            <a:solidFill>
              <a:srgbClr val="EAF4F0"/>
            </a:solidFill>
            <a:prstDash val="solid"/>
          </a:ln>
        </p:spPr>
      </p:sp>
      <p:sp>
        <p:nvSpPr>
          <p:cNvPr id="9" name="Shape 5"/>
          <p:cNvSpPr/>
          <p:nvPr/>
        </p:nvSpPr>
        <p:spPr>
          <a:xfrm>
            <a:off x="822960" y="5504688"/>
            <a:ext cx="548640" cy="548640"/>
          </a:xfrm>
          <a:prstGeom prst="ellipse">
            <a:avLst/>
          </a:prstGeom>
          <a:solidFill>
            <a:srgbClr val="14776B"/>
          </a:solidFill>
          <a:ln w="12700">
            <a:solidFill>
              <a:srgbClr val="14776B"/>
            </a:solidFill>
            <a:prstDash val="solid"/>
          </a:ln>
        </p:spPr>
      </p:sp>
      <p:pic>
        <p:nvPicPr>
          <p:cNvPr id="10" name="Image 1" descr="preencoded.png"/>
          <p:cNvPicPr>
            <a:picLocks noChangeAspect="1"/>
          </p:cNvPicPr>
          <p:nvPr/>
        </p:nvPicPr>
        <p:blipFill>
          <a:blip r:embed="rId2"/>
          <a:stretch>
            <a:fillRect/>
          </a:stretch>
        </p:blipFill>
        <p:spPr>
          <a:xfrm>
            <a:off x="971093" y="5652821"/>
            <a:ext cx="252374" cy="252374"/>
          </a:xfrm>
          <a:prstGeom prst="rect">
            <a:avLst/>
          </a:prstGeom>
        </p:spPr>
      </p:pic>
      <p:sp>
        <p:nvSpPr>
          <p:cNvPr id="7" name="Text 6"/>
          <p:cNvSpPr txBox="1"/>
          <p:nvPr/>
        </p:nvSpPr>
        <p:spPr>
          <a:xfrm>
            <a:off x="1600200" y="5394960"/>
            <a:ext cx="9784080" cy="777240"/>
          </a:xfrm>
          <a:prstGeom prst="rect">
            <a:avLst/>
          </a:prstGeom>
          <a:noFill/>
        </p:spPr>
        <p:txBody>
          <a:bodyPr wrap="square" lIns="0" tIns="0" rIns="0" bIns="0" rtlCol="0" anchor="ctr"/>
          <a:lstStyle/>
          <a:p>
            <a:pPr marL="0" indent="0">
              <a:buNone/>
            </a:pPr>
            <a:r>
              <a:rPr lang="en-US" sz="1400" dirty="0">
                <a:solidFill>
                  <a:srgbClr val="0B2E2B"/>
                </a:solidFill>
                <a:latin typeface="Calibri" panose="020F0502020204030204" pitchFamily="34" charset="0"/>
                <a:ea typeface="Calibri" panose="020F0502020204030204" pitchFamily="34" charset="-122"/>
                <a:cs typeface="Calibri" panose="020F0502020204030204" pitchFamily="34" charset="-120"/>
              </a:rPr>
              <a:t>The robot is defined in Simulation Description Format (SDF): mechanical components, joints, sensors and plugins. A differential-drive base moves the robot while the arm grasps and places waste.</a:t>
            </a:r>
            <a:endParaRPr lang="en-US" sz="1400" dirty="0"/>
          </a:p>
        </p:txBody>
      </p:sp>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METHODOLOGY</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State-Based Autonomous Control</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1371600" y="2034540"/>
            <a:ext cx="9445752" cy="0"/>
          </a:xfrm>
          <a:prstGeom prst="line">
            <a:avLst/>
          </a:prstGeom>
          <a:noFill/>
          <a:ln w="38100">
            <a:solidFill>
              <a:srgbClr val="CDE8DF"/>
            </a:solidFill>
            <a:prstDash val="solid"/>
          </a:ln>
        </p:spPr>
      </p:sp>
      <p:sp>
        <p:nvSpPr>
          <p:cNvPr id="6" name="Shape 4"/>
          <p:cNvSpPr/>
          <p:nvPr/>
        </p:nvSpPr>
        <p:spPr>
          <a:xfrm>
            <a:off x="937260" y="1600200"/>
            <a:ext cx="868680" cy="868680"/>
          </a:xfrm>
          <a:prstGeom prst="ellipse">
            <a:avLst/>
          </a:prstGeom>
          <a:solidFill>
            <a:srgbClr val="14776B"/>
          </a:solidFill>
          <a:ln w="12700">
            <a:solidFill>
              <a:srgbClr val="14776B"/>
            </a:solidFill>
            <a:prstDash val="solid"/>
          </a:ln>
        </p:spPr>
      </p:sp>
      <p:pic>
        <p:nvPicPr>
          <p:cNvPr id="7" name="Image 0" descr="preencoded.png"/>
          <p:cNvPicPr>
            <a:picLocks noChangeAspect="1"/>
          </p:cNvPicPr>
          <p:nvPr/>
        </p:nvPicPr>
        <p:blipFill>
          <a:blip r:embed="rId1"/>
          <a:stretch>
            <a:fillRect/>
          </a:stretch>
        </p:blipFill>
        <p:spPr>
          <a:xfrm>
            <a:off x="1171804" y="1834744"/>
            <a:ext cx="399593" cy="399593"/>
          </a:xfrm>
          <a:prstGeom prst="rect">
            <a:avLst/>
          </a:prstGeom>
        </p:spPr>
      </p:pic>
      <p:sp>
        <p:nvSpPr>
          <p:cNvPr id="8" name="Shape 5"/>
          <p:cNvSpPr/>
          <p:nvPr/>
        </p:nvSpPr>
        <p:spPr>
          <a:xfrm>
            <a:off x="548640" y="2697480"/>
            <a:ext cx="1645920" cy="1600200"/>
          </a:xfrm>
          <a:prstGeom prst="roundRect">
            <a:avLst>
              <a:gd name="adj" fmla="val 6857"/>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9" name="Text 6"/>
          <p:cNvSpPr txBox="1"/>
          <p:nvPr/>
        </p:nvSpPr>
        <p:spPr>
          <a:xfrm>
            <a:off x="685800" y="2816352"/>
            <a:ext cx="1371600" cy="228600"/>
          </a:xfrm>
          <a:prstGeom prst="rect">
            <a:avLst/>
          </a:prstGeom>
          <a:noFill/>
        </p:spPr>
        <p:txBody>
          <a:bodyPr wrap="square" lIns="0" tIns="0" rIns="0" bIns="0" rtlCol="0" anchor="ctr"/>
          <a:lstStyle/>
          <a:p>
            <a:pPr marL="0" indent="0" algn="ctr">
              <a:buNone/>
            </a:pPr>
            <a:r>
              <a:rPr lang="en-US" sz="1050" b="1" kern="0" spc="100" dirty="0">
                <a:solidFill>
                  <a:srgbClr val="5A6E6A"/>
                </a:solidFill>
                <a:latin typeface="Calibri" panose="020F0502020204030204" pitchFamily="34" charset="0"/>
                <a:ea typeface="Calibri" panose="020F0502020204030204" pitchFamily="34" charset="-122"/>
                <a:cs typeface="Calibri" panose="020F0502020204030204" pitchFamily="34" charset="-120"/>
              </a:rPr>
              <a:t>STATE 1</a:t>
            </a:r>
            <a:endParaRPr lang="en-US" sz="1050" dirty="0"/>
          </a:p>
        </p:txBody>
      </p:sp>
      <p:sp>
        <p:nvSpPr>
          <p:cNvPr id="10" name="Text 7"/>
          <p:cNvSpPr txBox="1"/>
          <p:nvPr/>
        </p:nvSpPr>
        <p:spPr>
          <a:xfrm>
            <a:off x="640080" y="3090672"/>
            <a:ext cx="1463040" cy="365760"/>
          </a:xfrm>
          <a:prstGeom prst="rect">
            <a:avLst/>
          </a:prstGeom>
          <a:noFill/>
        </p:spPr>
        <p:txBody>
          <a:bodyPr wrap="square" lIns="0" tIns="0" rIns="0" bIns="0" rtlCol="0" anchor="ctr"/>
          <a:lstStyle/>
          <a:p>
            <a:pPr marL="0" indent="0" algn="ctr">
              <a:buNone/>
            </a:pPr>
            <a:r>
              <a:rPr lang="en-US" sz="1700" b="1" dirty="0">
                <a:solidFill>
                  <a:srgbClr val="14776B"/>
                </a:solidFill>
                <a:latin typeface="Cambria" panose="02040503050406030204" pitchFamily="34" charset="0"/>
                <a:ea typeface="Cambria" panose="02040503050406030204" pitchFamily="34" charset="-122"/>
                <a:cs typeface="Cambria" panose="02040503050406030204" pitchFamily="34" charset="-120"/>
              </a:rPr>
              <a:t>Search</a:t>
            </a:r>
            <a:endParaRPr lang="en-US" sz="1700" dirty="0"/>
          </a:p>
        </p:txBody>
      </p:sp>
      <p:sp>
        <p:nvSpPr>
          <p:cNvPr id="11" name="Text 8"/>
          <p:cNvSpPr txBox="1"/>
          <p:nvPr/>
        </p:nvSpPr>
        <p:spPr>
          <a:xfrm>
            <a:off x="685800" y="3520440"/>
            <a:ext cx="1371600" cy="685800"/>
          </a:xfrm>
          <a:prstGeom prst="rect">
            <a:avLst/>
          </a:prstGeom>
          <a:noFill/>
        </p:spPr>
        <p:txBody>
          <a:bodyPr wrap="square" lIns="0" tIns="0" rIns="0" bIns="0" rtlCol="0" anchor="t"/>
          <a:lstStyle/>
          <a:p>
            <a:pPr marL="0" indent="0" algn="ctr">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Camera-based environment scanning</a:t>
            </a:r>
            <a:endParaRPr lang="en-US" sz="1250" dirty="0"/>
          </a:p>
        </p:txBody>
      </p:sp>
      <p:sp>
        <p:nvSpPr>
          <p:cNvPr id="12" name="Shape 9"/>
          <p:cNvSpPr/>
          <p:nvPr/>
        </p:nvSpPr>
        <p:spPr>
          <a:xfrm>
            <a:off x="2826410" y="1600200"/>
            <a:ext cx="868680" cy="868680"/>
          </a:xfrm>
          <a:prstGeom prst="ellipse">
            <a:avLst/>
          </a:prstGeom>
          <a:solidFill>
            <a:srgbClr val="14776B"/>
          </a:solidFill>
          <a:ln w="12700">
            <a:solidFill>
              <a:srgbClr val="14776B"/>
            </a:solidFill>
            <a:prstDash val="solid"/>
          </a:ln>
        </p:spPr>
      </p:sp>
      <p:pic>
        <p:nvPicPr>
          <p:cNvPr id="13" name="Image 1" descr="preencoded.png"/>
          <p:cNvPicPr>
            <a:picLocks noChangeAspect="1"/>
          </p:cNvPicPr>
          <p:nvPr/>
        </p:nvPicPr>
        <p:blipFill>
          <a:blip r:embed="rId2"/>
          <a:stretch>
            <a:fillRect/>
          </a:stretch>
        </p:blipFill>
        <p:spPr>
          <a:xfrm>
            <a:off x="3060954" y="1834744"/>
            <a:ext cx="399593" cy="399593"/>
          </a:xfrm>
          <a:prstGeom prst="rect">
            <a:avLst/>
          </a:prstGeom>
        </p:spPr>
      </p:pic>
      <p:sp>
        <p:nvSpPr>
          <p:cNvPr id="14" name="Shape 10"/>
          <p:cNvSpPr/>
          <p:nvPr/>
        </p:nvSpPr>
        <p:spPr>
          <a:xfrm>
            <a:off x="2437790" y="2697480"/>
            <a:ext cx="1645920" cy="1600200"/>
          </a:xfrm>
          <a:prstGeom prst="roundRect">
            <a:avLst>
              <a:gd name="adj" fmla="val 6857"/>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15" name="Text 11"/>
          <p:cNvSpPr txBox="1"/>
          <p:nvPr/>
        </p:nvSpPr>
        <p:spPr>
          <a:xfrm>
            <a:off x="2574950" y="2816352"/>
            <a:ext cx="1371600" cy="228600"/>
          </a:xfrm>
          <a:prstGeom prst="rect">
            <a:avLst/>
          </a:prstGeom>
          <a:noFill/>
        </p:spPr>
        <p:txBody>
          <a:bodyPr wrap="square" lIns="0" tIns="0" rIns="0" bIns="0" rtlCol="0" anchor="ctr"/>
          <a:lstStyle/>
          <a:p>
            <a:pPr marL="0" indent="0" algn="ctr">
              <a:buNone/>
            </a:pPr>
            <a:r>
              <a:rPr lang="en-US" sz="1050" b="1" kern="0" spc="100" dirty="0">
                <a:solidFill>
                  <a:srgbClr val="5A6E6A"/>
                </a:solidFill>
                <a:latin typeface="Calibri" panose="020F0502020204030204" pitchFamily="34" charset="0"/>
                <a:ea typeface="Calibri" panose="020F0502020204030204" pitchFamily="34" charset="-122"/>
                <a:cs typeface="Calibri" panose="020F0502020204030204" pitchFamily="34" charset="-120"/>
              </a:rPr>
              <a:t>STATE 2</a:t>
            </a:r>
            <a:endParaRPr lang="en-US" sz="1050" dirty="0"/>
          </a:p>
        </p:txBody>
      </p:sp>
      <p:sp>
        <p:nvSpPr>
          <p:cNvPr id="16" name="Text 12"/>
          <p:cNvSpPr txBox="1"/>
          <p:nvPr/>
        </p:nvSpPr>
        <p:spPr>
          <a:xfrm>
            <a:off x="2529230" y="3090672"/>
            <a:ext cx="1463040" cy="365760"/>
          </a:xfrm>
          <a:prstGeom prst="rect">
            <a:avLst/>
          </a:prstGeom>
          <a:noFill/>
        </p:spPr>
        <p:txBody>
          <a:bodyPr wrap="square" lIns="0" tIns="0" rIns="0" bIns="0" rtlCol="0" anchor="ctr"/>
          <a:lstStyle/>
          <a:p>
            <a:pPr marL="0" indent="0" algn="ctr">
              <a:buNone/>
            </a:pPr>
            <a:r>
              <a:rPr lang="en-US" sz="1700" b="1" dirty="0">
                <a:solidFill>
                  <a:srgbClr val="14776B"/>
                </a:solidFill>
                <a:latin typeface="Cambria" panose="02040503050406030204" pitchFamily="34" charset="0"/>
                <a:ea typeface="Cambria" panose="02040503050406030204" pitchFamily="34" charset="-122"/>
                <a:cs typeface="Cambria" panose="02040503050406030204" pitchFamily="34" charset="-120"/>
              </a:rPr>
              <a:t>Detection</a:t>
            </a:r>
            <a:endParaRPr lang="en-US" sz="1700" dirty="0"/>
          </a:p>
        </p:txBody>
      </p:sp>
      <p:sp>
        <p:nvSpPr>
          <p:cNvPr id="17" name="Text 13"/>
          <p:cNvSpPr txBox="1"/>
          <p:nvPr/>
        </p:nvSpPr>
        <p:spPr>
          <a:xfrm>
            <a:off x="2574950" y="3520440"/>
            <a:ext cx="1371600" cy="685800"/>
          </a:xfrm>
          <a:prstGeom prst="rect">
            <a:avLst/>
          </a:prstGeom>
          <a:noFill/>
        </p:spPr>
        <p:txBody>
          <a:bodyPr wrap="square" lIns="0" tIns="0" rIns="0" bIns="0" rtlCol="0" anchor="t"/>
          <a:lstStyle/>
          <a:p>
            <a:pPr marL="0" indent="0" algn="ctr">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Waste object identification</a:t>
            </a:r>
            <a:endParaRPr lang="en-US" sz="1250" dirty="0"/>
          </a:p>
        </p:txBody>
      </p:sp>
      <p:sp>
        <p:nvSpPr>
          <p:cNvPr id="18" name="Shape 14"/>
          <p:cNvSpPr/>
          <p:nvPr/>
        </p:nvSpPr>
        <p:spPr>
          <a:xfrm>
            <a:off x="4715561" y="1600200"/>
            <a:ext cx="868680" cy="868680"/>
          </a:xfrm>
          <a:prstGeom prst="ellipse">
            <a:avLst/>
          </a:prstGeom>
          <a:solidFill>
            <a:srgbClr val="14776B"/>
          </a:solidFill>
          <a:ln w="12700">
            <a:solidFill>
              <a:srgbClr val="14776B"/>
            </a:solidFill>
            <a:prstDash val="solid"/>
          </a:ln>
        </p:spPr>
      </p:sp>
      <p:pic>
        <p:nvPicPr>
          <p:cNvPr id="19" name="Image 2" descr="preencoded.png"/>
          <p:cNvPicPr>
            <a:picLocks noChangeAspect="1"/>
          </p:cNvPicPr>
          <p:nvPr/>
        </p:nvPicPr>
        <p:blipFill>
          <a:blip r:embed="rId3"/>
          <a:stretch>
            <a:fillRect/>
          </a:stretch>
        </p:blipFill>
        <p:spPr>
          <a:xfrm>
            <a:off x="4950104" y="1834744"/>
            <a:ext cx="399593" cy="399593"/>
          </a:xfrm>
          <a:prstGeom prst="rect">
            <a:avLst/>
          </a:prstGeom>
        </p:spPr>
      </p:pic>
      <p:sp>
        <p:nvSpPr>
          <p:cNvPr id="20" name="Shape 15"/>
          <p:cNvSpPr/>
          <p:nvPr/>
        </p:nvSpPr>
        <p:spPr>
          <a:xfrm>
            <a:off x="4326941" y="2697480"/>
            <a:ext cx="1645920" cy="1600200"/>
          </a:xfrm>
          <a:prstGeom prst="roundRect">
            <a:avLst>
              <a:gd name="adj" fmla="val 6857"/>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21" name="Text 16"/>
          <p:cNvSpPr txBox="1"/>
          <p:nvPr/>
        </p:nvSpPr>
        <p:spPr>
          <a:xfrm>
            <a:off x="4464101" y="2816352"/>
            <a:ext cx="1371600" cy="228600"/>
          </a:xfrm>
          <a:prstGeom prst="rect">
            <a:avLst/>
          </a:prstGeom>
          <a:noFill/>
        </p:spPr>
        <p:txBody>
          <a:bodyPr wrap="square" lIns="0" tIns="0" rIns="0" bIns="0" rtlCol="0" anchor="ctr"/>
          <a:lstStyle/>
          <a:p>
            <a:pPr marL="0" indent="0" algn="ctr">
              <a:buNone/>
            </a:pPr>
            <a:r>
              <a:rPr lang="en-US" sz="1050" b="1" kern="0" spc="100" dirty="0">
                <a:solidFill>
                  <a:srgbClr val="5A6E6A"/>
                </a:solidFill>
                <a:latin typeface="Calibri" panose="020F0502020204030204" pitchFamily="34" charset="0"/>
                <a:ea typeface="Calibri" panose="020F0502020204030204" pitchFamily="34" charset="-122"/>
                <a:cs typeface="Calibri" panose="020F0502020204030204" pitchFamily="34" charset="-120"/>
              </a:rPr>
              <a:t>STATE 3</a:t>
            </a:r>
            <a:endParaRPr lang="en-US" sz="1050" dirty="0"/>
          </a:p>
        </p:txBody>
      </p:sp>
      <p:sp>
        <p:nvSpPr>
          <p:cNvPr id="22" name="Text 17"/>
          <p:cNvSpPr txBox="1"/>
          <p:nvPr/>
        </p:nvSpPr>
        <p:spPr>
          <a:xfrm>
            <a:off x="4418381" y="3090672"/>
            <a:ext cx="1463040" cy="365760"/>
          </a:xfrm>
          <a:prstGeom prst="rect">
            <a:avLst/>
          </a:prstGeom>
          <a:noFill/>
        </p:spPr>
        <p:txBody>
          <a:bodyPr wrap="square" lIns="0" tIns="0" rIns="0" bIns="0" rtlCol="0" anchor="ctr"/>
          <a:lstStyle/>
          <a:p>
            <a:pPr marL="0" indent="0" algn="ctr">
              <a:buNone/>
            </a:pPr>
            <a:r>
              <a:rPr lang="en-US" sz="1700" b="1" dirty="0">
                <a:solidFill>
                  <a:srgbClr val="14776B"/>
                </a:solidFill>
                <a:latin typeface="Cambria" panose="02040503050406030204" pitchFamily="34" charset="0"/>
                <a:ea typeface="Cambria" panose="02040503050406030204" pitchFamily="34" charset="-122"/>
                <a:cs typeface="Cambria" panose="02040503050406030204" pitchFamily="34" charset="-120"/>
              </a:rPr>
              <a:t>Approach</a:t>
            </a:r>
            <a:endParaRPr lang="en-US" sz="1700" dirty="0"/>
          </a:p>
        </p:txBody>
      </p:sp>
      <p:sp>
        <p:nvSpPr>
          <p:cNvPr id="23" name="Text 18"/>
          <p:cNvSpPr txBox="1"/>
          <p:nvPr/>
        </p:nvSpPr>
        <p:spPr>
          <a:xfrm>
            <a:off x="4464101" y="3520440"/>
            <a:ext cx="1371600" cy="685800"/>
          </a:xfrm>
          <a:prstGeom prst="rect">
            <a:avLst/>
          </a:prstGeom>
          <a:noFill/>
        </p:spPr>
        <p:txBody>
          <a:bodyPr wrap="square" lIns="0" tIns="0" rIns="0" bIns="0" rtlCol="0" anchor="t"/>
          <a:lstStyle/>
          <a:p>
            <a:pPr marL="0" indent="0" algn="ctr">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Mobile robot navigation</a:t>
            </a:r>
            <a:endParaRPr lang="en-US" sz="1250" dirty="0"/>
          </a:p>
        </p:txBody>
      </p:sp>
      <p:sp>
        <p:nvSpPr>
          <p:cNvPr id="24" name="Shape 19"/>
          <p:cNvSpPr/>
          <p:nvPr/>
        </p:nvSpPr>
        <p:spPr>
          <a:xfrm>
            <a:off x="6604711" y="1600200"/>
            <a:ext cx="868680" cy="868680"/>
          </a:xfrm>
          <a:prstGeom prst="ellipse">
            <a:avLst/>
          </a:prstGeom>
          <a:solidFill>
            <a:srgbClr val="14776B"/>
          </a:solidFill>
          <a:ln w="12700">
            <a:solidFill>
              <a:srgbClr val="14776B"/>
            </a:solidFill>
            <a:prstDash val="solid"/>
          </a:ln>
        </p:spPr>
      </p:sp>
      <p:pic>
        <p:nvPicPr>
          <p:cNvPr id="25" name="Image 3" descr="preencoded.png"/>
          <p:cNvPicPr>
            <a:picLocks noChangeAspect="1"/>
          </p:cNvPicPr>
          <p:nvPr/>
        </p:nvPicPr>
        <p:blipFill>
          <a:blip r:embed="rId4"/>
          <a:stretch>
            <a:fillRect/>
          </a:stretch>
        </p:blipFill>
        <p:spPr>
          <a:xfrm>
            <a:off x="6839255" y="1834744"/>
            <a:ext cx="399593" cy="399593"/>
          </a:xfrm>
          <a:prstGeom prst="rect">
            <a:avLst/>
          </a:prstGeom>
        </p:spPr>
      </p:pic>
      <p:sp>
        <p:nvSpPr>
          <p:cNvPr id="26" name="Shape 20"/>
          <p:cNvSpPr/>
          <p:nvPr/>
        </p:nvSpPr>
        <p:spPr>
          <a:xfrm>
            <a:off x="6216091" y="2697480"/>
            <a:ext cx="1645920" cy="1600200"/>
          </a:xfrm>
          <a:prstGeom prst="roundRect">
            <a:avLst>
              <a:gd name="adj" fmla="val 6857"/>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27" name="Text 21"/>
          <p:cNvSpPr txBox="1"/>
          <p:nvPr/>
        </p:nvSpPr>
        <p:spPr>
          <a:xfrm>
            <a:off x="6353251" y="2816352"/>
            <a:ext cx="1371600" cy="228600"/>
          </a:xfrm>
          <a:prstGeom prst="rect">
            <a:avLst/>
          </a:prstGeom>
          <a:noFill/>
        </p:spPr>
        <p:txBody>
          <a:bodyPr wrap="square" lIns="0" tIns="0" rIns="0" bIns="0" rtlCol="0" anchor="ctr"/>
          <a:lstStyle/>
          <a:p>
            <a:pPr marL="0" indent="0" algn="ctr">
              <a:buNone/>
            </a:pPr>
            <a:r>
              <a:rPr lang="en-US" sz="1050" b="1" kern="0" spc="100" dirty="0">
                <a:solidFill>
                  <a:srgbClr val="5A6E6A"/>
                </a:solidFill>
                <a:latin typeface="Calibri" panose="020F0502020204030204" pitchFamily="34" charset="0"/>
                <a:ea typeface="Calibri" panose="020F0502020204030204" pitchFamily="34" charset="-122"/>
                <a:cs typeface="Calibri" panose="020F0502020204030204" pitchFamily="34" charset="-120"/>
              </a:rPr>
              <a:t>STATE 4</a:t>
            </a:r>
            <a:endParaRPr lang="en-US" sz="1050" dirty="0"/>
          </a:p>
        </p:txBody>
      </p:sp>
      <p:sp>
        <p:nvSpPr>
          <p:cNvPr id="28" name="Text 22"/>
          <p:cNvSpPr txBox="1"/>
          <p:nvPr/>
        </p:nvSpPr>
        <p:spPr>
          <a:xfrm>
            <a:off x="6307531" y="3090672"/>
            <a:ext cx="1463040" cy="365760"/>
          </a:xfrm>
          <a:prstGeom prst="rect">
            <a:avLst/>
          </a:prstGeom>
          <a:noFill/>
        </p:spPr>
        <p:txBody>
          <a:bodyPr wrap="square" lIns="0" tIns="0" rIns="0" bIns="0" rtlCol="0" anchor="ctr"/>
          <a:lstStyle/>
          <a:p>
            <a:pPr marL="0" indent="0" algn="ctr">
              <a:buNone/>
            </a:pPr>
            <a:r>
              <a:rPr lang="en-US" sz="1700" b="1" dirty="0">
                <a:solidFill>
                  <a:srgbClr val="14776B"/>
                </a:solidFill>
                <a:latin typeface="Cambria" panose="02040503050406030204" pitchFamily="34" charset="0"/>
                <a:ea typeface="Cambria" panose="02040503050406030204" pitchFamily="34" charset="-122"/>
                <a:cs typeface="Cambria" panose="02040503050406030204" pitchFamily="34" charset="-120"/>
              </a:rPr>
              <a:t>Pickup</a:t>
            </a:r>
            <a:endParaRPr lang="en-US" sz="1700" dirty="0"/>
          </a:p>
        </p:txBody>
      </p:sp>
      <p:sp>
        <p:nvSpPr>
          <p:cNvPr id="29" name="Text 23"/>
          <p:cNvSpPr txBox="1"/>
          <p:nvPr/>
        </p:nvSpPr>
        <p:spPr>
          <a:xfrm>
            <a:off x="6353251" y="3520440"/>
            <a:ext cx="1371600" cy="685800"/>
          </a:xfrm>
          <a:prstGeom prst="rect">
            <a:avLst/>
          </a:prstGeom>
          <a:noFill/>
        </p:spPr>
        <p:txBody>
          <a:bodyPr wrap="square" lIns="0" tIns="0" rIns="0" bIns="0" rtlCol="0" anchor="t"/>
          <a:lstStyle/>
          <a:p>
            <a:pPr marL="0" indent="0" algn="ctr">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Arm and gripper operation</a:t>
            </a:r>
            <a:endParaRPr lang="en-US" sz="1250" dirty="0"/>
          </a:p>
        </p:txBody>
      </p:sp>
      <p:sp>
        <p:nvSpPr>
          <p:cNvPr id="30" name="Shape 24"/>
          <p:cNvSpPr/>
          <p:nvPr/>
        </p:nvSpPr>
        <p:spPr>
          <a:xfrm>
            <a:off x="8493862" y="1600200"/>
            <a:ext cx="868680" cy="868680"/>
          </a:xfrm>
          <a:prstGeom prst="ellipse">
            <a:avLst/>
          </a:prstGeom>
          <a:solidFill>
            <a:srgbClr val="14776B"/>
          </a:solidFill>
          <a:ln w="12700">
            <a:solidFill>
              <a:srgbClr val="14776B"/>
            </a:solidFill>
            <a:prstDash val="solid"/>
          </a:ln>
        </p:spPr>
      </p:sp>
      <p:pic>
        <p:nvPicPr>
          <p:cNvPr id="31" name="Image 4" descr="preencoded.png"/>
          <p:cNvPicPr>
            <a:picLocks noChangeAspect="1"/>
          </p:cNvPicPr>
          <p:nvPr/>
        </p:nvPicPr>
        <p:blipFill>
          <a:blip r:embed="rId5"/>
          <a:stretch>
            <a:fillRect/>
          </a:stretch>
        </p:blipFill>
        <p:spPr>
          <a:xfrm>
            <a:off x="8728405" y="1834744"/>
            <a:ext cx="399593" cy="399593"/>
          </a:xfrm>
          <a:prstGeom prst="rect">
            <a:avLst/>
          </a:prstGeom>
        </p:spPr>
      </p:pic>
      <p:sp>
        <p:nvSpPr>
          <p:cNvPr id="32" name="Shape 25"/>
          <p:cNvSpPr/>
          <p:nvPr/>
        </p:nvSpPr>
        <p:spPr>
          <a:xfrm>
            <a:off x="8105242" y="2697480"/>
            <a:ext cx="1645920" cy="1600200"/>
          </a:xfrm>
          <a:prstGeom prst="roundRect">
            <a:avLst>
              <a:gd name="adj" fmla="val 6857"/>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33" name="Text 26"/>
          <p:cNvSpPr txBox="1"/>
          <p:nvPr/>
        </p:nvSpPr>
        <p:spPr>
          <a:xfrm>
            <a:off x="8242402" y="2816352"/>
            <a:ext cx="1371600" cy="228600"/>
          </a:xfrm>
          <a:prstGeom prst="rect">
            <a:avLst/>
          </a:prstGeom>
          <a:noFill/>
        </p:spPr>
        <p:txBody>
          <a:bodyPr wrap="square" lIns="0" tIns="0" rIns="0" bIns="0" rtlCol="0" anchor="ctr"/>
          <a:lstStyle/>
          <a:p>
            <a:pPr marL="0" indent="0" algn="ctr">
              <a:buNone/>
            </a:pPr>
            <a:r>
              <a:rPr lang="en-US" sz="1050" b="1" kern="0" spc="100" dirty="0">
                <a:solidFill>
                  <a:srgbClr val="5A6E6A"/>
                </a:solidFill>
                <a:latin typeface="Calibri" panose="020F0502020204030204" pitchFamily="34" charset="0"/>
                <a:ea typeface="Calibri" panose="020F0502020204030204" pitchFamily="34" charset="-122"/>
                <a:cs typeface="Calibri" panose="020F0502020204030204" pitchFamily="34" charset="-120"/>
              </a:rPr>
              <a:t>STATE 5</a:t>
            </a:r>
            <a:endParaRPr lang="en-US" sz="1050" dirty="0"/>
          </a:p>
        </p:txBody>
      </p:sp>
      <p:sp>
        <p:nvSpPr>
          <p:cNvPr id="34" name="Text 27"/>
          <p:cNvSpPr txBox="1"/>
          <p:nvPr/>
        </p:nvSpPr>
        <p:spPr>
          <a:xfrm>
            <a:off x="8196682" y="3090672"/>
            <a:ext cx="1463040" cy="365760"/>
          </a:xfrm>
          <a:prstGeom prst="rect">
            <a:avLst/>
          </a:prstGeom>
          <a:noFill/>
        </p:spPr>
        <p:txBody>
          <a:bodyPr wrap="square" lIns="0" tIns="0" rIns="0" bIns="0" rtlCol="0" anchor="ctr"/>
          <a:lstStyle/>
          <a:p>
            <a:pPr marL="0" indent="0" algn="ctr">
              <a:buNone/>
            </a:pPr>
            <a:r>
              <a:rPr lang="en-US" sz="1700" b="1" dirty="0">
                <a:solidFill>
                  <a:srgbClr val="14776B"/>
                </a:solidFill>
                <a:latin typeface="Cambria" panose="02040503050406030204" pitchFamily="34" charset="0"/>
                <a:ea typeface="Cambria" panose="02040503050406030204" pitchFamily="34" charset="-122"/>
                <a:cs typeface="Cambria" panose="02040503050406030204" pitchFamily="34" charset="-120"/>
              </a:rPr>
              <a:t>Transfer</a:t>
            </a:r>
            <a:endParaRPr lang="en-US" sz="1700" dirty="0"/>
          </a:p>
        </p:txBody>
      </p:sp>
      <p:sp>
        <p:nvSpPr>
          <p:cNvPr id="35" name="Text 28"/>
          <p:cNvSpPr txBox="1"/>
          <p:nvPr/>
        </p:nvSpPr>
        <p:spPr>
          <a:xfrm>
            <a:off x="8242402" y="3520440"/>
            <a:ext cx="1371600" cy="685800"/>
          </a:xfrm>
          <a:prstGeom prst="rect">
            <a:avLst/>
          </a:prstGeom>
          <a:noFill/>
        </p:spPr>
        <p:txBody>
          <a:bodyPr wrap="square" lIns="0" tIns="0" rIns="0" bIns="0" rtlCol="0" anchor="t"/>
          <a:lstStyle/>
          <a:p>
            <a:pPr marL="0" indent="0" algn="ctr">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Move waste to container</a:t>
            </a:r>
            <a:endParaRPr lang="en-US" sz="1250" dirty="0"/>
          </a:p>
        </p:txBody>
      </p:sp>
      <p:sp>
        <p:nvSpPr>
          <p:cNvPr id="36" name="Shape 29"/>
          <p:cNvSpPr/>
          <p:nvPr/>
        </p:nvSpPr>
        <p:spPr>
          <a:xfrm>
            <a:off x="10383012" y="1600200"/>
            <a:ext cx="868680" cy="868680"/>
          </a:xfrm>
          <a:prstGeom prst="ellipse">
            <a:avLst/>
          </a:prstGeom>
          <a:solidFill>
            <a:srgbClr val="F2A93B"/>
          </a:solidFill>
          <a:ln w="12700">
            <a:solidFill>
              <a:srgbClr val="F2A93B"/>
            </a:solidFill>
            <a:prstDash val="solid"/>
          </a:ln>
        </p:spPr>
      </p:sp>
      <p:pic>
        <p:nvPicPr>
          <p:cNvPr id="37" name="Image 5" descr="preencoded.png"/>
          <p:cNvPicPr>
            <a:picLocks noChangeAspect="1"/>
          </p:cNvPicPr>
          <p:nvPr/>
        </p:nvPicPr>
        <p:blipFill>
          <a:blip r:embed="rId6"/>
          <a:stretch>
            <a:fillRect/>
          </a:stretch>
        </p:blipFill>
        <p:spPr>
          <a:xfrm>
            <a:off x="10617556" y="1834744"/>
            <a:ext cx="399593" cy="399593"/>
          </a:xfrm>
          <a:prstGeom prst="rect">
            <a:avLst/>
          </a:prstGeom>
        </p:spPr>
      </p:pic>
      <p:sp>
        <p:nvSpPr>
          <p:cNvPr id="38" name="Shape 30"/>
          <p:cNvSpPr/>
          <p:nvPr/>
        </p:nvSpPr>
        <p:spPr>
          <a:xfrm>
            <a:off x="9994392" y="2697480"/>
            <a:ext cx="1645920" cy="1600200"/>
          </a:xfrm>
          <a:prstGeom prst="roundRect">
            <a:avLst>
              <a:gd name="adj" fmla="val 6857"/>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39" name="Text 31"/>
          <p:cNvSpPr txBox="1"/>
          <p:nvPr/>
        </p:nvSpPr>
        <p:spPr>
          <a:xfrm>
            <a:off x="10131552" y="2816352"/>
            <a:ext cx="1371600" cy="228600"/>
          </a:xfrm>
          <a:prstGeom prst="rect">
            <a:avLst/>
          </a:prstGeom>
          <a:noFill/>
        </p:spPr>
        <p:txBody>
          <a:bodyPr wrap="square" lIns="0" tIns="0" rIns="0" bIns="0" rtlCol="0" anchor="ctr"/>
          <a:lstStyle/>
          <a:p>
            <a:pPr marL="0" indent="0" algn="ctr">
              <a:buNone/>
            </a:pPr>
            <a:r>
              <a:rPr lang="en-US" sz="1050" b="1" kern="0" spc="100" dirty="0">
                <a:solidFill>
                  <a:srgbClr val="5A6E6A"/>
                </a:solidFill>
                <a:latin typeface="Calibri" panose="020F0502020204030204" pitchFamily="34" charset="0"/>
                <a:ea typeface="Calibri" panose="020F0502020204030204" pitchFamily="34" charset="-122"/>
                <a:cs typeface="Calibri" panose="020F0502020204030204" pitchFamily="34" charset="-120"/>
              </a:rPr>
              <a:t>STATE 6</a:t>
            </a:r>
            <a:endParaRPr lang="en-US" sz="1050" dirty="0"/>
          </a:p>
        </p:txBody>
      </p:sp>
      <p:sp>
        <p:nvSpPr>
          <p:cNvPr id="40" name="Text 32"/>
          <p:cNvSpPr txBox="1"/>
          <p:nvPr/>
        </p:nvSpPr>
        <p:spPr>
          <a:xfrm>
            <a:off x="10085832" y="3090672"/>
            <a:ext cx="1463040" cy="365760"/>
          </a:xfrm>
          <a:prstGeom prst="rect">
            <a:avLst/>
          </a:prstGeom>
          <a:noFill/>
        </p:spPr>
        <p:txBody>
          <a:bodyPr wrap="square" lIns="0" tIns="0" rIns="0" bIns="0" rtlCol="0" anchor="ctr"/>
          <a:lstStyle/>
          <a:p>
            <a:pPr marL="0" indent="0" algn="ctr">
              <a:buNone/>
            </a:pPr>
            <a:r>
              <a:rPr lang="en-US" sz="1700" b="1" dirty="0">
                <a:solidFill>
                  <a:srgbClr val="14776B"/>
                </a:solidFill>
                <a:latin typeface="Cambria" panose="02040503050406030204" pitchFamily="34" charset="0"/>
                <a:ea typeface="Cambria" panose="02040503050406030204" pitchFamily="34" charset="-122"/>
                <a:cs typeface="Cambria" panose="02040503050406030204" pitchFamily="34" charset="-120"/>
              </a:rPr>
              <a:t>Complete</a:t>
            </a:r>
            <a:endParaRPr lang="en-US" sz="1700" dirty="0"/>
          </a:p>
        </p:txBody>
      </p:sp>
      <p:sp>
        <p:nvSpPr>
          <p:cNvPr id="41" name="Text 33"/>
          <p:cNvSpPr txBox="1"/>
          <p:nvPr/>
        </p:nvSpPr>
        <p:spPr>
          <a:xfrm>
            <a:off x="10131552" y="3520440"/>
            <a:ext cx="1371600" cy="685800"/>
          </a:xfrm>
          <a:prstGeom prst="rect">
            <a:avLst/>
          </a:prstGeom>
          <a:noFill/>
        </p:spPr>
        <p:txBody>
          <a:bodyPr wrap="square" lIns="0" tIns="0" rIns="0" bIns="0" rtlCol="0" anchor="t"/>
          <a:lstStyle/>
          <a:p>
            <a:pPr marL="0" indent="0" algn="ctr">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Resume searching</a:t>
            </a:r>
            <a:endParaRPr lang="en-US" sz="1250" dirty="0"/>
          </a:p>
        </p:txBody>
      </p:sp>
      <p:sp>
        <p:nvSpPr>
          <p:cNvPr id="42" name="Shape 34"/>
          <p:cNvSpPr/>
          <p:nvPr/>
        </p:nvSpPr>
        <p:spPr>
          <a:xfrm>
            <a:off x="548640" y="4663440"/>
            <a:ext cx="11091672" cy="1508760"/>
          </a:xfrm>
          <a:prstGeom prst="roundRect">
            <a:avLst>
              <a:gd name="adj" fmla="val 7273"/>
            </a:avLst>
          </a:prstGeom>
          <a:solidFill>
            <a:srgbClr val="0B2E2B"/>
          </a:solidFill>
          <a:ln w="12700">
            <a:solidFill>
              <a:srgbClr val="0B2E2B"/>
            </a:solidFill>
            <a:prstDash val="solid"/>
          </a:ln>
        </p:spPr>
      </p:sp>
      <p:sp>
        <p:nvSpPr>
          <p:cNvPr id="43" name="Text 35"/>
          <p:cNvSpPr txBox="1"/>
          <p:nvPr/>
        </p:nvSpPr>
        <p:spPr>
          <a:xfrm>
            <a:off x="914400" y="4828032"/>
            <a:ext cx="4572000" cy="274320"/>
          </a:xfrm>
          <a:prstGeom prst="rect">
            <a:avLst/>
          </a:prstGeom>
          <a:noFill/>
        </p:spPr>
        <p:txBody>
          <a:bodyPr wrap="square" lIns="0" tIns="0" rIns="0" bIns="0" rtlCol="0" anchor="ctr"/>
          <a:lstStyle/>
          <a:p>
            <a:pPr marL="0" indent="0">
              <a:buNone/>
            </a:pPr>
            <a:r>
              <a:rPr lang="en-US" sz="1200" b="1" kern="0" spc="300" dirty="0">
                <a:solidFill>
                  <a:srgbClr val="F2A93B"/>
                </a:solidFill>
                <a:latin typeface="Calibri" panose="020F0502020204030204" pitchFamily="34" charset="0"/>
                <a:ea typeface="Calibri" panose="020F0502020204030204" pitchFamily="34" charset="-122"/>
                <a:cs typeface="Calibri" panose="020F0502020204030204" pitchFamily="34" charset="-120"/>
              </a:rPr>
              <a:t>GRASPING SEQUENCE</a:t>
            </a:r>
            <a:endParaRPr lang="en-US" sz="1200" dirty="0"/>
          </a:p>
        </p:txBody>
      </p:sp>
      <p:sp>
        <p:nvSpPr>
          <p:cNvPr id="44" name="Shape 36"/>
          <p:cNvSpPr/>
          <p:nvPr/>
        </p:nvSpPr>
        <p:spPr>
          <a:xfrm>
            <a:off x="914400" y="5349240"/>
            <a:ext cx="1737360" cy="548640"/>
          </a:xfrm>
          <a:prstGeom prst="roundRect">
            <a:avLst>
              <a:gd name="adj" fmla="val 16667"/>
            </a:avLst>
          </a:prstGeom>
          <a:solidFill>
            <a:srgbClr val="14776B"/>
          </a:solidFill>
          <a:ln w="12700">
            <a:solidFill>
              <a:srgbClr val="14776B"/>
            </a:solidFill>
            <a:prstDash val="solid"/>
          </a:ln>
        </p:spPr>
      </p:sp>
      <p:sp>
        <p:nvSpPr>
          <p:cNvPr id="45" name="Text 37"/>
          <p:cNvSpPr txBox="1"/>
          <p:nvPr/>
        </p:nvSpPr>
        <p:spPr>
          <a:xfrm>
            <a:off x="914400" y="5349240"/>
            <a:ext cx="1737360" cy="54864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Stop mobile base</a:t>
            </a:r>
            <a:endParaRPr lang="en-US" sz="1250" dirty="0"/>
          </a:p>
        </p:txBody>
      </p:sp>
      <p:sp>
        <p:nvSpPr>
          <p:cNvPr id="46" name="Text 38"/>
          <p:cNvSpPr txBox="1"/>
          <p:nvPr/>
        </p:nvSpPr>
        <p:spPr>
          <a:xfrm>
            <a:off x="2651760" y="5349240"/>
            <a:ext cx="274320" cy="548640"/>
          </a:xfrm>
          <a:prstGeom prst="rect">
            <a:avLst/>
          </a:prstGeom>
          <a:noFill/>
        </p:spPr>
        <p:txBody>
          <a:bodyPr wrap="square" lIns="0" tIns="0" rIns="0" bIns="0" rtlCol="0" anchor="ctr"/>
          <a:lstStyle/>
          <a:p>
            <a:pPr marL="0" indent="0" algn="ctr">
              <a:buNone/>
            </a:pPr>
            <a:r>
              <a:rPr lang="en-US" sz="1600" b="1" dirty="0">
                <a:solidFill>
                  <a:srgbClr val="F2A93B"/>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47" name="Shape 39"/>
          <p:cNvSpPr/>
          <p:nvPr/>
        </p:nvSpPr>
        <p:spPr>
          <a:xfrm>
            <a:off x="2926080" y="5349240"/>
            <a:ext cx="1737360" cy="548640"/>
          </a:xfrm>
          <a:prstGeom prst="roundRect">
            <a:avLst>
              <a:gd name="adj" fmla="val 16667"/>
            </a:avLst>
          </a:prstGeom>
          <a:solidFill>
            <a:srgbClr val="14776B"/>
          </a:solidFill>
          <a:ln w="12700">
            <a:solidFill>
              <a:srgbClr val="14776B"/>
            </a:solidFill>
            <a:prstDash val="solid"/>
          </a:ln>
        </p:spPr>
      </p:sp>
      <p:sp>
        <p:nvSpPr>
          <p:cNvPr id="48" name="Text 40"/>
          <p:cNvSpPr txBox="1"/>
          <p:nvPr/>
        </p:nvSpPr>
        <p:spPr>
          <a:xfrm>
            <a:off x="2926080" y="5349240"/>
            <a:ext cx="1737360" cy="54864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Lower arm</a:t>
            </a:r>
            <a:endParaRPr lang="en-US" sz="1250" dirty="0"/>
          </a:p>
        </p:txBody>
      </p:sp>
      <p:sp>
        <p:nvSpPr>
          <p:cNvPr id="49" name="Text 41"/>
          <p:cNvSpPr txBox="1"/>
          <p:nvPr/>
        </p:nvSpPr>
        <p:spPr>
          <a:xfrm>
            <a:off x="4663440" y="5349240"/>
            <a:ext cx="274320" cy="548640"/>
          </a:xfrm>
          <a:prstGeom prst="rect">
            <a:avLst/>
          </a:prstGeom>
          <a:noFill/>
        </p:spPr>
        <p:txBody>
          <a:bodyPr wrap="square" lIns="0" tIns="0" rIns="0" bIns="0" rtlCol="0" anchor="ctr"/>
          <a:lstStyle/>
          <a:p>
            <a:pPr marL="0" indent="0" algn="ctr">
              <a:buNone/>
            </a:pPr>
            <a:r>
              <a:rPr lang="en-US" sz="1600" b="1" dirty="0">
                <a:solidFill>
                  <a:srgbClr val="F2A93B"/>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50" name="Shape 42"/>
          <p:cNvSpPr/>
          <p:nvPr/>
        </p:nvSpPr>
        <p:spPr>
          <a:xfrm>
            <a:off x="4937760" y="5349240"/>
            <a:ext cx="1737360" cy="548640"/>
          </a:xfrm>
          <a:prstGeom prst="roundRect">
            <a:avLst>
              <a:gd name="adj" fmla="val 16667"/>
            </a:avLst>
          </a:prstGeom>
          <a:solidFill>
            <a:srgbClr val="14776B"/>
          </a:solidFill>
          <a:ln w="12700">
            <a:solidFill>
              <a:srgbClr val="14776B"/>
            </a:solidFill>
            <a:prstDash val="solid"/>
          </a:ln>
        </p:spPr>
      </p:sp>
      <p:sp>
        <p:nvSpPr>
          <p:cNvPr id="51" name="Text 43"/>
          <p:cNvSpPr txBox="1"/>
          <p:nvPr/>
        </p:nvSpPr>
        <p:spPr>
          <a:xfrm>
            <a:off x="4937760" y="5349240"/>
            <a:ext cx="1737360" cy="54864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Open gripper</a:t>
            </a:r>
            <a:endParaRPr lang="en-US" sz="1250" dirty="0"/>
          </a:p>
        </p:txBody>
      </p:sp>
      <p:sp>
        <p:nvSpPr>
          <p:cNvPr id="52" name="Text 44"/>
          <p:cNvSpPr txBox="1"/>
          <p:nvPr/>
        </p:nvSpPr>
        <p:spPr>
          <a:xfrm>
            <a:off x="6675120" y="5349240"/>
            <a:ext cx="274320" cy="548640"/>
          </a:xfrm>
          <a:prstGeom prst="rect">
            <a:avLst/>
          </a:prstGeom>
          <a:noFill/>
        </p:spPr>
        <p:txBody>
          <a:bodyPr wrap="square" lIns="0" tIns="0" rIns="0" bIns="0" rtlCol="0" anchor="ctr"/>
          <a:lstStyle/>
          <a:p>
            <a:pPr marL="0" indent="0" algn="ctr">
              <a:buNone/>
            </a:pPr>
            <a:r>
              <a:rPr lang="en-US" sz="1600" b="1" dirty="0">
                <a:solidFill>
                  <a:srgbClr val="F2A93B"/>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53" name="Shape 45"/>
          <p:cNvSpPr/>
          <p:nvPr/>
        </p:nvSpPr>
        <p:spPr>
          <a:xfrm>
            <a:off x="6949440" y="5349240"/>
            <a:ext cx="1737360" cy="548640"/>
          </a:xfrm>
          <a:prstGeom prst="roundRect">
            <a:avLst>
              <a:gd name="adj" fmla="val 16667"/>
            </a:avLst>
          </a:prstGeom>
          <a:solidFill>
            <a:srgbClr val="14776B"/>
          </a:solidFill>
          <a:ln w="12700">
            <a:solidFill>
              <a:srgbClr val="14776B"/>
            </a:solidFill>
            <a:prstDash val="solid"/>
          </a:ln>
        </p:spPr>
      </p:sp>
      <p:sp>
        <p:nvSpPr>
          <p:cNvPr id="54" name="Text 46"/>
          <p:cNvSpPr txBox="1"/>
          <p:nvPr/>
        </p:nvSpPr>
        <p:spPr>
          <a:xfrm>
            <a:off x="6949440" y="5349240"/>
            <a:ext cx="1737360" cy="54864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Grasp waste object</a:t>
            </a:r>
            <a:endParaRPr lang="en-US" sz="1250" dirty="0"/>
          </a:p>
        </p:txBody>
      </p:sp>
      <p:sp>
        <p:nvSpPr>
          <p:cNvPr id="55" name="Text 47"/>
          <p:cNvSpPr txBox="1"/>
          <p:nvPr/>
        </p:nvSpPr>
        <p:spPr>
          <a:xfrm>
            <a:off x="8686800" y="5349240"/>
            <a:ext cx="274320" cy="548640"/>
          </a:xfrm>
          <a:prstGeom prst="rect">
            <a:avLst/>
          </a:prstGeom>
          <a:noFill/>
        </p:spPr>
        <p:txBody>
          <a:bodyPr wrap="square" lIns="0" tIns="0" rIns="0" bIns="0" rtlCol="0" anchor="ctr"/>
          <a:lstStyle/>
          <a:p>
            <a:pPr marL="0" indent="0" algn="ctr">
              <a:buNone/>
            </a:pPr>
            <a:r>
              <a:rPr lang="en-US" sz="1600" b="1" dirty="0">
                <a:solidFill>
                  <a:srgbClr val="F2A93B"/>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56" name="Shape 48"/>
          <p:cNvSpPr/>
          <p:nvPr/>
        </p:nvSpPr>
        <p:spPr>
          <a:xfrm>
            <a:off x="8961120" y="5349240"/>
            <a:ext cx="1737360" cy="548640"/>
          </a:xfrm>
          <a:prstGeom prst="roundRect">
            <a:avLst>
              <a:gd name="adj" fmla="val 16667"/>
            </a:avLst>
          </a:prstGeom>
          <a:solidFill>
            <a:srgbClr val="14776B"/>
          </a:solidFill>
          <a:ln w="12700">
            <a:solidFill>
              <a:srgbClr val="14776B"/>
            </a:solidFill>
            <a:prstDash val="solid"/>
          </a:ln>
        </p:spPr>
      </p:sp>
      <p:sp>
        <p:nvSpPr>
          <p:cNvPr id="57" name="Text 49"/>
          <p:cNvSpPr txBox="1"/>
          <p:nvPr/>
        </p:nvSpPr>
        <p:spPr>
          <a:xfrm>
            <a:off x="8961120" y="5349240"/>
            <a:ext cx="1737360" cy="54864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Transfer to container</a:t>
            </a:r>
            <a:endParaRPr lang="en-US" sz="1250" dirty="0"/>
          </a:p>
        </p:txBody>
      </p:sp>
      <p:sp>
        <p:nvSpPr>
          <p:cNvPr id="58"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METHODOLOGY</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End-to-End Collection Workflow</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548640" y="1417320"/>
            <a:ext cx="5257800" cy="4937760"/>
          </a:xfrm>
          <a:prstGeom prst="roundRect">
            <a:avLst>
              <a:gd name="adj" fmla="val 2222"/>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6" name="Image 0" descr="workflow.png"/>
          <p:cNvPicPr>
            <a:picLocks noChangeAspect="1"/>
          </p:cNvPicPr>
          <p:nvPr/>
        </p:nvPicPr>
        <p:blipFill>
          <a:blip r:embed="rId1"/>
          <a:stretch>
            <a:fillRect/>
          </a:stretch>
        </p:blipFill>
        <p:spPr>
          <a:xfrm>
            <a:off x="733141" y="1527048"/>
            <a:ext cx="4888797" cy="4718304"/>
          </a:xfrm>
          <a:prstGeom prst="rect">
            <a:avLst/>
          </a:prstGeom>
        </p:spPr>
      </p:pic>
      <p:sp>
        <p:nvSpPr>
          <p:cNvPr id="7" name="Shape 4"/>
          <p:cNvSpPr/>
          <p:nvPr/>
        </p:nvSpPr>
        <p:spPr>
          <a:xfrm>
            <a:off x="6172200" y="1536192"/>
            <a:ext cx="548640" cy="548640"/>
          </a:xfrm>
          <a:prstGeom prst="ellipse">
            <a:avLst/>
          </a:prstGeom>
          <a:solidFill>
            <a:srgbClr val="14776B"/>
          </a:solidFill>
          <a:ln w="12700">
            <a:solidFill>
              <a:srgbClr val="14776B"/>
            </a:solidFill>
            <a:prstDash val="solid"/>
          </a:ln>
        </p:spPr>
      </p:sp>
      <p:sp>
        <p:nvSpPr>
          <p:cNvPr id="8" name="Text 5"/>
          <p:cNvSpPr txBox="1"/>
          <p:nvPr/>
        </p:nvSpPr>
        <p:spPr>
          <a:xfrm>
            <a:off x="6172200" y="1536192"/>
            <a:ext cx="54864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9" name="Text 6"/>
          <p:cNvSpPr txBox="1"/>
          <p:nvPr/>
        </p:nvSpPr>
        <p:spPr>
          <a:xfrm>
            <a:off x="6949440" y="1463040"/>
            <a:ext cx="4663440" cy="320040"/>
          </a:xfrm>
          <a:prstGeom prst="rect">
            <a:avLst/>
          </a:prstGeom>
          <a:noFill/>
        </p:spPr>
        <p:txBody>
          <a:bodyPr wrap="square" lIns="0" tIns="0" rIns="0" bIns="0" rtlCol="0" anchor="ctr"/>
          <a:lstStyle/>
          <a:p>
            <a:pPr marL="0" indent="0">
              <a:buNone/>
            </a:pPr>
            <a:r>
              <a:rPr lang="en-US" sz="1700" b="1" dirty="0">
                <a:solidFill>
                  <a:srgbClr val="0B2E2B"/>
                </a:solidFill>
                <a:latin typeface="Cambria" panose="02040503050406030204" pitchFamily="34" charset="0"/>
                <a:ea typeface="Cambria" panose="02040503050406030204" pitchFamily="34" charset="-122"/>
                <a:cs typeface="Cambria" panose="02040503050406030204" pitchFamily="34" charset="-120"/>
              </a:rPr>
              <a:t>Initialize</a:t>
            </a:r>
            <a:endParaRPr lang="en-US" sz="1700" dirty="0"/>
          </a:p>
        </p:txBody>
      </p:sp>
      <p:sp>
        <p:nvSpPr>
          <p:cNvPr id="10" name="Text 7"/>
          <p:cNvSpPr txBox="1"/>
          <p:nvPr/>
        </p:nvSpPr>
        <p:spPr>
          <a:xfrm>
            <a:off x="6949440" y="1810512"/>
            <a:ext cx="4663440" cy="566928"/>
          </a:xfrm>
          <a:prstGeom prst="rect">
            <a:avLst/>
          </a:prstGeom>
          <a:noFill/>
        </p:spPr>
        <p:txBody>
          <a:bodyPr wrap="square" lIns="0" tIns="0" rIns="0" bIns="0" rtlCol="0" anchor="t"/>
          <a:lstStyle/>
          <a:p>
            <a:pPr marL="0" indent="0">
              <a:buNone/>
            </a:pPr>
            <a:r>
              <a:rPr lang="en-US" sz="1300" dirty="0">
                <a:solidFill>
                  <a:srgbClr val="1E2B2A"/>
                </a:solidFill>
                <a:latin typeface="Calibri" panose="020F0502020204030204" pitchFamily="34" charset="0"/>
                <a:ea typeface="Calibri" panose="020F0502020204030204" pitchFamily="34" charset="-122"/>
                <a:cs typeface="Calibri" panose="020F0502020204030204" pitchFamily="34" charset="-120"/>
              </a:rPr>
              <a:t>Start ROS 2 nodes for camera, LiDAR, navigation and arm control.</a:t>
            </a:r>
            <a:endParaRPr lang="en-US" sz="1300" dirty="0"/>
          </a:p>
        </p:txBody>
      </p:sp>
      <p:sp>
        <p:nvSpPr>
          <p:cNvPr id="11" name="Shape 8"/>
          <p:cNvSpPr/>
          <p:nvPr/>
        </p:nvSpPr>
        <p:spPr>
          <a:xfrm>
            <a:off x="6172200" y="2523744"/>
            <a:ext cx="548640" cy="548640"/>
          </a:xfrm>
          <a:prstGeom prst="ellipse">
            <a:avLst/>
          </a:prstGeom>
          <a:solidFill>
            <a:srgbClr val="14776B"/>
          </a:solidFill>
          <a:ln w="12700">
            <a:solidFill>
              <a:srgbClr val="14776B"/>
            </a:solidFill>
            <a:prstDash val="solid"/>
          </a:ln>
        </p:spPr>
      </p:sp>
      <p:sp>
        <p:nvSpPr>
          <p:cNvPr id="12" name="Text 9"/>
          <p:cNvSpPr txBox="1"/>
          <p:nvPr/>
        </p:nvSpPr>
        <p:spPr>
          <a:xfrm>
            <a:off x="6172200" y="2523744"/>
            <a:ext cx="54864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3" name="Text 10"/>
          <p:cNvSpPr txBox="1"/>
          <p:nvPr/>
        </p:nvSpPr>
        <p:spPr>
          <a:xfrm>
            <a:off x="6949440" y="2450592"/>
            <a:ext cx="4663440" cy="320040"/>
          </a:xfrm>
          <a:prstGeom prst="rect">
            <a:avLst/>
          </a:prstGeom>
          <a:noFill/>
        </p:spPr>
        <p:txBody>
          <a:bodyPr wrap="square" lIns="0" tIns="0" rIns="0" bIns="0" rtlCol="0" anchor="ctr"/>
          <a:lstStyle/>
          <a:p>
            <a:pPr marL="0" indent="0">
              <a:buNone/>
            </a:pPr>
            <a:r>
              <a:rPr lang="en-US" sz="1700" b="1" dirty="0">
                <a:solidFill>
                  <a:srgbClr val="0B2E2B"/>
                </a:solidFill>
                <a:latin typeface="Cambria" panose="02040503050406030204" pitchFamily="34" charset="0"/>
                <a:ea typeface="Cambria" panose="02040503050406030204" pitchFamily="34" charset="-122"/>
                <a:cs typeface="Cambria" panose="02040503050406030204" pitchFamily="34" charset="-120"/>
              </a:rPr>
              <a:t>Sense and detect</a:t>
            </a:r>
            <a:endParaRPr lang="en-US" sz="1700" dirty="0"/>
          </a:p>
        </p:txBody>
      </p:sp>
      <p:sp>
        <p:nvSpPr>
          <p:cNvPr id="14" name="Text 11"/>
          <p:cNvSpPr txBox="1"/>
          <p:nvPr/>
        </p:nvSpPr>
        <p:spPr>
          <a:xfrm>
            <a:off x="6949440" y="2798064"/>
            <a:ext cx="4663440" cy="566928"/>
          </a:xfrm>
          <a:prstGeom prst="rect">
            <a:avLst/>
          </a:prstGeom>
          <a:noFill/>
        </p:spPr>
        <p:txBody>
          <a:bodyPr wrap="square" lIns="0" tIns="0" rIns="0" bIns="0" rtlCol="0" anchor="t"/>
          <a:lstStyle/>
          <a:p>
            <a:pPr marL="0" indent="0">
              <a:buNone/>
            </a:pPr>
            <a:r>
              <a:rPr lang="en-US" sz="1300" dirty="0">
                <a:solidFill>
                  <a:srgbClr val="1E2B2A"/>
                </a:solidFill>
                <a:latin typeface="Calibri" panose="020F0502020204030204" pitchFamily="34" charset="0"/>
                <a:ea typeface="Calibri" panose="020F0502020204030204" pitchFamily="34" charset="-122"/>
                <a:cs typeface="Calibri" panose="020F0502020204030204" pitchFamily="34" charset="-120"/>
              </a:rPr>
              <a:t>Capture camera image and LiDAR scan, then identify trash type and position.</a:t>
            </a:r>
            <a:endParaRPr lang="en-US" sz="1300" dirty="0"/>
          </a:p>
        </p:txBody>
      </p:sp>
      <p:sp>
        <p:nvSpPr>
          <p:cNvPr id="15" name="Shape 12"/>
          <p:cNvSpPr/>
          <p:nvPr/>
        </p:nvSpPr>
        <p:spPr>
          <a:xfrm>
            <a:off x="6172200" y="3511296"/>
            <a:ext cx="548640" cy="548640"/>
          </a:xfrm>
          <a:prstGeom prst="ellipse">
            <a:avLst/>
          </a:prstGeom>
          <a:solidFill>
            <a:srgbClr val="14776B"/>
          </a:solidFill>
          <a:ln w="12700">
            <a:solidFill>
              <a:srgbClr val="14776B"/>
            </a:solidFill>
            <a:prstDash val="solid"/>
          </a:ln>
        </p:spPr>
      </p:sp>
      <p:sp>
        <p:nvSpPr>
          <p:cNvPr id="16" name="Text 13"/>
          <p:cNvSpPr txBox="1"/>
          <p:nvPr/>
        </p:nvSpPr>
        <p:spPr>
          <a:xfrm>
            <a:off x="6172200" y="3511296"/>
            <a:ext cx="54864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7" name="Text 14"/>
          <p:cNvSpPr txBox="1"/>
          <p:nvPr/>
        </p:nvSpPr>
        <p:spPr>
          <a:xfrm>
            <a:off x="6949440" y="3438144"/>
            <a:ext cx="4663440" cy="320040"/>
          </a:xfrm>
          <a:prstGeom prst="rect">
            <a:avLst/>
          </a:prstGeom>
          <a:noFill/>
        </p:spPr>
        <p:txBody>
          <a:bodyPr wrap="square" lIns="0" tIns="0" rIns="0" bIns="0" rtlCol="0" anchor="ctr"/>
          <a:lstStyle/>
          <a:p>
            <a:pPr marL="0" indent="0">
              <a:buNone/>
            </a:pPr>
            <a:r>
              <a:rPr lang="en-US" sz="1700" b="1" dirty="0">
                <a:solidFill>
                  <a:srgbClr val="0B2E2B"/>
                </a:solidFill>
                <a:latin typeface="Cambria" panose="02040503050406030204" pitchFamily="34" charset="0"/>
                <a:ea typeface="Cambria" panose="02040503050406030204" pitchFamily="34" charset="-122"/>
                <a:cs typeface="Cambria" panose="02040503050406030204" pitchFamily="34" charset="-120"/>
              </a:rPr>
              <a:t>Explore or approach</a:t>
            </a:r>
            <a:endParaRPr lang="en-US" sz="1700" dirty="0"/>
          </a:p>
        </p:txBody>
      </p:sp>
      <p:sp>
        <p:nvSpPr>
          <p:cNvPr id="18" name="Text 15"/>
          <p:cNvSpPr txBox="1"/>
          <p:nvPr/>
        </p:nvSpPr>
        <p:spPr>
          <a:xfrm>
            <a:off x="6949440" y="3785616"/>
            <a:ext cx="4663440" cy="566928"/>
          </a:xfrm>
          <a:prstGeom prst="rect">
            <a:avLst/>
          </a:prstGeom>
          <a:noFill/>
        </p:spPr>
        <p:txBody>
          <a:bodyPr wrap="square" lIns="0" tIns="0" rIns="0" bIns="0" rtlCol="0" anchor="t"/>
          <a:lstStyle/>
          <a:p>
            <a:pPr marL="0" indent="0">
              <a:buNone/>
            </a:pPr>
            <a:r>
              <a:rPr lang="en-US" sz="1300" dirty="0">
                <a:solidFill>
                  <a:srgbClr val="1E2B2A"/>
                </a:solidFill>
                <a:latin typeface="Calibri" panose="020F0502020204030204" pitchFamily="34" charset="0"/>
                <a:ea typeface="Calibri" panose="020F0502020204030204" pitchFamily="34" charset="-122"/>
                <a:cs typeface="Calibri" panose="020F0502020204030204" pitchFamily="34" charset="-120"/>
              </a:rPr>
              <a:t>If no trash is found, explore. Otherwise navigate with obstacle avoidance and stop at a safe distance.</a:t>
            </a:r>
            <a:endParaRPr lang="en-US" sz="1300" dirty="0"/>
          </a:p>
        </p:txBody>
      </p:sp>
      <p:sp>
        <p:nvSpPr>
          <p:cNvPr id="19" name="Shape 16"/>
          <p:cNvSpPr/>
          <p:nvPr/>
        </p:nvSpPr>
        <p:spPr>
          <a:xfrm>
            <a:off x="6172200" y="4498848"/>
            <a:ext cx="548640" cy="548640"/>
          </a:xfrm>
          <a:prstGeom prst="ellipse">
            <a:avLst/>
          </a:prstGeom>
          <a:solidFill>
            <a:srgbClr val="14776B"/>
          </a:solidFill>
          <a:ln w="12700">
            <a:solidFill>
              <a:srgbClr val="14776B"/>
            </a:solidFill>
            <a:prstDash val="solid"/>
          </a:ln>
        </p:spPr>
      </p:sp>
      <p:sp>
        <p:nvSpPr>
          <p:cNvPr id="20" name="Text 17"/>
          <p:cNvSpPr txBox="1"/>
          <p:nvPr/>
        </p:nvSpPr>
        <p:spPr>
          <a:xfrm>
            <a:off x="6172200" y="4498848"/>
            <a:ext cx="54864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21" name="Text 18"/>
          <p:cNvSpPr txBox="1"/>
          <p:nvPr/>
        </p:nvSpPr>
        <p:spPr>
          <a:xfrm>
            <a:off x="6949440" y="4425696"/>
            <a:ext cx="4663440" cy="320040"/>
          </a:xfrm>
          <a:prstGeom prst="rect">
            <a:avLst/>
          </a:prstGeom>
          <a:noFill/>
        </p:spPr>
        <p:txBody>
          <a:bodyPr wrap="square" lIns="0" tIns="0" rIns="0" bIns="0" rtlCol="0" anchor="ctr"/>
          <a:lstStyle/>
          <a:p>
            <a:pPr marL="0" indent="0">
              <a:buNone/>
            </a:pPr>
            <a:r>
              <a:rPr lang="en-US" sz="1700" b="1" dirty="0">
                <a:solidFill>
                  <a:srgbClr val="0B2E2B"/>
                </a:solidFill>
                <a:latin typeface="Cambria" panose="02040503050406030204" pitchFamily="34" charset="0"/>
                <a:ea typeface="Cambria" panose="02040503050406030204" pitchFamily="34" charset="-122"/>
                <a:cs typeface="Cambria" panose="02040503050406030204" pitchFamily="34" charset="-120"/>
              </a:rPr>
              <a:t>Pick and dispose</a:t>
            </a:r>
            <a:endParaRPr lang="en-US" sz="1700" dirty="0"/>
          </a:p>
        </p:txBody>
      </p:sp>
      <p:sp>
        <p:nvSpPr>
          <p:cNvPr id="22" name="Text 19"/>
          <p:cNvSpPr txBox="1"/>
          <p:nvPr/>
        </p:nvSpPr>
        <p:spPr>
          <a:xfrm>
            <a:off x="6949440" y="4773168"/>
            <a:ext cx="4663440" cy="566928"/>
          </a:xfrm>
          <a:prstGeom prst="rect">
            <a:avLst/>
          </a:prstGeom>
          <a:noFill/>
        </p:spPr>
        <p:txBody>
          <a:bodyPr wrap="square" lIns="0" tIns="0" rIns="0" bIns="0" rtlCol="0" anchor="t"/>
          <a:lstStyle/>
          <a:p>
            <a:pPr marL="0" indent="0">
              <a:buNone/>
            </a:pPr>
            <a:r>
              <a:rPr lang="en-US" sz="1300" dirty="0">
                <a:solidFill>
                  <a:srgbClr val="1E2B2A"/>
                </a:solidFill>
                <a:latin typeface="Calibri" panose="020F0502020204030204" pitchFamily="34" charset="0"/>
                <a:ea typeface="Calibri" panose="020F0502020204030204" pitchFamily="34" charset="-122"/>
                <a:cs typeface="Calibri" panose="020F0502020204030204" pitchFamily="34" charset="-120"/>
              </a:rPr>
              <a:t>Control arm and gripper, lift the object, move to the dustbin and release.</a:t>
            </a:r>
            <a:endParaRPr lang="en-US" sz="1300" dirty="0"/>
          </a:p>
        </p:txBody>
      </p:sp>
      <p:sp>
        <p:nvSpPr>
          <p:cNvPr id="23" name="Shape 20"/>
          <p:cNvSpPr/>
          <p:nvPr/>
        </p:nvSpPr>
        <p:spPr>
          <a:xfrm>
            <a:off x="6172200" y="5486400"/>
            <a:ext cx="548640" cy="548640"/>
          </a:xfrm>
          <a:prstGeom prst="ellipse">
            <a:avLst/>
          </a:prstGeom>
          <a:solidFill>
            <a:srgbClr val="14776B"/>
          </a:solidFill>
          <a:ln w="12700">
            <a:solidFill>
              <a:srgbClr val="14776B"/>
            </a:solidFill>
            <a:prstDash val="solid"/>
          </a:ln>
        </p:spPr>
      </p:sp>
      <p:sp>
        <p:nvSpPr>
          <p:cNvPr id="24" name="Text 21"/>
          <p:cNvSpPr txBox="1"/>
          <p:nvPr/>
        </p:nvSpPr>
        <p:spPr>
          <a:xfrm>
            <a:off x="6172200" y="5486400"/>
            <a:ext cx="54864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600" dirty="0"/>
          </a:p>
        </p:txBody>
      </p:sp>
      <p:sp>
        <p:nvSpPr>
          <p:cNvPr id="25" name="Text 22"/>
          <p:cNvSpPr txBox="1"/>
          <p:nvPr/>
        </p:nvSpPr>
        <p:spPr>
          <a:xfrm>
            <a:off x="6949440" y="5413248"/>
            <a:ext cx="4663440" cy="320040"/>
          </a:xfrm>
          <a:prstGeom prst="rect">
            <a:avLst/>
          </a:prstGeom>
          <a:noFill/>
        </p:spPr>
        <p:txBody>
          <a:bodyPr wrap="square" lIns="0" tIns="0" rIns="0" bIns="0" rtlCol="0" anchor="ctr"/>
          <a:lstStyle/>
          <a:p>
            <a:pPr marL="0" indent="0">
              <a:buNone/>
            </a:pPr>
            <a:r>
              <a:rPr lang="en-US" sz="1700" b="1" dirty="0">
                <a:solidFill>
                  <a:srgbClr val="0B2E2B"/>
                </a:solidFill>
                <a:latin typeface="Cambria" panose="02040503050406030204" pitchFamily="34" charset="0"/>
                <a:ea typeface="Cambria" panose="02040503050406030204" pitchFamily="34" charset="-122"/>
                <a:cs typeface="Cambria" panose="02040503050406030204" pitchFamily="34" charset="-120"/>
              </a:rPr>
              <a:t>Repeat</a:t>
            </a:r>
            <a:endParaRPr lang="en-US" sz="1700" dirty="0"/>
          </a:p>
        </p:txBody>
      </p:sp>
      <p:sp>
        <p:nvSpPr>
          <p:cNvPr id="26" name="Text 23"/>
          <p:cNvSpPr txBox="1"/>
          <p:nvPr/>
        </p:nvSpPr>
        <p:spPr>
          <a:xfrm>
            <a:off x="6949440" y="5760720"/>
            <a:ext cx="4663440" cy="566928"/>
          </a:xfrm>
          <a:prstGeom prst="rect">
            <a:avLst/>
          </a:prstGeom>
          <a:noFill/>
        </p:spPr>
        <p:txBody>
          <a:bodyPr wrap="square" lIns="0" tIns="0" rIns="0" bIns="0" rtlCol="0" anchor="t"/>
          <a:lstStyle/>
          <a:p>
            <a:pPr marL="0" indent="0">
              <a:buNone/>
            </a:pPr>
            <a:r>
              <a:rPr lang="en-US" sz="1300" dirty="0">
                <a:solidFill>
                  <a:srgbClr val="1E2B2A"/>
                </a:solidFill>
                <a:latin typeface="Calibri" panose="020F0502020204030204" pitchFamily="34" charset="0"/>
                <a:ea typeface="Calibri" panose="020F0502020204030204" pitchFamily="34" charset="-122"/>
                <a:cs typeface="Calibri" panose="020F0502020204030204" pitchFamily="34" charset="-120"/>
              </a:rPr>
              <a:t>Continue while trash remains; finish with Mission Complete.</a:t>
            </a:r>
            <a:endParaRPr lang="en-US" sz="1300" dirty="0"/>
          </a:p>
        </p:txBody>
      </p:sp>
      <p:sp>
        <p:nvSpPr>
          <p:cNvPr id="27"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ROS 2 COMMUNICATION</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Nodes, Topics and Middleware</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548640" y="1463040"/>
            <a:ext cx="3291840" cy="1499616"/>
          </a:xfrm>
          <a:prstGeom prst="roundRect">
            <a:avLst>
              <a:gd name="adj" fmla="val 7317"/>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6" name="Shape 4"/>
          <p:cNvSpPr/>
          <p:nvPr/>
        </p:nvSpPr>
        <p:spPr>
          <a:xfrm>
            <a:off x="731520" y="1618488"/>
            <a:ext cx="457200" cy="457200"/>
          </a:xfrm>
          <a:prstGeom prst="ellipse">
            <a:avLst/>
          </a:prstGeom>
          <a:solidFill>
            <a:srgbClr val="14776B"/>
          </a:solidFill>
          <a:ln w="12700">
            <a:solidFill>
              <a:srgbClr val="14776B"/>
            </a:solidFill>
            <a:prstDash val="solid"/>
          </a:ln>
        </p:spPr>
      </p:sp>
      <p:pic>
        <p:nvPicPr>
          <p:cNvPr id="7" name="Image 0" descr="preencoded.png"/>
          <p:cNvPicPr>
            <a:picLocks noChangeAspect="1"/>
          </p:cNvPicPr>
          <p:nvPr/>
        </p:nvPicPr>
        <p:blipFill>
          <a:blip r:embed="rId1"/>
          <a:stretch>
            <a:fillRect/>
          </a:stretch>
        </p:blipFill>
        <p:spPr>
          <a:xfrm>
            <a:off x="854964" y="1741932"/>
            <a:ext cx="210312" cy="210312"/>
          </a:xfrm>
          <a:prstGeom prst="rect">
            <a:avLst/>
          </a:prstGeom>
        </p:spPr>
      </p:pic>
      <p:sp>
        <p:nvSpPr>
          <p:cNvPr id="8" name="Text 5"/>
          <p:cNvSpPr txBox="1"/>
          <p:nvPr/>
        </p:nvSpPr>
        <p:spPr>
          <a:xfrm>
            <a:off x="1325880" y="1618488"/>
            <a:ext cx="2423160" cy="457200"/>
          </a:xfrm>
          <a:prstGeom prst="rect">
            <a:avLst/>
          </a:prstGeom>
          <a:noFill/>
        </p:spPr>
        <p:txBody>
          <a:bodyPr wrap="square" lIns="0" tIns="0" rIns="0" bIns="0" rtlCol="0" anchor="ctr"/>
          <a:lstStyle/>
          <a:p>
            <a:pPr marL="0" indent="0">
              <a:buNone/>
            </a:pPr>
            <a:r>
              <a:rPr lang="en-US" sz="1600" b="1" dirty="0">
                <a:solidFill>
                  <a:srgbClr val="0B2E2B"/>
                </a:solidFill>
                <a:latin typeface="Cambria" panose="02040503050406030204" pitchFamily="34" charset="0"/>
                <a:ea typeface="Cambria" panose="02040503050406030204" pitchFamily="34" charset="-122"/>
                <a:cs typeface="Cambria" panose="02040503050406030204" pitchFamily="34" charset="-120"/>
              </a:rPr>
              <a:t>Sensors to nodes</a:t>
            </a:r>
            <a:endParaRPr lang="en-US" sz="1600" dirty="0"/>
          </a:p>
        </p:txBody>
      </p:sp>
      <p:sp>
        <p:nvSpPr>
          <p:cNvPr id="9" name="Text 6"/>
          <p:cNvSpPr txBox="1"/>
          <p:nvPr/>
        </p:nvSpPr>
        <p:spPr>
          <a:xfrm>
            <a:off x="731520" y="2148840"/>
            <a:ext cx="2971800" cy="777240"/>
          </a:xfrm>
          <a:prstGeom prst="rect">
            <a:avLst/>
          </a:prstGeom>
          <a:noFill/>
        </p:spPr>
        <p:txBody>
          <a:bodyPr wrap="square" lIns="0" tIns="0" rIns="0" bIns="0" rtlCol="0" anchor="t"/>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/camera/image_raw, /scan, /odom and /imu feed the detection and navigation nodes.</a:t>
            </a:r>
            <a:endParaRPr lang="en-US" sz="1200" dirty="0"/>
          </a:p>
        </p:txBody>
      </p:sp>
      <p:sp>
        <p:nvSpPr>
          <p:cNvPr id="10" name="Shape 7"/>
          <p:cNvSpPr/>
          <p:nvPr/>
        </p:nvSpPr>
        <p:spPr>
          <a:xfrm>
            <a:off x="548640" y="3090672"/>
            <a:ext cx="3291840" cy="1499616"/>
          </a:xfrm>
          <a:prstGeom prst="roundRect">
            <a:avLst>
              <a:gd name="adj" fmla="val 7317"/>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11" name="Shape 8"/>
          <p:cNvSpPr/>
          <p:nvPr/>
        </p:nvSpPr>
        <p:spPr>
          <a:xfrm>
            <a:off x="731520" y="3246120"/>
            <a:ext cx="457200" cy="457200"/>
          </a:xfrm>
          <a:prstGeom prst="ellipse">
            <a:avLst/>
          </a:prstGeom>
          <a:solidFill>
            <a:srgbClr val="14776B"/>
          </a:solidFill>
          <a:ln w="12700">
            <a:solidFill>
              <a:srgbClr val="14776B"/>
            </a:solidFill>
            <a:prstDash val="solid"/>
          </a:ln>
        </p:spPr>
      </p:sp>
      <p:pic>
        <p:nvPicPr>
          <p:cNvPr id="12" name="Image 1" descr="preencoded.png"/>
          <p:cNvPicPr>
            <a:picLocks noChangeAspect="1"/>
          </p:cNvPicPr>
          <p:nvPr/>
        </p:nvPicPr>
        <p:blipFill>
          <a:blip r:embed="rId2"/>
          <a:stretch>
            <a:fillRect/>
          </a:stretch>
        </p:blipFill>
        <p:spPr>
          <a:xfrm>
            <a:off x="854964" y="3369564"/>
            <a:ext cx="210312" cy="210312"/>
          </a:xfrm>
          <a:prstGeom prst="rect">
            <a:avLst/>
          </a:prstGeom>
        </p:spPr>
      </p:pic>
      <p:sp>
        <p:nvSpPr>
          <p:cNvPr id="13" name="Text 9"/>
          <p:cNvSpPr txBox="1"/>
          <p:nvPr/>
        </p:nvSpPr>
        <p:spPr>
          <a:xfrm>
            <a:off x="1325880" y="3246120"/>
            <a:ext cx="2423160" cy="457200"/>
          </a:xfrm>
          <a:prstGeom prst="rect">
            <a:avLst/>
          </a:prstGeom>
          <a:noFill/>
        </p:spPr>
        <p:txBody>
          <a:bodyPr wrap="square" lIns="0" tIns="0" rIns="0" bIns="0" rtlCol="0" anchor="ctr"/>
          <a:lstStyle/>
          <a:p>
            <a:pPr marL="0" indent="0">
              <a:buNone/>
            </a:pPr>
            <a:r>
              <a:rPr lang="en-US" sz="1600" b="1" dirty="0">
                <a:solidFill>
                  <a:srgbClr val="0B2E2B"/>
                </a:solidFill>
                <a:latin typeface="Cambria" panose="02040503050406030204" pitchFamily="34" charset="0"/>
                <a:ea typeface="Cambria" panose="02040503050406030204" pitchFamily="34" charset="-122"/>
                <a:cs typeface="Cambria" panose="02040503050406030204" pitchFamily="34" charset="-120"/>
              </a:rPr>
              <a:t>Task manager</a:t>
            </a:r>
            <a:endParaRPr lang="en-US" sz="1600" dirty="0"/>
          </a:p>
        </p:txBody>
      </p:sp>
      <p:sp>
        <p:nvSpPr>
          <p:cNvPr id="14" name="Text 10"/>
          <p:cNvSpPr txBox="1"/>
          <p:nvPr/>
        </p:nvSpPr>
        <p:spPr>
          <a:xfrm>
            <a:off x="731520" y="3776472"/>
            <a:ext cx="2971800" cy="777240"/>
          </a:xfrm>
          <a:prstGeom prst="rect">
            <a:avLst/>
          </a:prstGeom>
          <a:noFill/>
        </p:spPr>
        <p:txBody>
          <a:bodyPr wrap="square" lIns="0" tIns="0" rIns="0" bIns="0" rtlCol="0" anchor="t"/>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The main controller coordinates detection, navigation, arm and gripper nodes.</a:t>
            </a:r>
            <a:endParaRPr lang="en-US" sz="1200" dirty="0"/>
          </a:p>
        </p:txBody>
      </p:sp>
      <p:sp>
        <p:nvSpPr>
          <p:cNvPr id="15" name="Shape 11"/>
          <p:cNvSpPr/>
          <p:nvPr/>
        </p:nvSpPr>
        <p:spPr>
          <a:xfrm>
            <a:off x="548640" y="4718304"/>
            <a:ext cx="3291840" cy="1499616"/>
          </a:xfrm>
          <a:prstGeom prst="roundRect">
            <a:avLst>
              <a:gd name="adj" fmla="val 7317"/>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16" name="Shape 12"/>
          <p:cNvSpPr/>
          <p:nvPr/>
        </p:nvSpPr>
        <p:spPr>
          <a:xfrm>
            <a:off x="731520" y="4873752"/>
            <a:ext cx="457200" cy="457200"/>
          </a:xfrm>
          <a:prstGeom prst="ellipse">
            <a:avLst/>
          </a:prstGeom>
          <a:solidFill>
            <a:srgbClr val="14776B"/>
          </a:solidFill>
          <a:ln w="12700">
            <a:solidFill>
              <a:srgbClr val="14776B"/>
            </a:solidFill>
            <a:prstDash val="solid"/>
          </a:ln>
        </p:spPr>
      </p:sp>
      <p:pic>
        <p:nvPicPr>
          <p:cNvPr id="17" name="Image 2" descr="preencoded.png"/>
          <p:cNvPicPr>
            <a:picLocks noChangeAspect="1"/>
          </p:cNvPicPr>
          <p:nvPr/>
        </p:nvPicPr>
        <p:blipFill>
          <a:blip r:embed="rId3"/>
          <a:stretch>
            <a:fillRect/>
          </a:stretch>
        </p:blipFill>
        <p:spPr>
          <a:xfrm>
            <a:off x="854964" y="4997196"/>
            <a:ext cx="210312" cy="210312"/>
          </a:xfrm>
          <a:prstGeom prst="rect">
            <a:avLst/>
          </a:prstGeom>
        </p:spPr>
      </p:pic>
      <p:sp>
        <p:nvSpPr>
          <p:cNvPr id="18" name="Text 13"/>
          <p:cNvSpPr txBox="1"/>
          <p:nvPr/>
        </p:nvSpPr>
        <p:spPr>
          <a:xfrm>
            <a:off x="1325880" y="4873752"/>
            <a:ext cx="2423160" cy="457200"/>
          </a:xfrm>
          <a:prstGeom prst="rect">
            <a:avLst/>
          </a:prstGeom>
          <a:noFill/>
        </p:spPr>
        <p:txBody>
          <a:bodyPr wrap="square" lIns="0" tIns="0" rIns="0" bIns="0" rtlCol="0" anchor="ctr"/>
          <a:lstStyle/>
          <a:p>
            <a:pPr marL="0" indent="0">
              <a:buNone/>
            </a:pPr>
            <a:r>
              <a:rPr lang="en-US" sz="1600" b="1" dirty="0">
                <a:solidFill>
                  <a:srgbClr val="0B2E2B"/>
                </a:solidFill>
                <a:latin typeface="Cambria" panose="02040503050406030204" pitchFamily="34" charset="0"/>
                <a:ea typeface="Cambria" panose="02040503050406030204" pitchFamily="34" charset="-122"/>
                <a:cs typeface="Cambria" panose="02040503050406030204" pitchFamily="34" charset="-120"/>
              </a:rPr>
              <a:t>DDS middleware</a:t>
            </a:r>
            <a:endParaRPr lang="en-US" sz="1600" dirty="0"/>
          </a:p>
        </p:txBody>
      </p:sp>
      <p:sp>
        <p:nvSpPr>
          <p:cNvPr id="19" name="Text 14"/>
          <p:cNvSpPr txBox="1"/>
          <p:nvPr/>
        </p:nvSpPr>
        <p:spPr>
          <a:xfrm>
            <a:off x="731520" y="5404104"/>
            <a:ext cx="2971800" cy="777240"/>
          </a:xfrm>
          <a:prstGeom prst="rect">
            <a:avLst/>
          </a:prstGeom>
          <a:noFill/>
        </p:spPr>
        <p:txBody>
          <a:bodyPr wrap="square" lIns="0" tIns="0" rIns="0" bIns="0" rtlCol="0" anchor="t"/>
          <a:lstStyle/>
          <a:p>
            <a:pPr marL="0" indent="0">
              <a:buNone/>
            </a:pP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Message passing lets each module be developed and tested independently.</a:t>
            </a:r>
            <a:endParaRPr lang="en-US" sz="1200" dirty="0"/>
          </a:p>
        </p:txBody>
      </p:sp>
      <p:sp>
        <p:nvSpPr>
          <p:cNvPr id="20" name="Shape 15"/>
          <p:cNvSpPr/>
          <p:nvPr/>
        </p:nvSpPr>
        <p:spPr>
          <a:xfrm>
            <a:off x="4114800" y="1463040"/>
            <a:ext cx="7525512" cy="4846320"/>
          </a:xfrm>
          <a:prstGeom prst="roundRect">
            <a:avLst>
              <a:gd name="adj" fmla="val 2264"/>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21" name="Image 3" descr="rosarch.png"/>
          <p:cNvPicPr>
            <a:picLocks noChangeAspect="1"/>
          </p:cNvPicPr>
          <p:nvPr/>
        </p:nvPicPr>
        <p:blipFill>
          <a:blip r:embed="rId4"/>
          <a:stretch>
            <a:fillRect/>
          </a:stretch>
        </p:blipFill>
        <p:spPr>
          <a:xfrm>
            <a:off x="4224528" y="1598301"/>
            <a:ext cx="7306056" cy="4575798"/>
          </a:xfrm>
          <a:prstGeom prst="rect">
            <a:avLst/>
          </a:prstGeom>
        </p:spPr>
      </p:pic>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ROS 2 COMMUNICATION</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Topic-Level Data Flow</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graphicFrame>
        <p:nvGraphicFramePr>
          <p:cNvPr id="15" name="Table 0"/>
          <p:cNvGraphicFramePr>
            <a:graphicFrameLocks noGrp="1"/>
          </p:cNvGraphicFramePr>
          <p:nvPr/>
        </p:nvGraphicFramePr>
        <p:xfrm>
          <a:off x="548640" y="1554480"/>
          <a:ext cx="4846320" cy="3520440"/>
        </p:xfrm>
        <a:graphic>
          <a:graphicData uri="http://schemas.openxmlformats.org/drawingml/2006/table">
            <a:tbl>
              <a:tblPr/>
              <a:tblGrid>
                <a:gridCol w="2514600"/>
                <a:gridCol w="2331720"/>
              </a:tblGrid>
              <a:tr h="502920">
                <a:tc>
                  <a:txBody>
                    <a:bodyP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Topic</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14776B"/>
                    </a:solidFill>
                  </a:tcPr>
                </a:tc>
                <a:tc>
                  <a:txBody>
                    <a:bodyP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Function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14776B"/>
                    </a:solidFill>
                  </a:tcPr>
                </a:tc>
              </a:tr>
              <a:tr h="502920">
                <a:tc>
                  <a:txBody>
                    <a:bodyPr/>
                    <a:lstStyle/>
                    <a:p>
                      <a:pPr marL="0" indent="0">
                        <a:buNone/>
                      </a:pPr>
                      <a:r>
                        <a:rPr lang="en-US" sz="1200" b="1" dirty="0">
                          <a:solidFill>
                            <a:srgbClr val="14776B"/>
                          </a:solidFill>
                          <a:latin typeface="Courier New" panose="02070309020205020404" pitchFamily="34" charset="0"/>
                          <a:ea typeface="Courier New" panose="02070309020205020404" pitchFamily="34" charset="-122"/>
                          <a:cs typeface="Courier New" panose="02070309020205020404" pitchFamily="34" charset="-120"/>
                        </a:rPr>
                        <a:t>/camera/image_raw</a:t>
                      </a:r>
                      <a:endParaRPr lang="en-US" sz="1200" dirty="0">
                        <a:latin typeface="Courier New" panose="02070309020205020404" pitchFamily="34" charset="0"/>
                        <a:ea typeface="Courier New" panose="02070309020205020404" pitchFamily="34" charset="0"/>
                        <a:cs typeface="Courier New" panose="020703090202050204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c>
                  <a:txBody>
                    <a:bodyPr/>
                    <a:lstStyle/>
                    <a:p>
                      <a:pPr marL="0" indent="0">
                        <a:buNone/>
                      </a:pPr>
                      <a:r>
                        <a:rPr lang="en-US" sz="1300" dirty="0">
                          <a:solidFill>
                            <a:srgbClr val="1E2B2A"/>
                          </a:solidFill>
                          <a:latin typeface="Calibri" panose="020F0502020204030204" pitchFamily="34" charset="0"/>
                          <a:ea typeface="Calibri" panose="020F0502020204030204" pitchFamily="34" charset="-122"/>
                          <a:cs typeface="Calibri" panose="020F0502020204030204" pitchFamily="34" charset="-120"/>
                        </a:rPr>
                        <a:t>Camera data input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r>
              <a:tr h="502920">
                <a:tc>
                  <a:txBody>
                    <a:bodyPr/>
                    <a:lstStyle/>
                    <a:p>
                      <a:pPr marL="0" indent="0">
                        <a:buNone/>
                      </a:pPr>
                      <a:r>
                        <a:rPr lang="en-US" sz="1200" b="1" dirty="0">
                          <a:solidFill>
                            <a:srgbClr val="14776B"/>
                          </a:solidFill>
                          <a:latin typeface="Courier New" panose="02070309020205020404" pitchFamily="34" charset="0"/>
                          <a:ea typeface="Courier New" panose="02070309020205020404" pitchFamily="34" charset="-122"/>
                          <a:cs typeface="Courier New" panose="02070309020205020404" pitchFamily="34" charset="-120"/>
                        </a:rPr>
                        <a:t>/scan</a:t>
                      </a:r>
                      <a:endParaRPr lang="en-US" sz="1200" dirty="0">
                        <a:latin typeface="Courier New" panose="02070309020205020404" pitchFamily="34" charset="0"/>
                        <a:ea typeface="Courier New" panose="02070309020205020404" pitchFamily="34" charset="0"/>
                        <a:cs typeface="Courier New" panose="020703090202050204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c>
                  <a:txBody>
                    <a:bodyPr/>
                    <a:lstStyle/>
                    <a:p>
                      <a:pPr marL="0" indent="0">
                        <a:buNone/>
                      </a:pPr>
                      <a:r>
                        <a:rPr lang="en-US" sz="1300" dirty="0">
                          <a:solidFill>
                            <a:srgbClr val="1E2B2A"/>
                          </a:solidFill>
                          <a:latin typeface="Calibri" panose="020F0502020204030204" pitchFamily="34" charset="0"/>
                          <a:ea typeface="Calibri" panose="020F0502020204030204" pitchFamily="34" charset="-122"/>
                          <a:cs typeface="Calibri" panose="020F0502020204030204" pitchFamily="34" charset="-120"/>
                        </a:rPr>
                        <a:t>LiDAR measurement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r>
              <a:tr h="502920">
                <a:tc>
                  <a:txBody>
                    <a:bodyPr/>
                    <a:lstStyle/>
                    <a:p>
                      <a:pPr marL="0" indent="0">
                        <a:buNone/>
                      </a:pPr>
                      <a:r>
                        <a:rPr lang="en-US" sz="1200" b="1" dirty="0">
                          <a:solidFill>
                            <a:srgbClr val="14776B"/>
                          </a:solidFill>
                          <a:latin typeface="Courier New" panose="02070309020205020404" pitchFamily="34" charset="0"/>
                          <a:ea typeface="Courier New" panose="02070309020205020404" pitchFamily="34" charset="-122"/>
                          <a:cs typeface="Courier New" panose="02070309020205020404" pitchFamily="34" charset="-120"/>
                        </a:rPr>
                        <a:t>/cmd_vel</a:t>
                      </a:r>
                      <a:endParaRPr lang="en-US" sz="1200" dirty="0">
                        <a:latin typeface="Courier New" panose="02070309020205020404" pitchFamily="34" charset="0"/>
                        <a:ea typeface="Courier New" panose="02070309020205020404" pitchFamily="34" charset="0"/>
                        <a:cs typeface="Courier New" panose="020703090202050204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c>
                  <a:txBody>
                    <a:bodyPr/>
                    <a:lstStyle/>
                    <a:p>
                      <a:pPr marL="0" indent="0">
                        <a:buNone/>
                      </a:pPr>
                      <a:r>
                        <a:rPr lang="en-US" sz="1300" dirty="0">
                          <a:solidFill>
                            <a:srgbClr val="1E2B2A"/>
                          </a:solidFill>
                          <a:latin typeface="Calibri" panose="020F0502020204030204" pitchFamily="34" charset="0"/>
                          <a:ea typeface="Calibri" panose="020F0502020204030204" pitchFamily="34" charset="-122"/>
                          <a:cs typeface="Calibri" panose="020F0502020204030204" pitchFamily="34" charset="-120"/>
                        </a:rPr>
                        <a:t>Mobile robot control</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r>
              <a:tr h="502920">
                <a:tc>
                  <a:txBody>
                    <a:bodyPr/>
                    <a:lstStyle/>
                    <a:p>
                      <a:pPr marL="0" indent="0">
                        <a:buNone/>
                      </a:pPr>
                      <a:r>
                        <a:rPr lang="en-US" sz="1200" b="1" dirty="0">
                          <a:solidFill>
                            <a:srgbClr val="14776B"/>
                          </a:solidFill>
                          <a:latin typeface="Courier New" panose="02070309020205020404" pitchFamily="34" charset="0"/>
                          <a:ea typeface="Courier New" panose="02070309020205020404" pitchFamily="34" charset="-122"/>
                          <a:cs typeface="Courier New" panose="02070309020205020404" pitchFamily="34" charset="-120"/>
                        </a:rPr>
                        <a:t>/joint_states</a:t>
                      </a:r>
                      <a:endParaRPr lang="en-US" sz="1200" dirty="0">
                        <a:latin typeface="Courier New" panose="02070309020205020404" pitchFamily="34" charset="0"/>
                        <a:ea typeface="Courier New" panose="02070309020205020404" pitchFamily="34" charset="0"/>
                        <a:cs typeface="Courier New" panose="020703090202050204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c>
                  <a:txBody>
                    <a:bodyPr/>
                    <a:lstStyle/>
                    <a:p>
                      <a:pPr marL="0" indent="0">
                        <a:buNone/>
                      </a:pPr>
                      <a:r>
                        <a:rPr lang="en-US" sz="1300" dirty="0">
                          <a:solidFill>
                            <a:srgbClr val="1E2B2A"/>
                          </a:solidFill>
                          <a:latin typeface="Calibri" panose="020F0502020204030204" pitchFamily="34" charset="0"/>
                          <a:ea typeface="Calibri" panose="020F0502020204030204" pitchFamily="34" charset="-122"/>
                          <a:cs typeface="Calibri" panose="020F0502020204030204" pitchFamily="34" charset="-120"/>
                        </a:rPr>
                        <a:t>Joint feedback</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r>
              <a:tr h="502920">
                <a:tc>
                  <a:txBody>
                    <a:bodyPr/>
                    <a:lstStyle/>
                    <a:p>
                      <a:pPr marL="0" indent="0">
                        <a:buNone/>
                      </a:pPr>
                      <a:r>
                        <a:rPr lang="en-US" sz="1200" b="1" dirty="0">
                          <a:solidFill>
                            <a:srgbClr val="14776B"/>
                          </a:solidFill>
                          <a:latin typeface="Courier New" panose="02070309020205020404" pitchFamily="34" charset="0"/>
                          <a:ea typeface="Courier New" panose="02070309020205020404" pitchFamily="34" charset="-122"/>
                          <a:cs typeface="Courier New" panose="02070309020205020404" pitchFamily="34" charset="-120"/>
                        </a:rPr>
                        <a:t>/set_joint_trajectory</a:t>
                      </a:r>
                      <a:endParaRPr lang="en-US" sz="1200" dirty="0">
                        <a:latin typeface="Courier New" panose="02070309020205020404" pitchFamily="34" charset="0"/>
                        <a:ea typeface="Courier New" panose="02070309020205020404" pitchFamily="34" charset="0"/>
                        <a:cs typeface="Courier New" panose="020703090202050204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c>
                  <a:txBody>
                    <a:bodyPr/>
                    <a:lstStyle/>
                    <a:p>
                      <a:pPr marL="0" indent="0">
                        <a:buNone/>
                      </a:pPr>
                      <a:r>
                        <a:rPr lang="en-US" sz="1300" dirty="0">
                          <a:solidFill>
                            <a:srgbClr val="1E2B2A"/>
                          </a:solidFill>
                          <a:latin typeface="Calibri" panose="020F0502020204030204" pitchFamily="34" charset="0"/>
                          <a:ea typeface="Calibri" panose="020F0502020204030204" pitchFamily="34" charset="-122"/>
                          <a:cs typeface="Calibri" panose="020F0502020204030204" pitchFamily="34" charset="-120"/>
                        </a:rPr>
                        <a:t>Arm command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FFFFFF"/>
                    </a:solidFill>
                  </a:tcPr>
                </a:tc>
              </a:tr>
              <a:tr h="502920">
                <a:tc>
                  <a:txBody>
                    <a:bodyPr/>
                    <a:lstStyle/>
                    <a:p>
                      <a:pPr marL="0" indent="0">
                        <a:buNone/>
                      </a:pPr>
                      <a:r>
                        <a:rPr lang="en-US" sz="1200" b="1" dirty="0">
                          <a:solidFill>
                            <a:srgbClr val="14776B"/>
                          </a:solidFill>
                          <a:latin typeface="Courier New" panose="02070309020205020404" pitchFamily="34" charset="0"/>
                          <a:ea typeface="Courier New" panose="02070309020205020404" pitchFamily="34" charset="-122"/>
                          <a:cs typeface="Courier New" panose="02070309020205020404" pitchFamily="34" charset="-120"/>
                        </a:rPr>
                        <a:t>/odom</a:t>
                      </a:r>
                      <a:endParaRPr lang="en-US" sz="1200" dirty="0">
                        <a:latin typeface="Courier New" panose="02070309020205020404" pitchFamily="34" charset="0"/>
                        <a:ea typeface="Courier New" panose="02070309020205020404" pitchFamily="34" charset="0"/>
                        <a:cs typeface="Courier New" panose="020703090202050204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c>
                  <a:txBody>
                    <a:bodyPr/>
                    <a:lstStyle/>
                    <a:p>
                      <a:pPr marL="0" indent="0">
                        <a:buNone/>
                      </a:pPr>
                      <a:r>
                        <a:rPr lang="en-US" sz="1300" dirty="0">
                          <a:solidFill>
                            <a:srgbClr val="1E2B2A"/>
                          </a:solidFill>
                          <a:latin typeface="Calibri" panose="020F0502020204030204" pitchFamily="34" charset="0"/>
                          <a:ea typeface="Calibri" panose="020F0502020204030204" pitchFamily="34" charset="-122"/>
                          <a:cs typeface="Calibri" panose="020F0502020204030204" pitchFamily="34" charset="-120"/>
                        </a:rPr>
                        <a:t>Robot position feedback</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T="27432" marB="27432" anchor="ctr">
                    <a:lnL w="9525" cap="flat" cmpd="sng" algn="ctr">
                      <a:solidFill>
                        <a:srgbClr val="D3E3DD"/>
                      </a:solidFill>
                      <a:prstDash val="solid"/>
                      <a:round/>
                      <a:headEnd type="none" w="med" len="med"/>
                      <a:tailEnd type="none" w="med" len="med"/>
                    </a:lnL>
                    <a:lnR w="9525" cap="flat" cmpd="sng" algn="ctr">
                      <a:solidFill>
                        <a:srgbClr val="D3E3DD"/>
                      </a:solidFill>
                      <a:prstDash val="solid"/>
                      <a:round/>
                      <a:headEnd type="none" w="med" len="med"/>
                      <a:tailEnd type="none" w="med" len="med"/>
                    </a:lnR>
                    <a:lnT w="9525" cap="flat" cmpd="sng" algn="ctr">
                      <a:solidFill>
                        <a:srgbClr val="D3E3DD"/>
                      </a:solidFill>
                      <a:prstDash val="solid"/>
                      <a:round/>
                      <a:headEnd type="none" w="med" len="med"/>
                      <a:tailEnd type="none" w="med" len="med"/>
                    </a:lnT>
                    <a:lnB w="9525" cap="flat" cmpd="sng" algn="ctr">
                      <a:solidFill>
                        <a:srgbClr val="D3E3DD"/>
                      </a:solidFill>
                      <a:prstDash val="solid"/>
                      <a:round/>
                      <a:headEnd type="none" w="med" len="med"/>
                      <a:tailEnd type="none" w="med" len="med"/>
                    </a:lnB>
                    <a:solidFill>
                      <a:srgbClr val="EAF4F0"/>
                    </a:solidFill>
                  </a:tcPr>
                </a:tc>
              </a:tr>
            </a:tbl>
          </a:graphicData>
        </a:graphic>
      </p:graphicFrame>
      <p:sp>
        <p:nvSpPr>
          <p:cNvPr id="6" name="Text 3"/>
          <p:cNvSpPr txBox="1"/>
          <p:nvPr/>
        </p:nvSpPr>
        <p:spPr>
          <a:xfrm>
            <a:off x="548640" y="5349240"/>
            <a:ext cx="4846320" cy="731520"/>
          </a:xfrm>
          <a:prstGeom prst="rect">
            <a:avLst/>
          </a:prstGeom>
          <a:noFill/>
        </p:spPr>
        <p:txBody>
          <a:bodyPr wrap="square" lIns="0" tIns="0" rIns="0" bIns="0" rtlCol="0" anchor="t"/>
          <a:lstStyle/>
          <a:p>
            <a:pPr marL="0" indent="0">
              <a:buNone/>
            </a:pPr>
            <a:r>
              <a:rPr lang="en-US" sz="1300" dirty="0">
                <a:solidFill>
                  <a:srgbClr val="5A6E6A"/>
                </a:solidFill>
                <a:latin typeface="Calibri" panose="020F0502020204030204" pitchFamily="34" charset="0"/>
                <a:ea typeface="Calibri" panose="020F0502020204030204" pitchFamily="34" charset="-122"/>
                <a:cs typeface="Calibri" panose="020F0502020204030204" pitchFamily="34" charset="-120"/>
              </a:rPr>
              <a:t>Arm and gripper commands travel as ROS 2 joint trajectory messages; /joint_states reports the arm's current joint positions.</a:t>
            </a:r>
            <a:endParaRPr lang="en-US" sz="1300" dirty="0"/>
          </a:p>
        </p:txBody>
      </p:sp>
      <p:sp>
        <p:nvSpPr>
          <p:cNvPr id="7" name="Shape 4"/>
          <p:cNvSpPr/>
          <p:nvPr/>
        </p:nvSpPr>
        <p:spPr>
          <a:xfrm>
            <a:off x="5943600" y="1554480"/>
            <a:ext cx="1783080" cy="1005840"/>
          </a:xfrm>
          <a:prstGeom prst="roundRect">
            <a:avLst>
              <a:gd name="adj" fmla="val 9091"/>
            </a:avLst>
          </a:prstGeom>
          <a:solidFill>
            <a:srgbClr val="14776B"/>
          </a:solidFill>
          <a:ln w="12700">
            <a:solidFill>
              <a:srgbClr val="14776B"/>
            </a:solidFill>
            <a:prstDash val="solid"/>
          </a:ln>
        </p:spPr>
      </p:sp>
      <p:sp>
        <p:nvSpPr>
          <p:cNvPr id="8" name="Text 5"/>
          <p:cNvSpPr txBox="1"/>
          <p:nvPr/>
        </p:nvSpPr>
        <p:spPr>
          <a:xfrm>
            <a:off x="5943600" y="1627632"/>
            <a:ext cx="1783080" cy="36576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Camera</a:t>
            </a:r>
            <a:endParaRPr lang="en-US" sz="1400" dirty="0"/>
          </a:p>
        </p:txBody>
      </p:sp>
      <p:sp>
        <p:nvSpPr>
          <p:cNvPr id="9" name="Text 6"/>
          <p:cNvSpPr txBox="1"/>
          <p:nvPr/>
        </p:nvSpPr>
        <p:spPr>
          <a:xfrm>
            <a:off x="5989320" y="1993392"/>
            <a:ext cx="1691640" cy="530352"/>
          </a:xfrm>
          <a:prstGeom prst="rect">
            <a:avLst/>
          </a:prstGeom>
          <a:noFill/>
        </p:spPr>
        <p:txBody>
          <a:bodyPr wrap="square" lIns="0" tIns="0" rIns="0" bIns="0" rtlCol="0" anchor="t"/>
          <a:lstStyle/>
          <a:p>
            <a:pPr marL="0" indent="0" algn="ctr">
              <a:buNone/>
            </a:pPr>
            <a:r>
              <a:rPr lang="en-US" sz="1050" dirty="0">
                <a:solidFill>
                  <a:srgbClr val="CDE8DF"/>
                </a:solidFill>
                <a:latin typeface="Courier New" panose="02070309020205020404" pitchFamily="34" charset="0"/>
                <a:ea typeface="Courier New" panose="02070309020205020404" pitchFamily="34" charset="-122"/>
                <a:cs typeface="Courier New" panose="02070309020205020404" pitchFamily="34" charset="-120"/>
              </a:rPr>
              <a:t>/camera/image_raw</a:t>
            </a:r>
            <a:endParaRPr lang="en-US" sz="1050" dirty="0"/>
          </a:p>
        </p:txBody>
      </p:sp>
      <p:sp>
        <p:nvSpPr>
          <p:cNvPr id="10" name="Shape 7"/>
          <p:cNvSpPr/>
          <p:nvPr/>
        </p:nvSpPr>
        <p:spPr>
          <a:xfrm>
            <a:off x="5943600" y="2880360"/>
            <a:ext cx="1783080" cy="1005840"/>
          </a:xfrm>
          <a:prstGeom prst="roundRect">
            <a:avLst>
              <a:gd name="adj" fmla="val 9091"/>
            </a:avLst>
          </a:prstGeom>
          <a:solidFill>
            <a:srgbClr val="14776B"/>
          </a:solidFill>
          <a:ln w="12700">
            <a:solidFill>
              <a:srgbClr val="14776B"/>
            </a:solidFill>
            <a:prstDash val="solid"/>
          </a:ln>
        </p:spPr>
      </p:sp>
      <p:sp>
        <p:nvSpPr>
          <p:cNvPr id="11" name="Text 8"/>
          <p:cNvSpPr txBox="1"/>
          <p:nvPr/>
        </p:nvSpPr>
        <p:spPr>
          <a:xfrm>
            <a:off x="5943600" y="2953512"/>
            <a:ext cx="1783080" cy="36576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LiDAR</a:t>
            </a:r>
            <a:endParaRPr lang="en-US" sz="1400" dirty="0"/>
          </a:p>
        </p:txBody>
      </p:sp>
      <p:sp>
        <p:nvSpPr>
          <p:cNvPr id="12" name="Text 9"/>
          <p:cNvSpPr txBox="1"/>
          <p:nvPr/>
        </p:nvSpPr>
        <p:spPr>
          <a:xfrm>
            <a:off x="5989320" y="3319272"/>
            <a:ext cx="1691640" cy="530352"/>
          </a:xfrm>
          <a:prstGeom prst="rect">
            <a:avLst/>
          </a:prstGeom>
          <a:noFill/>
        </p:spPr>
        <p:txBody>
          <a:bodyPr wrap="square" lIns="0" tIns="0" rIns="0" bIns="0" rtlCol="0" anchor="t"/>
          <a:lstStyle/>
          <a:p>
            <a:pPr marL="0" indent="0" algn="ctr">
              <a:buNone/>
            </a:pPr>
            <a:r>
              <a:rPr lang="en-US" sz="1050" dirty="0">
                <a:solidFill>
                  <a:srgbClr val="CDE8DF"/>
                </a:solidFill>
                <a:latin typeface="Courier New" panose="02070309020205020404" pitchFamily="34" charset="0"/>
                <a:ea typeface="Courier New" panose="02070309020205020404" pitchFamily="34" charset="-122"/>
                <a:cs typeface="Courier New" panose="02070309020205020404" pitchFamily="34" charset="-120"/>
              </a:rPr>
              <a:t>/scan</a:t>
            </a:r>
            <a:endParaRPr lang="en-US" sz="1050" dirty="0"/>
          </a:p>
        </p:txBody>
      </p:sp>
      <p:sp>
        <p:nvSpPr>
          <p:cNvPr id="13" name="Shape 10"/>
          <p:cNvSpPr/>
          <p:nvPr/>
        </p:nvSpPr>
        <p:spPr>
          <a:xfrm>
            <a:off x="8183880" y="2011680"/>
            <a:ext cx="1783080" cy="1508760"/>
          </a:xfrm>
          <a:prstGeom prst="roundRect">
            <a:avLst>
              <a:gd name="adj" fmla="val 6061"/>
            </a:avLst>
          </a:prstGeom>
          <a:solidFill>
            <a:srgbClr val="0B2E2B"/>
          </a:solidFill>
          <a:ln w="12700">
            <a:solidFill>
              <a:srgbClr val="0B2E2B"/>
            </a:solidFill>
            <a:prstDash val="solid"/>
          </a:ln>
        </p:spPr>
      </p:sp>
      <p:sp>
        <p:nvSpPr>
          <p:cNvPr id="14" name="Text 11"/>
          <p:cNvSpPr txBox="1"/>
          <p:nvPr/>
        </p:nvSpPr>
        <p:spPr>
          <a:xfrm>
            <a:off x="8183880" y="2084832"/>
            <a:ext cx="1783080" cy="36576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Controller</a:t>
            </a:r>
            <a:endParaRPr lang="en-US" sz="1400" dirty="0"/>
          </a:p>
        </p:txBody>
      </p:sp>
      <p:sp>
        <p:nvSpPr>
          <p:cNvPr id="5" name="Text 12"/>
          <p:cNvSpPr txBox="1"/>
          <p:nvPr/>
        </p:nvSpPr>
        <p:spPr>
          <a:xfrm>
            <a:off x="8229600" y="2450592"/>
            <a:ext cx="1691640" cy="1033272"/>
          </a:xfrm>
          <a:prstGeom prst="rect">
            <a:avLst/>
          </a:prstGeom>
          <a:noFill/>
        </p:spPr>
        <p:txBody>
          <a:bodyPr wrap="square" lIns="0" tIns="0" rIns="0" bIns="0" rtlCol="0" anchor="t"/>
          <a:lstStyle/>
          <a:p>
            <a:pPr marL="0" indent="0" algn="ctr">
              <a:buNone/>
            </a:pPr>
            <a:r>
              <a:rPr lang="en-US" sz="1050" dirty="0">
                <a:solidFill>
                  <a:srgbClr val="CDE8DF"/>
                </a:solidFill>
                <a:latin typeface="Courier New" panose="02070309020205020404" pitchFamily="34" charset="0"/>
                <a:ea typeface="Courier New" panose="02070309020205020404" pitchFamily="34" charset="-122"/>
                <a:cs typeface="Courier New" panose="02070309020205020404" pitchFamily="34" charset="-120"/>
              </a:rPr>
              <a:t>ROS 2 nodes</a:t>
            </a:r>
            <a:endParaRPr lang="en-US" sz="1050" dirty="0"/>
          </a:p>
          <a:p>
            <a:pPr marL="0" indent="0" algn="ctr">
              <a:buNone/>
            </a:pPr>
            <a:r>
              <a:rPr lang="en-US" sz="1050" dirty="0">
                <a:solidFill>
                  <a:srgbClr val="CDE8DF"/>
                </a:solidFill>
                <a:latin typeface="Courier New" panose="02070309020205020404" pitchFamily="34" charset="0"/>
                <a:ea typeface="Courier New" panose="02070309020205020404" pitchFamily="34" charset="-122"/>
                <a:cs typeface="Courier New" panose="02070309020205020404" pitchFamily="34" charset="-120"/>
              </a:rPr>
              <a:t>perception → action</a:t>
            </a:r>
            <a:endParaRPr lang="en-US" sz="1050" dirty="0"/>
          </a:p>
        </p:txBody>
      </p:sp>
      <p:sp>
        <p:nvSpPr>
          <p:cNvPr id="16" name="Shape 13"/>
          <p:cNvSpPr/>
          <p:nvPr/>
        </p:nvSpPr>
        <p:spPr>
          <a:xfrm>
            <a:off x="10058400" y="1554480"/>
            <a:ext cx="1581912" cy="1005840"/>
          </a:xfrm>
          <a:prstGeom prst="roundRect">
            <a:avLst>
              <a:gd name="adj" fmla="val 9091"/>
            </a:avLst>
          </a:prstGeom>
          <a:solidFill>
            <a:srgbClr val="14776B"/>
          </a:solidFill>
          <a:ln w="12700">
            <a:solidFill>
              <a:srgbClr val="14776B"/>
            </a:solidFill>
            <a:prstDash val="solid"/>
          </a:ln>
        </p:spPr>
      </p:sp>
      <p:sp>
        <p:nvSpPr>
          <p:cNvPr id="17" name="Text 14"/>
          <p:cNvSpPr txBox="1"/>
          <p:nvPr/>
        </p:nvSpPr>
        <p:spPr>
          <a:xfrm>
            <a:off x="10058400" y="1627632"/>
            <a:ext cx="1581912" cy="36576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Drive base</a:t>
            </a:r>
            <a:endParaRPr lang="en-US" sz="1400" dirty="0"/>
          </a:p>
        </p:txBody>
      </p:sp>
      <p:sp>
        <p:nvSpPr>
          <p:cNvPr id="18" name="Text 15"/>
          <p:cNvSpPr txBox="1"/>
          <p:nvPr/>
        </p:nvSpPr>
        <p:spPr>
          <a:xfrm>
            <a:off x="10104120" y="1993392"/>
            <a:ext cx="1490472" cy="530352"/>
          </a:xfrm>
          <a:prstGeom prst="rect">
            <a:avLst/>
          </a:prstGeom>
          <a:noFill/>
        </p:spPr>
        <p:txBody>
          <a:bodyPr wrap="square" lIns="0" tIns="0" rIns="0" bIns="0" rtlCol="0" anchor="t"/>
          <a:lstStyle/>
          <a:p>
            <a:pPr marL="0" indent="0" algn="ctr">
              <a:buNone/>
            </a:pPr>
            <a:r>
              <a:rPr lang="en-US" sz="1050" dirty="0">
                <a:solidFill>
                  <a:srgbClr val="CDE8DF"/>
                </a:solidFill>
                <a:latin typeface="Courier New" panose="02070309020205020404" pitchFamily="34" charset="0"/>
                <a:ea typeface="Courier New" panose="02070309020205020404" pitchFamily="34" charset="-122"/>
                <a:cs typeface="Courier New" panose="02070309020205020404" pitchFamily="34" charset="-120"/>
              </a:rPr>
              <a:t>/cmd_vel</a:t>
            </a:r>
            <a:endParaRPr lang="en-US" sz="1050" dirty="0"/>
          </a:p>
        </p:txBody>
      </p:sp>
      <p:sp>
        <p:nvSpPr>
          <p:cNvPr id="19" name="Shape 16"/>
          <p:cNvSpPr/>
          <p:nvPr/>
        </p:nvSpPr>
        <p:spPr>
          <a:xfrm>
            <a:off x="10058400" y="2880360"/>
            <a:ext cx="1581912" cy="1005840"/>
          </a:xfrm>
          <a:prstGeom prst="roundRect">
            <a:avLst>
              <a:gd name="adj" fmla="val 9091"/>
            </a:avLst>
          </a:prstGeom>
          <a:solidFill>
            <a:srgbClr val="14776B"/>
          </a:solidFill>
          <a:ln w="12700">
            <a:solidFill>
              <a:srgbClr val="14776B"/>
            </a:solidFill>
            <a:prstDash val="solid"/>
          </a:ln>
        </p:spPr>
      </p:sp>
      <p:sp>
        <p:nvSpPr>
          <p:cNvPr id="20" name="Text 17"/>
          <p:cNvSpPr txBox="1"/>
          <p:nvPr/>
        </p:nvSpPr>
        <p:spPr>
          <a:xfrm>
            <a:off x="10058400" y="2953512"/>
            <a:ext cx="1581912" cy="36576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Arm + gripper</a:t>
            </a:r>
            <a:endParaRPr lang="en-US" sz="1400" dirty="0"/>
          </a:p>
        </p:txBody>
      </p:sp>
      <p:sp>
        <p:nvSpPr>
          <p:cNvPr id="21" name="Text 18"/>
          <p:cNvSpPr txBox="1"/>
          <p:nvPr/>
        </p:nvSpPr>
        <p:spPr>
          <a:xfrm>
            <a:off x="10104120" y="3319272"/>
            <a:ext cx="1490472" cy="530352"/>
          </a:xfrm>
          <a:prstGeom prst="rect">
            <a:avLst/>
          </a:prstGeom>
          <a:noFill/>
        </p:spPr>
        <p:txBody>
          <a:bodyPr wrap="square" lIns="0" tIns="0" rIns="0" bIns="0" rtlCol="0" anchor="t"/>
          <a:lstStyle/>
          <a:p>
            <a:pPr marL="0" indent="0" algn="ctr">
              <a:buNone/>
            </a:pPr>
            <a:r>
              <a:rPr lang="en-US" sz="1050" dirty="0">
                <a:solidFill>
                  <a:srgbClr val="CDE8DF"/>
                </a:solidFill>
                <a:latin typeface="Courier New" panose="02070309020205020404" pitchFamily="34" charset="0"/>
                <a:ea typeface="Courier New" panose="02070309020205020404" pitchFamily="34" charset="-122"/>
                <a:cs typeface="Courier New" panose="02070309020205020404" pitchFamily="34" charset="-120"/>
              </a:rPr>
              <a:t>/set_joint_</a:t>
            </a:r>
            <a:endParaRPr lang="en-US" sz="1050" dirty="0"/>
          </a:p>
          <a:p>
            <a:pPr marL="0" indent="0" algn="ctr">
              <a:buNone/>
            </a:pPr>
            <a:r>
              <a:rPr lang="en-US" sz="1050" dirty="0">
                <a:solidFill>
                  <a:srgbClr val="CDE8DF"/>
                </a:solidFill>
                <a:latin typeface="Courier New" panose="02070309020205020404" pitchFamily="34" charset="0"/>
                <a:ea typeface="Courier New" panose="02070309020205020404" pitchFamily="34" charset="-122"/>
                <a:cs typeface="Courier New" panose="02070309020205020404" pitchFamily="34" charset="-120"/>
              </a:rPr>
              <a:t>trajectory</a:t>
            </a:r>
            <a:endParaRPr lang="en-US" sz="1050" dirty="0"/>
          </a:p>
        </p:txBody>
      </p:sp>
      <p:sp>
        <p:nvSpPr>
          <p:cNvPr id="22" name="Shape 19"/>
          <p:cNvSpPr/>
          <p:nvPr/>
        </p:nvSpPr>
        <p:spPr>
          <a:xfrm>
            <a:off x="8183880" y="4526280"/>
            <a:ext cx="3456432" cy="1005840"/>
          </a:xfrm>
          <a:prstGeom prst="roundRect">
            <a:avLst>
              <a:gd name="adj" fmla="val 9091"/>
            </a:avLst>
          </a:prstGeom>
          <a:solidFill>
            <a:srgbClr val="EAF4F0"/>
          </a:solidFill>
          <a:ln w="12700">
            <a:solidFill>
              <a:srgbClr val="EAF4F0"/>
            </a:solidFill>
            <a:prstDash val="solid"/>
          </a:ln>
        </p:spPr>
      </p:sp>
      <p:sp>
        <p:nvSpPr>
          <p:cNvPr id="23" name="Text 20"/>
          <p:cNvSpPr txBox="1"/>
          <p:nvPr/>
        </p:nvSpPr>
        <p:spPr>
          <a:xfrm>
            <a:off x="8183880" y="4599432"/>
            <a:ext cx="3456432" cy="365760"/>
          </a:xfrm>
          <a:prstGeom prst="rect">
            <a:avLst/>
          </a:prstGeom>
          <a:noFill/>
        </p:spPr>
        <p:txBody>
          <a:bodyPr wrap="square" lIns="0" tIns="0" rIns="0" bIns="0" rtlCol="0" anchor="ctr"/>
          <a:lstStyle/>
          <a:p>
            <a:pPr marL="0" indent="0" algn="ctr">
              <a:buNone/>
            </a:pPr>
            <a:r>
              <a:rPr lang="en-US" sz="1400" b="1" dirty="0">
                <a:solidFill>
                  <a:srgbClr val="0B2E2B"/>
                </a:solidFill>
                <a:latin typeface="Calibri" panose="020F0502020204030204" pitchFamily="34" charset="0"/>
                <a:ea typeface="Calibri" panose="020F0502020204030204" pitchFamily="34" charset="-122"/>
                <a:cs typeface="Calibri" panose="020F0502020204030204" pitchFamily="34" charset="-120"/>
              </a:rPr>
              <a:t>Feedback</a:t>
            </a:r>
            <a:endParaRPr lang="en-US" sz="1400" dirty="0"/>
          </a:p>
        </p:txBody>
      </p:sp>
      <p:sp>
        <p:nvSpPr>
          <p:cNvPr id="24" name="Text 21"/>
          <p:cNvSpPr txBox="1"/>
          <p:nvPr/>
        </p:nvSpPr>
        <p:spPr>
          <a:xfrm>
            <a:off x="8229600" y="4965192"/>
            <a:ext cx="3364992" cy="530352"/>
          </a:xfrm>
          <a:prstGeom prst="rect">
            <a:avLst/>
          </a:prstGeom>
          <a:noFill/>
        </p:spPr>
        <p:txBody>
          <a:bodyPr wrap="square" lIns="0" tIns="0" rIns="0" bIns="0" rtlCol="0" anchor="t"/>
          <a:lstStyle/>
          <a:p>
            <a:pPr marL="0" indent="0" algn="ctr">
              <a:buNone/>
            </a:pPr>
            <a:r>
              <a:rPr lang="en-US" sz="1050" dirty="0">
                <a:solidFill>
                  <a:srgbClr val="14776B"/>
                </a:solidFill>
                <a:latin typeface="Courier New" panose="02070309020205020404" pitchFamily="34" charset="0"/>
                <a:ea typeface="Courier New" panose="02070309020205020404" pitchFamily="34" charset="-122"/>
                <a:cs typeface="Courier New" panose="02070309020205020404" pitchFamily="34" charset="-120"/>
              </a:rPr>
              <a:t>/joint_states   /odom</a:t>
            </a:r>
            <a:endParaRPr lang="en-US" sz="1050" dirty="0"/>
          </a:p>
        </p:txBody>
      </p:sp>
      <p:sp>
        <p:nvSpPr>
          <p:cNvPr id="25" name="Shape 22"/>
          <p:cNvSpPr/>
          <p:nvPr/>
        </p:nvSpPr>
        <p:spPr>
          <a:xfrm>
            <a:off x="7726680" y="2057400"/>
            <a:ext cx="457200" cy="411480"/>
          </a:xfrm>
          <a:prstGeom prst="line">
            <a:avLst/>
          </a:prstGeom>
          <a:noFill/>
          <a:ln w="28575">
            <a:solidFill>
              <a:srgbClr val="F2A93B"/>
            </a:solidFill>
            <a:prstDash val="solid"/>
            <a:tailEnd type="triangle"/>
          </a:ln>
        </p:spPr>
      </p:sp>
      <p:sp>
        <p:nvSpPr>
          <p:cNvPr id="26" name="Shape 23"/>
          <p:cNvSpPr/>
          <p:nvPr/>
        </p:nvSpPr>
        <p:spPr>
          <a:xfrm flipV="1">
            <a:off x="7726680" y="3063240"/>
            <a:ext cx="457200" cy="320040"/>
          </a:xfrm>
          <a:prstGeom prst="line">
            <a:avLst/>
          </a:prstGeom>
          <a:noFill/>
          <a:ln w="28575">
            <a:solidFill>
              <a:srgbClr val="F2A93B"/>
            </a:solidFill>
            <a:prstDash val="solid"/>
            <a:tailEnd type="triangle"/>
          </a:ln>
        </p:spPr>
      </p:sp>
      <p:sp>
        <p:nvSpPr>
          <p:cNvPr id="27" name="Shape 24"/>
          <p:cNvSpPr/>
          <p:nvPr/>
        </p:nvSpPr>
        <p:spPr>
          <a:xfrm flipV="1">
            <a:off x="9966960" y="2057400"/>
            <a:ext cx="91440" cy="411480"/>
          </a:xfrm>
          <a:prstGeom prst="line">
            <a:avLst/>
          </a:prstGeom>
          <a:noFill/>
          <a:ln w="28575">
            <a:solidFill>
              <a:srgbClr val="F2A93B"/>
            </a:solidFill>
            <a:prstDash val="solid"/>
            <a:tailEnd type="triangle"/>
          </a:ln>
        </p:spPr>
      </p:sp>
      <p:sp>
        <p:nvSpPr>
          <p:cNvPr id="28" name="Shape 25"/>
          <p:cNvSpPr/>
          <p:nvPr/>
        </p:nvSpPr>
        <p:spPr>
          <a:xfrm>
            <a:off x="9966960" y="3063240"/>
            <a:ext cx="91440" cy="320040"/>
          </a:xfrm>
          <a:prstGeom prst="line">
            <a:avLst/>
          </a:prstGeom>
          <a:noFill/>
          <a:ln w="28575">
            <a:solidFill>
              <a:srgbClr val="F2A93B"/>
            </a:solidFill>
            <a:prstDash val="solid"/>
            <a:tailEnd type="triangle"/>
          </a:ln>
        </p:spPr>
      </p:sp>
      <p:sp>
        <p:nvSpPr>
          <p:cNvPr id="29" name="Shape 26"/>
          <p:cNvSpPr/>
          <p:nvPr/>
        </p:nvSpPr>
        <p:spPr>
          <a:xfrm flipV="1">
            <a:off x="9075420" y="3520440"/>
            <a:ext cx="0" cy="1005840"/>
          </a:xfrm>
          <a:prstGeom prst="line">
            <a:avLst/>
          </a:prstGeom>
          <a:noFill/>
          <a:ln w="28575">
            <a:solidFill>
              <a:srgbClr val="F2A93B"/>
            </a:solidFill>
            <a:prstDash val="solid"/>
            <a:tailEnd type="triangle"/>
          </a:ln>
        </p:spPr>
      </p:sp>
      <p:sp>
        <p:nvSpPr>
          <p:cNvPr id="30" name="Text 27"/>
          <p:cNvSpPr txBox="1"/>
          <p:nvPr/>
        </p:nvSpPr>
        <p:spPr>
          <a:xfrm>
            <a:off x="5943600" y="4023360"/>
            <a:ext cx="1783080" cy="274320"/>
          </a:xfrm>
          <a:prstGeom prst="rect">
            <a:avLst/>
          </a:prstGeom>
          <a:noFill/>
        </p:spPr>
        <p:txBody>
          <a:bodyPr wrap="square" lIns="0" tIns="0" rIns="0" bIns="0" rtlCol="0" anchor="ctr"/>
          <a:lstStyle/>
          <a:p>
            <a:pPr marL="0" indent="0" algn="ctr">
              <a:buNone/>
            </a:pPr>
            <a:r>
              <a:rPr lang="en-US" sz="1100" dirty="0">
                <a:solidFill>
                  <a:srgbClr val="5A6E6A"/>
                </a:solidFill>
                <a:latin typeface="Calibri" panose="020F0502020204030204" pitchFamily="34" charset="0"/>
                <a:ea typeface="Calibri" panose="020F0502020204030204" pitchFamily="34" charset="-122"/>
                <a:cs typeface="Calibri" panose="020F0502020204030204" pitchFamily="34" charset="-120"/>
              </a:rPr>
              <a:t>Sensors</a:t>
            </a:r>
            <a:endParaRPr lang="en-US" sz="1100" dirty="0"/>
          </a:p>
        </p:txBody>
      </p:sp>
      <p:sp>
        <p:nvSpPr>
          <p:cNvPr id="31" name="Text 28"/>
          <p:cNvSpPr txBox="1"/>
          <p:nvPr/>
        </p:nvSpPr>
        <p:spPr>
          <a:xfrm>
            <a:off x="10058400" y="4023360"/>
            <a:ext cx="1581912" cy="274320"/>
          </a:xfrm>
          <a:prstGeom prst="rect">
            <a:avLst/>
          </a:prstGeom>
          <a:noFill/>
        </p:spPr>
        <p:txBody>
          <a:bodyPr wrap="square" lIns="0" tIns="0" rIns="0" bIns="0" rtlCol="0" anchor="ctr"/>
          <a:lstStyle/>
          <a:p>
            <a:pPr marL="0" indent="0" algn="ctr">
              <a:buNone/>
            </a:pPr>
            <a:r>
              <a:rPr lang="en-US" sz="1100" dirty="0">
                <a:solidFill>
                  <a:srgbClr val="5A6E6A"/>
                </a:solidFill>
                <a:latin typeface="Calibri" panose="020F0502020204030204" pitchFamily="34" charset="0"/>
                <a:ea typeface="Calibri" panose="020F0502020204030204" pitchFamily="34" charset="-122"/>
                <a:cs typeface="Calibri" panose="020F0502020204030204" pitchFamily="34" charset="-120"/>
              </a:rPr>
              <a:t>Actuators</a:t>
            </a:r>
            <a:endParaRPr lang="en-US" sz="1100" dirty="0"/>
          </a:p>
        </p:txBody>
      </p:sp>
      <p:sp>
        <p:nvSpPr>
          <p:cNvPr id="32"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RESULTS AND DISCUSSION</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Experimental Setup and Trash Detection</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548640" y="1463040"/>
            <a:ext cx="7086600" cy="4160520"/>
          </a:xfrm>
          <a:prstGeom prst="roundRect">
            <a:avLst>
              <a:gd name="adj" fmla="val 2637"/>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6" name="Image 0" descr="detect.png"/>
          <p:cNvPicPr>
            <a:picLocks noChangeAspect="1"/>
          </p:cNvPicPr>
          <p:nvPr/>
        </p:nvPicPr>
        <p:blipFill>
          <a:blip r:embed="rId1"/>
          <a:stretch>
            <a:fillRect/>
          </a:stretch>
        </p:blipFill>
        <p:spPr>
          <a:xfrm>
            <a:off x="658368" y="1610889"/>
            <a:ext cx="6867144" cy="3864822"/>
          </a:xfrm>
          <a:prstGeom prst="rect">
            <a:avLst/>
          </a:prstGeom>
        </p:spPr>
      </p:pic>
      <p:sp>
        <p:nvSpPr>
          <p:cNvPr id="7" name="Text 4"/>
          <p:cNvSpPr txBox="1"/>
          <p:nvPr/>
        </p:nvSpPr>
        <p:spPr>
          <a:xfrm>
            <a:off x="548640" y="5760720"/>
            <a:ext cx="7086600" cy="274320"/>
          </a:xfrm>
          <a:prstGeom prst="rect">
            <a:avLst/>
          </a:prstGeom>
          <a:noFill/>
        </p:spPr>
        <p:txBody>
          <a:bodyPr wrap="square" lIns="0" tIns="0" rIns="0" bIns="0" rtlCol="0" anchor="ctr"/>
          <a:lstStyle/>
          <a:p>
            <a:pPr marL="0" indent="0" algn="ctr">
              <a:buNone/>
            </a:pPr>
            <a:r>
              <a:rPr lang="en-US" sz="1200" i="1" dirty="0">
                <a:solidFill>
                  <a:srgbClr val="5A6E6A"/>
                </a:solidFill>
                <a:latin typeface="Calibri" panose="020F0502020204030204" pitchFamily="34" charset="0"/>
                <a:ea typeface="Calibri" panose="020F0502020204030204" pitchFamily="34" charset="-122"/>
                <a:cs typeface="Calibri" panose="020F0502020204030204" pitchFamily="34" charset="-120"/>
              </a:rPr>
              <a:t>Camera-based detection output in Gazebo Classic</a:t>
            </a:r>
            <a:endParaRPr lang="en-US" sz="1200" dirty="0"/>
          </a:p>
        </p:txBody>
      </p:sp>
      <p:sp>
        <p:nvSpPr>
          <p:cNvPr id="8" name="Shape 5"/>
          <p:cNvSpPr/>
          <p:nvPr/>
        </p:nvSpPr>
        <p:spPr>
          <a:xfrm>
            <a:off x="7909560" y="1463040"/>
            <a:ext cx="3730752" cy="2011680"/>
          </a:xfrm>
          <a:prstGeom prst="roundRect">
            <a:avLst>
              <a:gd name="adj" fmla="val 5455"/>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9" name="Shape 6"/>
          <p:cNvSpPr/>
          <p:nvPr/>
        </p:nvSpPr>
        <p:spPr>
          <a:xfrm>
            <a:off x="8138160" y="1664208"/>
            <a:ext cx="457200" cy="457200"/>
          </a:xfrm>
          <a:prstGeom prst="ellipse">
            <a:avLst/>
          </a:prstGeom>
          <a:solidFill>
            <a:srgbClr val="14776B"/>
          </a:solidFill>
          <a:ln w="12700">
            <a:solidFill>
              <a:srgbClr val="14776B"/>
            </a:solidFill>
            <a:prstDash val="solid"/>
          </a:ln>
        </p:spPr>
      </p:sp>
      <p:pic>
        <p:nvPicPr>
          <p:cNvPr id="10" name="Image 1" descr="preencoded.png"/>
          <p:cNvPicPr>
            <a:picLocks noChangeAspect="1"/>
          </p:cNvPicPr>
          <p:nvPr/>
        </p:nvPicPr>
        <p:blipFill>
          <a:blip r:embed="rId2"/>
          <a:stretch>
            <a:fillRect/>
          </a:stretch>
        </p:blipFill>
        <p:spPr>
          <a:xfrm>
            <a:off x="8261604" y="1787652"/>
            <a:ext cx="210312" cy="210312"/>
          </a:xfrm>
          <a:prstGeom prst="rect">
            <a:avLst/>
          </a:prstGeom>
        </p:spPr>
      </p:pic>
      <p:sp>
        <p:nvSpPr>
          <p:cNvPr id="11" name="Text 7"/>
          <p:cNvSpPr txBox="1"/>
          <p:nvPr/>
        </p:nvSpPr>
        <p:spPr>
          <a:xfrm>
            <a:off x="8732520" y="1664208"/>
            <a:ext cx="2743200" cy="457200"/>
          </a:xfrm>
          <a:prstGeom prst="rect">
            <a:avLst/>
          </a:prstGeom>
          <a:noFill/>
        </p:spPr>
        <p:txBody>
          <a:bodyPr wrap="square" lIns="0" tIns="0" rIns="0" bIns="0" rtlCol="0" anchor="ctr"/>
          <a:lstStyle/>
          <a:p>
            <a:pPr marL="0" indent="0">
              <a:buNone/>
            </a:pPr>
            <a:r>
              <a:rPr lang="en-US" sz="1600" b="1" dirty="0">
                <a:solidFill>
                  <a:srgbClr val="0B2E2B"/>
                </a:solidFill>
                <a:latin typeface="Cambria" panose="02040503050406030204" pitchFamily="34" charset="0"/>
                <a:ea typeface="Cambria" panose="02040503050406030204" pitchFamily="34" charset="-122"/>
                <a:cs typeface="Cambria" panose="02040503050406030204" pitchFamily="34" charset="-120"/>
              </a:rPr>
              <a:t>Experimental setup</a:t>
            </a:r>
            <a:endParaRPr lang="en-US" sz="1600" dirty="0"/>
          </a:p>
        </p:txBody>
      </p:sp>
      <p:sp>
        <p:nvSpPr>
          <p:cNvPr id="12" name="Text 8"/>
          <p:cNvSpPr txBox="1"/>
          <p:nvPr/>
        </p:nvSpPr>
        <p:spPr>
          <a:xfrm>
            <a:off x="8138160" y="2240280"/>
            <a:ext cx="3337560" cy="1143000"/>
          </a:xfrm>
          <a:prstGeom prst="rect">
            <a:avLst/>
          </a:prstGeom>
          <a:noFill/>
        </p:spPr>
        <p:txBody>
          <a:bodyPr wrap="square" lIns="0" tIns="0" rIns="0" bIns="0" rtlCol="0" anchor="t"/>
          <a:lstStyle/>
          <a:p>
            <a:pPr marL="177800" indent="-177800">
              <a:spcAft>
                <a:spcPts val="300"/>
              </a:spcAft>
              <a:buSzPct val="100000"/>
              <a:buChar char="•"/>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Gazebo Classic with the developed robot model</a:t>
            </a:r>
            <a:endParaRPr lang="en-US" sz="1250" dirty="0"/>
          </a:p>
          <a:p>
            <a:pPr marL="177800" indent="-177800">
              <a:spcAft>
                <a:spcPts val="300"/>
              </a:spcAft>
              <a:buSzPct val="100000"/>
              <a:buChar char="•"/>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Waste objects placed at different locations</a:t>
            </a:r>
            <a:endParaRPr lang="en-US" sz="1250" dirty="0"/>
          </a:p>
          <a:p>
            <a:pPr marL="177800" indent="-177800">
              <a:spcAft>
                <a:spcPts val="300"/>
              </a:spcAft>
              <a:buSzPct val="100000"/>
              <a:buChar char="•"/>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Camera, LiDAR, ROS 2 and arm monitored</a:t>
            </a:r>
            <a:endParaRPr lang="en-US" sz="1250" dirty="0"/>
          </a:p>
        </p:txBody>
      </p:sp>
      <p:sp>
        <p:nvSpPr>
          <p:cNvPr id="13" name="Shape 9"/>
          <p:cNvSpPr/>
          <p:nvPr/>
        </p:nvSpPr>
        <p:spPr>
          <a:xfrm>
            <a:off x="7909560" y="3657600"/>
            <a:ext cx="3730752" cy="2423160"/>
          </a:xfrm>
          <a:prstGeom prst="roundRect">
            <a:avLst>
              <a:gd name="adj" fmla="val 4528"/>
            </a:avLst>
          </a:prstGeom>
          <a:solidFill>
            <a:srgbClr val="0B2E2B"/>
          </a:solidFill>
          <a:ln w="12700">
            <a:solidFill>
              <a:srgbClr val="0B2E2B"/>
            </a:solidFill>
            <a:prstDash val="solid"/>
          </a:ln>
        </p:spPr>
      </p:sp>
      <p:sp>
        <p:nvSpPr>
          <p:cNvPr id="14" name="Shape 10"/>
          <p:cNvSpPr/>
          <p:nvPr/>
        </p:nvSpPr>
        <p:spPr>
          <a:xfrm>
            <a:off x="8138160" y="3858768"/>
            <a:ext cx="457200" cy="457200"/>
          </a:xfrm>
          <a:prstGeom prst="ellipse">
            <a:avLst/>
          </a:prstGeom>
          <a:solidFill>
            <a:srgbClr val="F2A93B"/>
          </a:solidFill>
          <a:ln w="12700">
            <a:solidFill>
              <a:srgbClr val="F2A93B"/>
            </a:solidFill>
            <a:prstDash val="solid"/>
          </a:ln>
        </p:spPr>
      </p:sp>
      <p:pic>
        <p:nvPicPr>
          <p:cNvPr id="15" name="Image 2" descr="preencoded.png"/>
          <p:cNvPicPr>
            <a:picLocks noChangeAspect="1"/>
          </p:cNvPicPr>
          <p:nvPr/>
        </p:nvPicPr>
        <p:blipFill>
          <a:blip r:embed="rId3"/>
          <a:stretch>
            <a:fillRect/>
          </a:stretch>
        </p:blipFill>
        <p:spPr>
          <a:xfrm>
            <a:off x="8261604" y="3982212"/>
            <a:ext cx="210312" cy="210312"/>
          </a:xfrm>
          <a:prstGeom prst="rect">
            <a:avLst/>
          </a:prstGeom>
        </p:spPr>
      </p:pic>
      <p:sp>
        <p:nvSpPr>
          <p:cNvPr id="16" name="Text 11"/>
          <p:cNvSpPr txBox="1"/>
          <p:nvPr/>
        </p:nvSpPr>
        <p:spPr>
          <a:xfrm>
            <a:off x="8732520" y="3858768"/>
            <a:ext cx="2743200" cy="457200"/>
          </a:xfrm>
          <a:prstGeom prst="rect">
            <a:avLst/>
          </a:prstGeom>
          <a:noFill/>
        </p:spPr>
        <p:txBody>
          <a:bodyPr wrap="square" lIns="0" tIns="0" rIns="0" bIns="0" rtlCol="0" anchor="ctr"/>
          <a:lstStyle/>
          <a:p>
            <a:pPr marL="0" indent="0">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Observation</a:t>
            </a:r>
            <a:endParaRPr lang="en-US" sz="1600" dirty="0"/>
          </a:p>
        </p:txBody>
      </p:sp>
      <p:sp>
        <p:nvSpPr>
          <p:cNvPr id="17" name="Text 12"/>
          <p:cNvSpPr txBox="1"/>
          <p:nvPr/>
        </p:nvSpPr>
        <p:spPr>
          <a:xfrm>
            <a:off x="8138160" y="4434840"/>
            <a:ext cx="3337560" cy="1554480"/>
          </a:xfrm>
          <a:prstGeom prst="rect">
            <a:avLst/>
          </a:prstGeom>
          <a:noFill/>
        </p:spPr>
        <p:txBody>
          <a:bodyPr wrap="square" lIns="0" tIns="0" rIns="0" bIns="0" rtlCol="0" anchor="t"/>
          <a:lstStyle/>
          <a:p>
            <a:pPr marL="0" indent="0">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The vision module separates target waste from other objects (labels such as trash 0.87, box 0.82, ball 0.76) and passes the result to the ROS 2 controller, which steers the robot toward the target.</a:t>
            </a:r>
            <a:endParaRPr lang="en-US" sz="1250" dirty="0"/>
          </a:p>
        </p:txBody>
      </p:sp>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RESULTS AND DISCUSSION</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Collection Sequence: Search to Approach</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548640" y="1508760"/>
            <a:ext cx="3566160" cy="310896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6" name="Image 0" descr="seq0.png"/>
          <p:cNvPicPr>
            <a:picLocks noChangeAspect="1"/>
          </p:cNvPicPr>
          <p:nvPr/>
        </p:nvPicPr>
        <p:blipFill>
          <a:blip r:embed="rId1"/>
          <a:stretch>
            <a:fillRect/>
          </a:stretch>
        </p:blipFill>
        <p:spPr>
          <a:xfrm>
            <a:off x="640080" y="1627705"/>
            <a:ext cx="3383280" cy="2871070"/>
          </a:xfrm>
          <a:prstGeom prst="rect">
            <a:avLst/>
          </a:prstGeom>
        </p:spPr>
      </p:pic>
      <p:sp>
        <p:nvSpPr>
          <p:cNvPr id="7" name="Shape 4"/>
          <p:cNvSpPr/>
          <p:nvPr/>
        </p:nvSpPr>
        <p:spPr>
          <a:xfrm>
            <a:off x="640080" y="4846320"/>
            <a:ext cx="502920" cy="502920"/>
          </a:xfrm>
          <a:prstGeom prst="ellipse">
            <a:avLst/>
          </a:prstGeom>
          <a:solidFill>
            <a:srgbClr val="14776B"/>
          </a:solidFill>
          <a:ln w="12700">
            <a:solidFill>
              <a:srgbClr val="14776B"/>
            </a:solidFill>
            <a:prstDash val="solid"/>
          </a:ln>
        </p:spPr>
      </p:sp>
      <p:sp>
        <p:nvSpPr>
          <p:cNvPr id="8" name="Text 5"/>
          <p:cNvSpPr txBox="1"/>
          <p:nvPr/>
        </p:nvSpPr>
        <p:spPr>
          <a:xfrm>
            <a:off x="640080" y="4846320"/>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500" dirty="0"/>
          </a:p>
        </p:txBody>
      </p:sp>
      <p:sp>
        <p:nvSpPr>
          <p:cNvPr id="9" name="Text 6"/>
          <p:cNvSpPr txBox="1"/>
          <p:nvPr/>
        </p:nvSpPr>
        <p:spPr>
          <a:xfrm>
            <a:off x="1280160" y="4846320"/>
            <a:ext cx="2743200" cy="502920"/>
          </a:xfrm>
          <a:prstGeom prst="rect">
            <a:avLst/>
          </a:prstGeom>
          <a:noFill/>
        </p:spPr>
        <p:txBody>
          <a:bodyPr wrap="square" lIns="0" tIns="0" rIns="0" bIns="0" rtlCol="0" anchor="ctr"/>
          <a:lstStyle/>
          <a:p>
            <a:pPr marL="0" indent="0">
              <a:buNone/>
            </a:pPr>
            <a:r>
              <a:rPr lang="en-US" sz="1900" b="1" dirty="0">
                <a:solidFill>
                  <a:srgbClr val="0B2E2B"/>
                </a:solidFill>
                <a:latin typeface="Cambria" panose="02040503050406030204" pitchFamily="34" charset="0"/>
                <a:ea typeface="Cambria" panose="02040503050406030204" pitchFamily="34" charset="-122"/>
                <a:cs typeface="Cambria" panose="02040503050406030204" pitchFamily="34" charset="-120"/>
              </a:rPr>
              <a:t>Search</a:t>
            </a:r>
            <a:endParaRPr lang="en-US" sz="1900" dirty="0"/>
          </a:p>
        </p:txBody>
      </p:sp>
      <p:sp>
        <p:nvSpPr>
          <p:cNvPr id="10" name="Text 7"/>
          <p:cNvSpPr txBox="1"/>
          <p:nvPr/>
        </p:nvSpPr>
        <p:spPr>
          <a:xfrm>
            <a:off x="640080" y="5468112"/>
            <a:ext cx="3383280" cy="685800"/>
          </a:xfrm>
          <a:prstGeom prst="rect">
            <a:avLst/>
          </a:prstGeom>
          <a:noFill/>
        </p:spPr>
        <p:txBody>
          <a:bodyPr wrap="square" lIns="0" tIns="0" rIns="0" bIns="0" rtlCol="0" anchor="t"/>
          <a:lstStyle/>
          <a:p>
            <a:pPr marL="0" indent="0">
              <a:buNone/>
            </a:pPr>
            <a:r>
              <a:rPr lang="en-US" sz="1350" dirty="0">
                <a:solidFill>
                  <a:srgbClr val="1E2B2A"/>
                </a:solidFill>
                <a:latin typeface="Calibri" panose="020F0502020204030204" pitchFamily="34" charset="0"/>
                <a:ea typeface="Calibri" panose="020F0502020204030204" pitchFamily="34" charset="-122"/>
                <a:cs typeface="Calibri" panose="020F0502020204030204" pitchFamily="34" charset="-120"/>
              </a:rPr>
              <a:t>The robot scans the environment with its onboard sensors.</a:t>
            </a:r>
            <a:endParaRPr lang="en-US" sz="1350" dirty="0"/>
          </a:p>
        </p:txBody>
      </p:sp>
      <p:sp>
        <p:nvSpPr>
          <p:cNvPr id="11" name="Shape 8"/>
          <p:cNvSpPr/>
          <p:nvPr/>
        </p:nvSpPr>
        <p:spPr>
          <a:xfrm>
            <a:off x="4311396" y="1508760"/>
            <a:ext cx="3566160" cy="310896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12" name="Image 1" descr="seq1.png"/>
          <p:cNvPicPr>
            <a:picLocks noChangeAspect="1"/>
          </p:cNvPicPr>
          <p:nvPr/>
        </p:nvPicPr>
        <p:blipFill>
          <a:blip r:embed="rId2"/>
          <a:stretch>
            <a:fillRect/>
          </a:stretch>
        </p:blipFill>
        <p:spPr>
          <a:xfrm>
            <a:off x="4402836" y="1619074"/>
            <a:ext cx="3383280" cy="2888331"/>
          </a:xfrm>
          <a:prstGeom prst="rect">
            <a:avLst/>
          </a:prstGeom>
        </p:spPr>
      </p:pic>
      <p:sp>
        <p:nvSpPr>
          <p:cNvPr id="13" name="Shape 9"/>
          <p:cNvSpPr/>
          <p:nvPr/>
        </p:nvSpPr>
        <p:spPr>
          <a:xfrm>
            <a:off x="4402836" y="4846320"/>
            <a:ext cx="502920" cy="502920"/>
          </a:xfrm>
          <a:prstGeom prst="ellipse">
            <a:avLst/>
          </a:prstGeom>
          <a:solidFill>
            <a:srgbClr val="14776B"/>
          </a:solidFill>
          <a:ln w="12700">
            <a:solidFill>
              <a:srgbClr val="14776B"/>
            </a:solidFill>
            <a:prstDash val="solid"/>
          </a:ln>
        </p:spPr>
      </p:sp>
      <p:sp>
        <p:nvSpPr>
          <p:cNvPr id="14" name="Text 10"/>
          <p:cNvSpPr txBox="1"/>
          <p:nvPr/>
        </p:nvSpPr>
        <p:spPr>
          <a:xfrm>
            <a:off x="4402836" y="4846320"/>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500" dirty="0"/>
          </a:p>
        </p:txBody>
      </p:sp>
      <p:sp>
        <p:nvSpPr>
          <p:cNvPr id="15" name="Text 11"/>
          <p:cNvSpPr txBox="1"/>
          <p:nvPr/>
        </p:nvSpPr>
        <p:spPr>
          <a:xfrm>
            <a:off x="5042916" y="4846320"/>
            <a:ext cx="2743200" cy="502920"/>
          </a:xfrm>
          <a:prstGeom prst="rect">
            <a:avLst/>
          </a:prstGeom>
          <a:noFill/>
        </p:spPr>
        <p:txBody>
          <a:bodyPr wrap="square" lIns="0" tIns="0" rIns="0" bIns="0" rtlCol="0" anchor="ctr"/>
          <a:lstStyle/>
          <a:p>
            <a:pPr marL="0" indent="0">
              <a:buNone/>
            </a:pPr>
            <a:r>
              <a:rPr lang="en-US" sz="1900" b="1" dirty="0">
                <a:solidFill>
                  <a:srgbClr val="0B2E2B"/>
                </a:solidFill>
                <a:latin typeface="Cambria" panose="02040503050406030204" pitchFamily="34" charset="0"/>
                <a:ea typeface="Cambria" panose="02040503050406030204" pitchFamily="34" charset="-122"/>
                <a:cs typeface="Cambria" panose="02040503050406030204" pitchFamily="34" charset="-120"/>
              </a:rPr>
              <a:t>Detect</a:t>
            </a:r>
            <a:endParaRPr lang="en-US" sz="1900" dirty="0"/>
          </a:p>
        </p:txBody>
      </p:sp>
      <p:sp>
        <p:nvSpPr>
          <p:cNvPr id="16" name="Text 12"/>
          <p:cNvSpPr txBox="1"/>
          <p:nvPr/>
        </p:nvSpPr>
        <p:spPr>
          <a:xfrm>
            <a:off x="4402836" y="5468112"/>
            <a:ext cx="3383280" cy="685800"/>
          </a:xfrm>
          <a:prstGeom prst="rect">
            <a:avLst/>
          </a:prstGeom>
          <a:noFill/>
        </p:spPr>
        <p:txBody>
          <a:bodyPr wrap="square" lIns="0" tIns="0" rIns="0" bIns="0" rtlCol="0" anchor="t"/>
          <a:lstStyle/>
          <a:p>
            <a:pPr marL="0" indent="0">
              <a:buNone/>
            </a:pPr>
            <a:r>
              <a:rPr lang="en-US" sz="1350" dirty="0">
                <a:solidFill>
                  <a:srgbClr val="1E2B2A"/>
                </a:solidFill>
                <a:latin typeface="Calibri" panose="020F0502020204030204" pitchFamily="34" charset="0"/>
                <a:ea typeface="Calibri" panose="020F0502020204030204" pitchFamily="34" charset="-122"/>
                <a:cs typeface="Calibri" panose="020F0502020204030204" pitchFamily="34" charset="-120"/>
              </a:rPr>
              <a:t>A target waste object is identified in the camera view.</a:t>
            </a:r>
            <a:endParaRPr lang="en-US" sz="1350" dirty="0"/>
          </a:p>
        </p:txBody>
      </p:sp>
      <p:sp>
        <p:nvSpPr>
          <p:cNvPr id="17" name="Shape 13"/>
          <p:cNvSpPr/>
          <p:nvPr/>
        </p:nvSpPr>
        <p:spPr>
          <a:xfrm>
            <a:off x="8074152" y="1508760"/>
            <a:ext cx="3566160" cy="310896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18" name="Image 2" descr="seq2.png"/>
          <p:cNvPicPr>
            <a:picLocks noChangeAspect="1"/>
          </p:cNvPicPr>
          <p:nvPr/>
        </p:nvPicPr>
        <p:blipFill>
          <a:blip r:embed="rId3"/>
          <a:stretch>
            <a:fillRect/>
          </a:stretch>
        </p:blipFill>
        <p:spPr>
          <a:xfrm>
            <a:off x="8165592" y="1610340"/>
            <a:ext cx="3383280" cy="2905801"/>
          </a:xfrm>
          <a:prstGeom prst="rect">
            <a:avLst/>
          </a:prstGeom>
        </p:spPr>
      </p:pic>
      <p:sp>
        <p:nvSpPr>
          <p:cNvPr id="19" name="Shape 14"/>
          <p:cNvSpPr/>
          <p:nvPr/>
        </p:nvSpPr>
        <p:spPr>
          <a:xfrm>
            <a:off x="8165592" y="4846320"/>
            <a:ext cx="502920" cy="502920"/>
          </a:xfrm>
          <a:prstGeom prst="ellipse">
            <a:avLst/>
          </a:prstGeom>
          <a:solidFill>
            <a:srgbClr val="14776B"/>
          </a:solidFill>
          <a:ln w="12700">
            <a:solidFill>
              <a:srgbClr val="14776B"/>
            </a:solidFill>
            <a:prstDash val="solid"/>
          </a:ln>
        </p:spPr>
      </p:sp>
      <p:sp>
        <p:nvSpPr>
          <p:cNvPr id="20" name="Text 15"/>
          <p:cNvSpPr txBox="1"/>
          <p:nvPr/>
        </p:nvSpPr>
        <p:spPr>
          <a:xfrm>
            <a:off x="8165592" y="4846320"/>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500" dirty="0"/>
          </a:p>
        </p:txBody>
      </p:sp>
      <p:sp>
        <p:nvSpPr>
          <p:cNvPr id="21" name="Text 16"/>
          <p:cNvSpPr txBox="1"/>
          <p:nvPr/>
        </p:nvSpPr>
        <p:spPr>
          <a:xfrm>
            <a:off x="8805672" y="4846320"/>
            <a:ext cx="2743200" cy="502920"/>
          </a:xfrm>
          <a:prstGeom prst="rect">
            <a:avLst/>
          </a:prstGeom>
          <a:noFill/>
        </p:spPr>
        <p:txBody>
          <a:bodyPr wrap="square" lIns="0" tIns="0" rIns="0" bIns="0" rtlCol="0" anchor="ctr"/>
          <a:lstStyle/>
          <a:p>
            <a:pPr marL="0" indent="0">
              <a:buNone/>
            </a:pPr>
            <a:r>
              <a:rPr lang="en-US" sz="1900" b="1" dirty="0">
                <a:solidFill>
                  <a:srgbClr val="0B2E2B"/>
                </a:solidFill>
                <a:latin typeface="Cambria" panose="02040503050406030204" pitchFamily="34" charset="0"/>
                <a:ea typeface="Cambria" panose="02040503050406030204" pitchFamily="34" charset="-122"/>
                <a:cs typeface="Cambria" panose="02040503050406030204" pitchFamily="34" charset="-120"/>
              </a:rPr>
              <a:t>Approach</a:t>
            </a:r>
            <a:endParaRPr lang="en-US" sz="1900" dirty="0"/>
          </a:p>
        </p:txBody>
      </p:sp>
      <p:sp>
        <p:nvSpPr>
          <p:cNvPr id="22" name="Text 17"/>
          <p:cNvSpPr txBox="1"/>
          <p:nvPr/>
        </p:nvSpPr>
        <p:spPr>
          <a:xfrm>
            <a:off x="8165592" y="5468112"/>
            <a:ext cx="3383280" cy="685800"/>
          </a:xfrm>
          <a:prstGeom prst="rect">
            <a:avLst/>
          </a:prstGeom>
          <a:noFill/>
        </p:spPr>
        <p:txBody>
          <a:bodyPr wrap="square" lIns="0" tIns="0" rIns="0" bIns="0" rtlCol="0" anchor="t"/>
          <a:lstStyle/>
          <a:p>
            <a:pPr marL="0" indent="0">
              <a:buNone/>
            </a:pPr>
            <a:r>
              <a:rPr lang="en-US" sz="1350" dirty="0">
                <a:solidFill>
                  <a:srgbClr val="1E2B2A"/>
                </a:solidFill>
                <a:latin typeface="Calibri" panose="020F0502020204030204" pitchFamily="34" charset="0"/>
                <a:ea typeface="Calibri" panose="020F0502020204030204" pitchFamily="34" charset="-122"/>
                <a:cs typeface="Calibri" panose="020F0502020204030204" pitchFamily="34" charset="-120"/>
              </a:rPr>
              <a:t>Movement commands drive the base toward the detected object.</a:t>
            </a:r>
            <a:endParaRPr lang="en-US" sz="1350" dirty="0"/>
          </a:p>
        </p:txBody>
      </p:sp>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RESULTS AND DISCUSSION</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Collection Sequence: Arm Down to Deposit</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548640" y="1508760"/>
            <a:ext cx="3566160" cy="310896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6" name="Image 0" descr="seq3.png"/>
          <p:cNvPicPr>
            <a:picLocks noChangeAspect="1"/>
          </p:cNvPicPr>
          <p:nvPr/>
        </p:nvPicPr>
        <p:blipFill>
          <a:blip r:embed="rId1"/>
          <a:stretch>
            <a:fillRect/>
          </a:stretch>
        </p:blipFill>
        <p:spPr>
          <a:xfrm>
            <a:off x="640080" y="1641184"/>
            <a:ext cx="3383280" cy="2844112"/>
          </a:xfrm>
          <a:prstGeom prst="rect">
            <a:avLst/>
          </a:prstGeom>
        </p:spPr>
      </p:pic>
      <p:sp>
        <p:nvSpPr>
          <p:cNvPr id="7" name="Shape 4"/>
          <p:cNvSpPr/>
          <p:nvPr/>
        </p:nvSpPr>
        <p:spPr>
          <a:xfrm>
            <a:off x="640080" y="4846320"/>
            <a:ext cx="502920" cy="502920"/>
          </a:xfrm>
          <a:prstGeom prst="ellipse">
            <a:avLst/>
          </a:prstGeom>
          <a:solidFill>
            <a:srgbClr val="14776B"/>
          </a:solidFill>
          <a:ln w="12700">
            <a:solidFill>
              <a:srgbClr val="14776B"/>
            </a:solidFill>
            <a:prstDash val="solid"/>
          </a:ln>
        </p:spPr>
      </p:sp>
      <p:sp>
        <p:nvSpPr>
          <p:cNvPr id="8" name="Text 5"/>
          <p:cNvSpPr txBox="1"/>
          <p:nvPr/>
        </p:nvSpPr>
        <p:spPr>
          <a:xfrm>
            <a:off x="640080" y="4846320"/>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500" dirty="0"/>
          </a:p>
        </p:txBody>
      </p:sp>
      <p:sp>
        <p:nvSpPr>
          <p:cNvPr id="9" name="Text 6"/>
          <p:cNvSpPr txBox="1"/>
          <p:nvPr/>
        </p:nvSpPr>
        <p:spPr>
          <a:xfrm>
            <a:off x="1280160" y="4846320"/>
            <a:ext cx="2743200" cy="502920"/>
          </a:xfrm>
          <a:prstGeom prst="rect">
            <a:avLst/>
          </a:prstGeom>
          <a:noFill/>
        </p:spPr>
        <p:txBody>
          <a:bodyPr wrap="square" lIns="0" tIns="0" rIns="0" bIns="0" rtlCol="0" anchor="ctr"/>
          <a:lstStyle/>
          <a:p>
            <a:pPr marL="0" indent="0">
              <a:buNone/>
            </a:pPr>
            <a:r>
              <a:rPr lang="en-US" sz="1900" b="1" dirty="0">
                <a:solidFill>
                  <a:srgbClr val="0B2E2B"/>
                </a:solidFill>
                <a:latin typeface="Cambria" panose="02040503050406030204" pitchFamily="34" charset="0"/>
                <a:ea typeface="Cambria" panose="02040503050406030204" pitchFamily="34" charset="-122"/>
                <a:cs typeface="Cambria" panose="02040503050406030204" pitchFamily="34" charset="-120"/>
              </a:rPr>
              <a:t>Arm Down</a:t>
            </a:r>
            <a:endParaRPr lang="en-US" sz="1900" dirty="0"/>
          </a:p>
        </p:txBody>
      </p:sp>
      <p:sp>
        <p:nvSpPr>
          <p:cNvPr id="10" name="Text 7"/>
          <p:cNvSpPr txBox="1"/>
          <p:nvPr/>
        </p:nvSpPr>
        <p:spPr>
          <a:xfrm>
            <a:off x="640080" y="5468112"/>
            <a:ext cx="3383280" cy="685800"/>
          </a:xfrm>
          <a:prstGeom prst="rect">
            <a:avLst/>
          </a:prstGeom>
          <a:noFill/>
        </p:spPr>
        <p:txBody>
          <a:bodyPr wrap="square" lIns="0" tIns="0" rIns="0" bIns="0" rtlCol="0" anchor="t"/>
          <a:lstStyle/>
          <a:p>
            <a:pPr marL="0" indent="0">
              <a:buNone/>
            </a:pPr>
            <a:r>
              <a:rPr lang="en-US" sz="1350" dirty="0">
                <a:solidFill>
                  <a:srgbClr val="1E2B2A"/>
                </a:solidFill>
                <a:latin typeface="Calibri" panose="020F0502020204030204" pitchFamily="34" charset="0"/>
                <a:ea typeface="Calibri" panose="020F0502020204030204" pitchFamily="34" charset="-122"/>
                <a:cs typeface="Calibri" panose="020F0502020204030204" pitchFamily="34" charset="-120"/>
              </a:rPr>
              <a:t>At the pickup position the arm lowers toward the object.</a:t>
            </a:r>
            <a:endParaRPr lang="en-US" sz="1350" dirty="0"/>
          </a:p>
        </p:txBody>
      </p:sp>
      <p:sp>
        <p:nvSpPr>
          <p:cNvPr id="11" name="Shape 8"/>
          <p:cNvSpPr/>
          <p:nvPr/>
        </p:nvSpPr>
        <p:spPr>
          <a:xfrm>
            <a:off x="4311396" y="1508760"/>
            <a:ext cx="3566160" cy="310896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12" name="Image 1" descr="seq4.png"/>
          <p:cNvPicPr>
            <a:picLocks noChangeAspect="1"/>
          </p:cNvPicPr>
          <p:nvPr/>
        </p:nvPicPr>
        <p:blipFill>
          <a:blip r:embed="rId2"/>
          <a:stretch>
            <a:fillRect/>
          </a:stretch>
        </p:blipFill>
        <p:spPr>
          <a:xfrm>
            <a:off x="4402836" y="1632635"/>
            <a:ext cx="3383280" cy="2861211"/>
          </a:xfrm>
          <a:prstGeom prst="rect">
            <a:avLst/>
          </a:prstGeom>
        </p:spPr>
      </p:pic>
      <p:sp>
        <p:nvSpPr>
          <p:cNvPr id="13" name="Shape 9"/>
          <p:cNvSpPr/>
          <p:nvPr/>
        </p:nvSpPr>
        <p:spPr>
          <a:xfrm>
            <a:off x="4402836" y="4846320"/>
            <a:ext cx="502920" cy="502920"/>
          </a:xfrm>
          <a:prstGeom prst="ellipse">
            <a:avLst/>
          </a:prstGeom>
          <a:solidFill>
            <a:srgbClr val="14776B"/>
          </a:solidFill>
          <a:ln w="12700">
            <a:solidFill>
              <a:srgbClr val="14776B"/>
            </a:solidFill>
            <a:prstDash val="solid"/>
          </a:ln>
        </p:spPr>
      </p:sp>
      <p:sp>
        <p:nvSpPr>
          <p:cNvPr id="14" name="Text 10"/>
          <p:cNvSpPr txBox="1"/>
          <p:nvPr/>
        </p:nvSpPr>
        <p:spPr>
          <a:xfrm>
            <a:off x="4402836" y="4846320"/>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500" dirty="0"/>
          </a:p>
        </p:txBody>
      </p:sp>
      <p:sp>
        <p:nvSpPr>
          <p:cNvPr id="15" name="Text 11"/>
          <p:cNvSpPr txBox="1"/>
          <p:nvPr/>
        </p:nvSpPr>
        <p:spPr>
          <a:xfrm>
            <a:off x="5042916" y="4846320"/>
            <a:ext cx="2743200" cy="502920"/>
          </a:xfrm>
          <a:prstGeom prst="rect">
            <a:avLst/>
          </a:prstGeom>
          <a:noFill/>
        </p:spPr>
        <p:txBody>
          <a:bodyPr wrap="square" lIns="0" tIns="0" rIns="0" bIns="0" rtlCol="0" anchor="ctr"/>
          <a:lstStyle/>
          <a:p>
            <a:pPr marL="0" indent="0">
              <a:buNone/>
            </a:pPr>
            <a:r>
              <a:rPr lang="en-US" sz="1900" b="1" dirty="0">
                <a:solidFill>
                  <a:srgbClr val="0B2E2B"/>
                </a:solidFill>
                <a:latin typeface="Cambria" panose="02040503050406030204" pitchFamily="34" charset="0"/>
                <a:ea typeface="Cambria" panose="02040503050406030204" pitchFamily="34" charset="-122"/>
                <a:cs typeface="Cambria" panose="02040503050406030204" pitchFamily="34" charset="-120"/>
              </a:rPr>
              <a:t>Pickup</a:t>
            </a:r>
            <a:endParaRPr lang="en-US" sz="1900" dirty="0"/>
          </a:p>
        </p:txBody>
      </p:sp>
      <p:sp>
        <p:nvSpPr>
          <p:cNvPr id="16" name="Text 12"/>
          <p:cNvSpPr txBox="1"/>
          <p:nvPr/>
        </p:nvSpPr>
        <p:spPr>
          <a:xfrm>
            <a:off x="4402836" y="5468112"/>
            <a:ext cx="3383280" cy="685800"/>
          </a:xfrm>
          <a:prstGeom prst="rect">
            <a:avLst/>
          </a:prstGeom>
          <a:noFill/>
        </p:spPr>
        <p:txBody>
          <a:bodyPr wrap="square" lIns="0" tIns="0" rIns="0" bIns="0" rtlCol="0" anchor="t"/>
          <a:lstStyle/>
          <a:p>
            <a:pPr marL="0" indent="0">
              <a:buNone/>
            </a:pPr>
            <a:r>
              <a:rPr lang="en-US" sz="1350" dirty="0">
                <a:solidFill>
                  <a:srgbClr val="1E2B2A"/>
                </a:solidFill>
                <a:latin typeface="Calibri" panose="020F0502020204030204" pitchFamily="34" charset="0"/>
                <a:ea typeface="Calibri" panose="020F0502020204030204" pitchFamily="34" charset="-122"/>
                <a:cs typeface="Calibri" panose="020F0502020204030204" pitchFamily="34" charset="-120"/>
              </a:rPr>
              <a:t>The gripper closes and lifts the waste object.</a:t>
            </a:r>
            <a:endParaRPr lang="en-US" sz="1350" dirty="0"/>
          </a:p>
        </p:txBody>
      </p:sp>
      <p:sp>
        <p:nvSpPr>
          <p:cNvPr id="17" name="Shape 13"/>
          <p:cNvSpPr/>
          <p:nvPr/>
        </p:nvSpPr>
        <p:spPr>
          <a:xfrm>
            <a:off x="8074152" y="1508760"/>
            <a:ext cx="3566160" cy="310896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18" name="Image 2" descr="seq5.png"/>
          <p:cNvPicPr>
            <a:picLocks noChangeAspect="1"/>
          </p:cNvPicPr>
          <p:nvPr/>
        </p:nvPicPr>
        <p:blipFill>
          <a:blip r:embed="rId3"/>
          <a:stretch>
            <a:fillRect/>
          </a:stretch>
        </p:blipFill>
        <p:spPr>
          <a:xfrm>
            <a:off x="8165592" y="1623982"/>
            <a:ext cx="3383280" cy="2878516"/>
          </a:xfrm>
          <a:prstGeom prst="rect">
            <a:avLst/>
          </a:prstGeom>
        </p:spPr>
      </p:pic>
      <p:sp>
        <p:nvSpPr>
          <p:cNvPr id="19" name="Shape 14"/>
          <p:cNvSpPr/>
          <p:nvPr/>
        </p:nvSpPr>
        <p:spPr>
          <a:xfrm>
            <a:off x="8165592" y="4846320"/>
            <a:ext cx="502920" cy="502920"/>
          </a:xfrm>
          <a:prstGeom prst="ellipse">
            <a:avLst/>
          </a:prstGeom>
          <a:solidFill>
            <a:srgbClr val="14776B"/>
          </a:solidFill>
          <a:ln w="12700">
            <a:solidFill>
              <a:srgbClr val="14776B"/>
            </a:solidFill>
            <a:prstDash val="solid"/>
          </a:ln>
        </p:spPr>
      </p:sp>
      <p:sp>
        <p:nvSpPr>
          <p:cNvPr id="20" name="Text 15"/>
          <p:cNvSpPr txBox="1"/>
          <p:nvPr/>
        </p:nvSpPr>
        <p:spPr>
          <a:xfrm>
            <a:off x="8165592" y="4846320"/>
            <a:ext cx="5029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500" dirty="0"/>
          </a:p>
        </p:txBody>
      </p:sp>
      <p:sp>
        <p:nvSpPr>
          <p:cNvPr id="21" name="Text 16"/>
          <p:cNvSpPr txBox="1"/>
          <p:nvPr/>
        </p:nvSpPr>
        <p:spPr>
          <a:xfrm>
            <a:off x="8805672" y="4846320"/>
            <a:ext cx="2743200" cy="502920"/>
          </a:xfrm>
          <a:prstGeom prst="rect">
            <a:avLst/>
          </a:prstGeom>
          <a:noFill/>
        </p:spPr>
        <p:txBody>
          <a:bodyPr wrap="square" lIns="0" tIns="0" rIns="0" bIns="0" rtlCol="0" anchor="ctr"/>
          <a:lstStyle/>
          <a:p>
            <a:pPr marL="0" indent="0">
              <a:buNone/>
            </a:pPr>
            <a:r>
              <a:rPr lang="en-US" sz="1900" b="1" dirty="0">
                <a:solidFill>
                  <a:srgbClr val="0B2E2B"/>
                </a:solidFill>
                <a:latin typeface="Cambria" panose="02040503050406030204" pitchFamily="34" charset="0"/>
                <a:ea typeface="Cambria" panose="02040503050406030204" pitchFamily="34" charset="-122"/>
                <a:cs typeface="Cambria" panose="02040503050406030204" pitchFamily="34" charset="-120"/>
              </a:rPr>
              <a:t>Deposit</a:t>
            </a:r>
            <a:endParaRPr lang="en-US" sz="1900" dirty="0"/>
          </a:p>
        </p:txBody>
      </p:sp>
      <p:sp>
        <p:nvSpPr>
          <p:cNvPr id="22" name="Text 17"/>
          <p:cNvSpPr txBox="1"/>
          <p:nvPr/>
        </p:nvSpPr>
        <p:spPr>
          <a:xfrm>
            <a:off x="8165592" y="5468112"/>
            <a:ext cx="3383280" cy="685800"/>
          </a:xfrm>
          <a:prstGeom prst="rect">
            <a:avLst/>
          </a:prstGeom>
          <a:noFill/>
        </p:spPr>
        <p:txBody>
          <a:bodyPr wrap="square" lIns="0" tIns="0" rIns="0" bIns="0" rtlCol="0" anchor="t"/>
          <a:lstStyle/>
          <a:p>
            <a:pPr marL="0" indent="0">
              <a:buNone/>
            </a:pPr>
            <a:r>
              <a:rPr lang="en-US" sz="1350" dirty="0">
                <a:solidFill>
                  <a:srgbClr val="1E2B2A"/>
                </a:solidFill>
                <a:latin typeface="Calibri" panose="020F0502020204030204" pitchFamily="34" charset="0"/>
                <a:ea typeface="Calibri" panose="020F0502020204030204" pitchFamily="34" charset="-122"/>
                <a:cs typeface="Calibri" panose="020F0502020204030204" pitchFamily="34" charset="-120"/>
              </a:rPr>
              <a:t>The arm transfers the waste into the onboard container.</a:t>
            </a:r>
            <a:endParaRPr lang="en-US" sz="1350" dirty="0"/>
          </a:p>
        </p:txBody>
      </p:sp>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RESULTS AND DISCUSSION</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Video Demostration</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1460500" y="1490345"/>
            <a:ext cx="9721850" cy="4371340"/>
          </a:xfrm>
          <a:prstGeom prst="roundRect">
            <a:avLst>
              <a:gd name="adj" fmla="val 352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9" name="Text 6"/>
          <p:cNvSpPr txBox="1"/>
          <p:nvPr/>
        </p:nvSpPr>
        <p:spPr>
          <a:xfrm>
            <a:off x="1280160" y="4846320"/>
            <a:ext cx="2743200" cy="502920"/>
          </a:xfrm>
          <a:prstGeom prst="rect">
            <a:avLst/>
          </a:prstGeom>
          <a:noFill/>
        </p:spPr>
        <p:txBody>
          <a:bodyPr wrap="square" lIns="0" tIns="0" rIns="0" bIns="0" rtlCol="0" anchor="ctr"/>
          <a:lstStyle/>
          <a:p>
            <a:pPr marL="0" indent="0">
              <a:buNone/>
            </a:pPr>
            <a:endParaRPr lang="en-US" sz="1900" dirty="0"/>
          </a:p>
        </p:txBody>
      </p:sp>
      <p:sp>
        <p:nvSpPr>
          <p:cNvPr id="10" name="Text 7"/>
          <p:cNvSpPr txBox="1"/>
          <p:nvPr/>
        </p:nvSpPr>
        <p:spPr>
          <a:xfrm>
            <a:off x="640080" y="5468112"/>
            <a:ext cx="3383280" cy="685800"/>
          </a:xfrm>
          <a:prstGeom prst="rect">
            <a:avLst/>
          </a:prstGeom>
          <a:noFill/>
        </p:spPr>
        <p:txBody>
          <a:bodyPr wrap="square" lIns="0" tIns="0" rIns="0" bIns="0" rtlCol="0" anchor="t"/>
          <a:lstStyle/>
          <a:p>
            <a:pPr marL="0" indent="0">
              <a:buNone/>
            </a:pPr>
            <a:endParaRPr lang="en-US" sz="1350" dirty="0"/>
          </a:p>
        </p:txBody>
      </p:sp>
      <p:sp>
        <p:nvSpPr>
          <p:cNvPr id="15" name="Text 11"/>
          <p:cNvSpPr txBox="1"/>
          <p:nvPr/>
        </p:nvSpPr>
        <p:spPr>
          <a:xfrm>
            <a:off x="5042916" y="4846320"/>
            <a:ext cx="2743200" cy="502920"/>
          </a:xfrm>
          <a:prstGeom prst="rect">
            <a:avLst/>
          </a:prstGeom>
          <a:noFill/>
        </p:spPr>
        <p:txBody>
          <a:bodyPr wrap="square" lIns="0" tIns="0" rIns="0" bIns="0" rtlCol="0" anchor="ctr"/>
          <a:lstStyle/>
          <a:p>
            <a:pPr marL="0" indent="0">
              <a:buNone/>
            </a:pPr>
            <a:endParaRPr lang="en-US" sz="1900" dirty="0"/>
          </a:p>
        </p:txBody>
      </p:sp>
      <p:sp>
        <p:nvSpPr>
          <p:cNvPr id="16" name="Text 12"/>
          <p:cNvSpPr txBox="1"/>
          <p:nvPr/>
        </p:nvSpPr>
        <p:spPr>
          <a:xfrm>
            <a:off x="4402836" y="5468112"/>
            <a:ext cx="3383280" cy="685800"/>
          </a:xfrm>
          <a:prstGeom prst="rect">
            <a:avLst/>
          </a:prstGeom>
          <a:noFill/>
        </p:spPr>
        <p:txBody>
          <a:bodyPr wrap="square" lIns="0" tIns="0" rIns="0" bIns="0" rtlCol="0" anchor="t"/>
          <a:lstStyle/>
          <a:p>
            <a:pPr marL="0" indent="0">
              <a:buNone/>
            </a:pPr>
            <a:endParaRPr lang="en-US" sz="1350" dirty="0"/>
          </a:p>
        </p:txBody>
      </p:sp>
      <p:sp>
        <p:nvSpPr>
          <p:cNvPr id="21" name="Text 16"/>
          <p:cNvSpPr txBox="1"/>
          <p:nvPr/>
        </p:nvSpPr>
        <p:spPr>
          <a:xfrm>
            <a:off x="8805672" y="4846320"/>
            <a:ext cx="2743200" cy="502920"/>
          </a:xfrm>
          <a:prstGeom prst="rect">
            <a:avLst/>
          </a:prstGeom>
          <a:noFill/>
        </p:spPr>
        <p:txBody>
          <a:bodyPr wrap="square" lIns="0" tIns="0" rIns="0" bIns="0" rtlCol="0" anchor="ctr"/>
          <a:lstStyle/>
          <a:p>
            <a:pPr marL="0" indent="0">
              <a:buNone/>
            </a:pPr>
            <a:endParaRPr lang="en-US" sz="1900" dirty="0"/>
          </a:p>
        </p:txBody>
      </p:sp>
      <p:sp>
        <p:nvSpPr>
          <p:cNvPr id="22" name="Text 17"/>
          <p:cNvSpPr txBox="1"/>
          <p:nvPr/>
        </p:nvSpPr>
        <p:spPr>
          <a:xfrm>
            <a:off x="8165592" y="5468112"/>
            <a:ext cx="3383280" cy="685800"/>
          </a:xfrm>
          <a:prstGeom prst="rect">
            <a:avLst/>
          </a:prstGeom>
          <a:noFill/>
        </p:spPr>
        <p:txBody>
          <a:bodyPr wrap="square" lIns="0" tIns="0" rIns="0" bIns="0" rtlCol="0" anchor="t"/>
          <a:lstStyle/>
          <a:p>
            <a:pPr marL="0" indent="0">
              <a:buNone/>
            </a:pPr>
            <a:endParaRPr lang="en-US" sz="1350" dirty="0"/>
          </a:p>
        </p:txBody>
      </p:sp>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pic>
        <p:nvPicPr>
          <p:cNvPr id="23" name="WhatsApp Video 2026-09-19 at 8.11.05 PM">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738505" y="1122045"/>
            <a:ext cx="10901680" cy="503174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23"/>
                </p:tgtEl>
              </p:cMediaNode>
            </p:video>
            <p:seq concurrent="1" nextAc="seek">
              <p:cTn id="3" restart="whenNotActive" fill="hold" evtFilter="cancelBubble" nodeType="interactiveSeq">
                <p:stCondLst>
                  <p:cond evt="onClick" delay="0">
                    <p:tgtEl>
                      <p:spTgt spid="2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23"/>
                                        </p:tgtEl>
                                      </p:cBhvr>
                                    </p:cmd>
                                  </p:childTnLst>
                                </p:cTn>
                              </p:par>
                            </p:childTnLst>
                          </p:cTn>
                        </p:par>
                      </p:childTnLst>
                    </p:cTn>
                  </p:par>
                </p:childTnLst>
              </p:cTn>
              <p:nextCondLst>
                <p:cond evt="onClick" delay="0">
                  <p:tgtEl>
                    <p:spTgt spid="23"/>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RESULTS AND DISCUSSION</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Functional Evaluation</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548640" y="1508760"/>
            <a:ext cx="7040880" cy="786384"/>
          </a:xfrm>
          <a:prstGeom prst="roundRect">
            <a:avLst>
              <a:gd name="adj" fmla="val 13953"/>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6" name="Shape 4"/>
          <p:cNvSpPr/>
          <p:nvPr/>
        </p:nvSpPr>
        <p:spPr>
          <a:xfrm>
            <a:off x="731520" y="1627632"/>
            <a:ext cx="548640" cy="548640"/>
          </a:xfrm>
          <a:prstGeom prst="ellipse">
            <a:avLst/>
          </a:prstGeom>
          <a:solidFill>
            <a:srgbClr val="14776B"/>
          </a:solidFill>
          <a:ln w="12700">
            <a:solidFill>
              <a:srgbClr val="14776B"/>
            </a:solidFill>
            <a:prstDash val="solid"/>
          </a:ln>
        </p:spPr>
      </p:sp>
      <p:pic>
        <p:nvPicPr>
          <p:cNvPr id="7" name="Image 0" descr="preencoded.png"/>
          <p:cNvPicPr>
            <a:picLocks noChangeAspect="1"/>
          </p:cNvPicPr>
          <p:nvPr/>
        </p:nvPicPr>
        <p:blipFill>
          <a:blip r:embed="rId1"/>
          <a:stretch>
            <a:fillRect/>
          </a:stretch>
        </p:blipFill>
        <p:spPr>
          <a:xfrm>
            <a:off x="879653" y="1775765"/>
            <a:ext cx="252374" cy="252374"/>
          </a:xfrm>
          <a:prstGeom prst="rect">
            <a:avLst/>
          </a:prstGeom>
        </p:spPr>
      </p:pic>
      <p:sp>
        <p:nvSpPr>
          <p:cNvPr id="8" name="Text 5"/>
          <p:cNvSpPr txBox="1"/>
          <p:nvPr/>
        </p:nvSpPr>
        <p:spPr>
          <a:xfrm>
            <a:off x="1463040" y="1508760"/>
            <a:ext cx="2103120" cy="786384"/>
          </a:xfrm>
          <a:prstGeom prst="rect">
            <a:avLst/>
          </a:prstGeom>
          <a:noFill/>
        </p:spPr>
        <p:txBody>
          <a:bodyPr wrap="square" lIns="0" tIns="0" rIns="0" bIns="0" rtlCol="0" anchor="ctr"/>
          <a:lstStyle/>
          <a:p>
            <a:pPr marL="0" indent="0">
              <a:buNone/>
            </a:pPr>
            <a:r>
              <a:rPr lang="en-US" sz="1450" b="1" dirty="0">
                <a:solidFill>
                  <a:srgbClr val="0B2E2B"/>
                </a:solidFill>
                <a:latin typeface="Calibri" panose="020F0502020204030204" pitchFamily="34" charset="0"/>
                <a:ea typeface="Calibri" panose="020F0502020204030204" pitchFamily="34" charset="-122"/>
                <a:cs typeface="Calibri" panose="020F0502020204030204" pitchFamily="34" charset="-120"/>
              </a:rPr>
              <a:t>Trash Detection</a:t>
            </a:r>
            <a:endParaRPr lang="en-US" sz="1450" dirty="0"/>
          </a:p>
        </p:txBody>
      </p:sp>
      <p:sp>
        <p:nvSpPr>
          <p:cNvPr id="9" name="Text 6"/>
          <p:cNvSpPr txBox="1"/>
          <p:nvPr/>
        </p:nvSpPr>
        <p:spPr>
          <a:xfrm>
            <a:off x="3611880" y="1508760"/>
            <a:ext cx="3337560" cy="786384"/>
          </a:xfrm>
          <a:prstGeom prst="rect">
            <a:avLst/>
          </a:prstGeom>
          <a:noFill/>
        </p:spPr>
        <p:txBody>
          <a:bodyPr wrap="square" lIns="0" tIns="0" rIns="0" bIns="0" rtlCol="0" anchor="ctr"/>
          <a:lstStyle/>
          <a:p>
            <a:pPr marL="0" indent="0">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Target waste objects identified from camera input</a:t>
            </a:r>
            <a:endParaRPr lang="en-US" sz="1250" dirty="0"/>
          </a:p>
        </p:txBody>
      </p:sp>
      <p:sp>
        <p:nvSpPr>
          <p:cNvPr id="10" name="Shape 7"/>
          <p:cNvSpPr/>
          <p:nvPr/>
        </p:nvSpPr>
        <p:spPr>
          <a:xfrm>
            <a:off x="7040880" y="1691640"/>
            <a:ext cx="420624" cy="420624"/>
          </a:xfrm>
          <a:prstGeom prst="ellipse">
            <a:avLst/>
          </a:prstGeom>
          <a:solidFill>
            <a:srgbClr val="2E9E6B"/>
          </a:solidFill>
          <a:ln w="12700">
            <a:solidFill>
              <a:srgbClr val="2E9E6B"/>
            </a:solidFill>
            <a:prstDash val="solid"/>
          </a:ln>
        </p:spPr>
      </p:sp>
      <p:pic>
        <p:nvPicPr>
          <p:cNvPr id="11" name="Image 1" descr="preencoded.png"/>
          <p:cNvPicPr>
            <a:picLocks noChangeAspect="1"/>
          </p:cNvPicPr>
          <p:nvPr/>
        </p:nvPicPr>
        <p:blipFill>
          <a:blip r:embed="rId2"/>
          <a:stretch>
            <a:fillRect/>
          </a:stretch>
        </p:blipFill>
        <p:spPr>
          <a:xfrm>
            <a:off x="7154448" y="1805208"/>
            <a:ext cx="193487" cy="193487"/>
          </a:xfrm>
          <a:prstGeom prst="rect">
            <a:avLst/>
          </a:prstGeom>
        </p:spPr>
      </p:pic>
      <p:sp>
        <p:nvSpPr>
          <p:cNvPr id="12" name="Shape 8"/>
          <p:cNvSpPr/>
          <p:nvPr/>
        </p:nvSpPr>
        <p:spPr>
          <a:xfrm>
            <a:off x="548640" y="2414016"/>
            <a:ext cx="7040880" cy="786384"/>
          </a:xfrm>
          <a:prstGeom prst="roundRect">
            <a:avLst>
              <a:gd name="adj" fmla="val 13953"/>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13" name="Shape 9"/>
          <p:cNvSpPr/>
          <p:nvPr/>
        </p:nvSpPr>
        <p:spPr>
          <a:xfrm>
            <a:off x="731520" y="2532888"/>
            <a:ext cx="548640" cy="548640"/>
          </a:xfrm>
          <a:prstGeom prst="ellipse">
            <a:avLst/>
          </a:prstGeom>
          <a:solidFill>
            <a:srgbClr val="14776B"/>
          </a:solidFill>
          <a:ln w="12700">
            <a:solidFill>
              <a:srgbClr val="14776B"/>
            </a:solidFill>
            <a:prstDash val="solid"/>
          </a:ln>
        </p:spPr>
      </p:sp>
      <p:pic>
        <p:nvPicPr>
          <p:cNvPr id="14" name="Image 2" descr="preencoded.png"/>
          <p:cNvPicPr>
            <a:picLocks noChangeAspect="1"/>
          </p:cNvPicPr>
          <p:nvPr/>
        </p:nvPicPr>
        <p:blipFill>
          <a:blip r:embed="rId3"/>
          <a:stretch>
            <a:fillRect/>
          </a:stretch>
        </p:blipFill>
        <p:spPr>
          <a:xfrm>
            <a:off x="879653" y="2681021"/>
            <a:ext cx="252374" cy="252374"/>
          </a:xfrm>
          <a:prstGeom prst="rect">
            <a:avLst/>
          </a:prstGeom>
        </p:spPr>
      </p:pic>
      <p:sp>
        <p:nvSpPr>
          <p:cNvPr id="15" name="Text 10"/>
          <p:cNvSpPr txBox="1"/>
          <p:nvPr/>
        </p:nvSpPr>
        <p:spPr>
          <a:xfrm>
            <a:off x="1463040" y="2414016"/>
            <a:ext cx="2103120" cy="786384"/>
          </a:xfrm>
          <a:prstGeom prst="rect">
            <a:avLst/>
          </a:prstGeom>
          <a:noFill/>
        </p:spPr>
        <p:txBody>
          <a:bodyPr wrap="square" lIns="0" tIns="0" rIns="0" bIns="0" rtlCol="0" anchor="ctr"/>
          <a:lstStyle/>
          <a:p>
            <a:pPr marL="0" indent="0">
              <a:buNone/>
            </a:pPr>
            <a:r>
              <a:rPr lang="en-US" sz="1450" b="1" dirty="0">
                <a:solidFill>
                  <a:srgbClr val="0B2E2B"/>
                </a:solidFill>
                <a:latin typeface="Calibri" panose="020F0502020204030204" pitchFamily="34" charset="0"/>
                <a:ea typeface="Calibri" panose="020F0502020204030204" pitchFamily="34" charset="-122"/>
                <a:cs typeface="Calibri" panose="020F0502020204030204" pitchFamily="34" charset="-120"/>
              </a:rPr>
              <a:t>Navigation</a:t>
            </a:r>
            <a:endParaRPr lang="en-US" sz="1450" dirty="0"/>
          </a:p>
        </p:txBody>
      </p:sp>
      <p:sp>
        <p:nvSpPr>
          <p:cNvPr id="16" name="Text 11"/>
          <p:cNvSpPr txBox="1"/>
          <p:nvPr/>
        </p:nvSpPr>
        <p:spPr>
          <a:xfrm>
            <a:off x="3611880" y="2414016"/>
            <a:ext cx="3337560" cy="786384"/>
          </a:xfrm>
          <a:prstGeom prst="rect">
            <a:avLst/>
          </a:prstGeom>
          <a:noFill/>
        </p:spPr>
        <p:txBody>
          <a:bodyPr wrap="square" lIns="0" tIns="0" rIns="0" bIns="0" rtlCol="0" anchor="ctr"/>
          <a:lstStyle/>
          <a:p>
            <a:pPr marL="0" indent="0">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Robot approached detected waste location</a:t>
            </a:r>
            <a:endParaRPr lang="en-US" sz="1250" dirty="0"/>
          </a:p>
        </p:txBody>
      </p:sp>
      <p:sp>
        <p:nvSpPr>
          <p:cNvPr id="17" name="Shape 12"/>
          <p:cNvSpPr/>
          <p:nvPr/>
        </p:nvSpPr>
        <p:spPr>
          <a:xfrm>
            <a:off x="7040880" y="2596896"/>
            <a:ext cx="420624" cy="420624"/>
          </a:xfrm>
          <a:prstGeom prst="ellipse">
            <a:avLst/>
          </a:prstGeom>
          <a:solidFill>
            <a:srgbClr val="2E9E6B"/>
          </a:solidFill>
          <a:ln w="12700">
            <a:solidFill>
              <a:srgbClr val="2E9E6B"/>
            </a:solidFill>
            <a:prstDash val="solid"/>
          </a:ln>
        </p:spPr>
      </p:sp>
      <p:pic>
        <p:nvPicPr>
          <p:cNvPr id="18" name="Image 3" descr="preencoded.png"/>
          <p:cNvPicPr>
            <a:picLocks noChangeAspect="1"/>
          </p:cNvPicPr>
          <p:nvPr/>
        </p:nvPicPr>
        <p:blipFill>
          <a:blip r:embed="rId2"/>
          <a:stretch>
            <a:fillRect/>
          </a:stretch>
        </p:blipFill>
        <p:spPr>
          <a:xfrm>
            <a:off x="7154448" y="2710464"/>
            <a:ext cx="193487" cy="193487"/>
          </a:xfrm>
          <a:prstGeom prst="rect">
            <a:avLst/>
          </a:prstGeom>
        </p:spPr>
      </p:pic>
      <p:sp>
        <p:nvSpPr>
          <p:cNvPr id="19" name="Shape 13"/>
          <p:cNvSpPr/>
          <p:nvPr/>
        </p:nvSpPr>
        <p:spPr>
          <a:xfrm>
            <a:off x="548640" y="3319272"/>
            <a:ext cx="7040880" cy="786384"/>
          </a:xfrm>
          <a:prstGeom prst="roundRect">
            <a:avLst>
              <a:gd name="adj" fmla="val 13953"/>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20" name="Shape 14"/>
          <p:cNvSpPr/>
          <p:nvPr/>
        </p:nvSpPr>
        <p:spPr>
          <a:xfrm>
            <a:off x="731520" y="3438144"/>
            <a:ext cx="548640" cy="548640"/>
          </a:xfrm>
          <a:prstGeom prst="ellipse">
            <a:avLst/>
          </a:prstGeom>
          <a:solidFill>
            <a:srgbClr val="14776B"/>
          </a:solidFill>
          <a:ln w="12700">
            <a:solidFill>
              <a:srgbClr val="14776B"/>
            </a:solidFill>
            <a:prstDash val="solid"/>
          </a:ln>
        </p:spPr>
      </p:sp>
      <p:pic>
        <p:nvPicPr>
          <p:cNvPr id="21" name="Image 4" descr="preencoded.png"/>
          <p:cNvPicPr>
            <a:picLocks noChangeAspect="1"/>
          </p:cNvPicPr>
          <p:nvPr/>
        </p:nvPicPr>
        <p:blipFill>
          <a:blip r:embed="rId4"/>
          <a:stretch>
            <a:fillRect/>
          </a:stretch>
        </p:blipFill>
        <p:spPr>
          <a:xfrm>
            <a:off x="879653" y="3586277"/>
            <a:ext cx="252374" cy="252374"/>
          </a:xfrm>
          <a:prstGeom prst="rect">
            <a:avLst/>
          </a:prstGeom>
        </p:spPr>
      </p:pic>
      <p:sp>
        <p:nvSpPr>
          <p:cNvPr id="22" name="Text 15"/>
          <p:cNvSpPr txBox="1"/>
          <p:nvPr/>
        </p:nvSpPr>
        <p:spPr>
          <a:xfrm>
            <a:off x="1463040" y="3319272"/>
            <a:ext cx="2103120" cy="786384"/>
          </a:xfrm>
          <a:prstGeom prst="rect">
            <a:avLst/>
          </a:prstGeom>
          <a:noFill/>
        </p:spPr>
        <p:txBody>
          <a:bodyPr wrap="square" lIns="0" tIns="0" rIns="0" bIns="0" rtlCol="0" anchor="ctr"/>
          <a:lstStyle/>
          <a:p>
            <a:pPr marL="0" indent="0">
              <a:buNone/>
            </a:pPr>
            <a:r>
              <a:rPr lang="en-US" sz="1450" b="1" dirty="0">
                <a:solidFill>
                  <a:srgbClr val="0B2E2B"/>
                </a:solidFill>
                <a:latin typeface="Calibri" panose="020F0502020204030204" pitchFamily="34" charset="0"/>
                <a:ea typeface="Calibri" panose="020F0502020204030204" pitchFamily="34" charset="-122"/>
                <a:cs typeface="Calibri" panose="020F0502020204030204" pitchFamily="34" charset="-120"/>
              </a:rPr>
              <a:t>Sensor Communication</a:t>
            </a:r>
            <a:endParaRPr lang="en-US" sz="1450" dirty="0"/>
          </a:p>
        </p:txBody>
      </p:sp>
      <p:sp>
        <p:nvSpPr>
          <p:cNvPr id="23" name="Text 16"/>
          <p:cNvSpPr txBox="1"/>
          <p:nvPr/>
        </p:nvSpPr>
        <p:spPr>
          <a:xfrm>
            <a:off x="3611880" y="3319272"/>
            <a:ext cx="3337560" cy="786384"/>
          </a:xfrm>
          <a:prstGeom prst="rect">
            <a:avLst/>
          </a:prstGeom>
          <a:noFill/>
        </p:spPr>
        <p:txBody>
          <a:bodyPr wrap="square" lIns="0" tIns="0" rIns="0" bIns="0" rtlCol="0" anchor="ctr"/>
          <a:lstStyle/>
          <a:p>
            <a:pPr marL="0" indent="0">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Camera and LiDAR data integrated through ROS 2</a:t>
            </a:r>
            <a:endParaRPr lang="en-US" sz="1250" dirty="0"/>
          </a:p>
        </p:txBody>
      </p:sp>
      <p:sp>
        <p:nvSpPr>
          <p:cNvPr id="24" name="Shape 17"/>
          <p:cNvSpPr/>
          <p:nvPr/>
        </p:nvSpPr>
        <p:spPr>
          <a:xfrm>
            <a:off x="7040880" y="3502152"/>
            <a:ext cx="420624" cy="420624"/>
          </a:xfrm>
          <a:prstGeom prst="ellipse">
            <a:avLst/>
          </a:prstGeom>
          <a:solidFill>
            <a:srgbClr val="2E9E6B"/>
          </a:solidFill>
          <a:ln w="12700">
            <a:solidFill>
              <a:srgbClr val="2E9E6B"/>
            </a:solidFill>
            <a:prstDash val="solid"/>
          </a:ln>
        </p:spPr>
      </p:sp>
      <p:pic>
        <p:nvPicPr>
          <p:cNvPr id="25" name="Image 5" descr="preencoded.png"/>
          <p:cNvPicPr>
            <a:picLocks noChangeAspect="1"/>
          </p:cNvPicPr>
          <p:nvPr/>
        </p:nvPicPr>
        <p:blipFill>
          <a:blip r:embed="rId2"/>
          <a:stretch>
            <a:fillRect/>
          </a:stretch>
        </p:blipFill>
        <p:spPr>
          <a:xfrm>
            <a:off x="7154448" y="3615720"/>
            <a:ext cx="193487" cy="193487"/>
          </a:xfrm>
          <a:prstGeom prst="rect">
            <a:avLst/>
          </a:prstGeom>
        </p:spPr>
      </p:pic>
      <p:sp>
        <p:nvSpPr>
          <p:cNvPr id="26" name="Shape 18"/>
          <p:cNvSpPr/>
          <p:nvPr/>
        </p:nvSpPr>
        <p:spPr>
          <a:xfrm>
            <a:off x="548640" y="4224528"/>
            <a:ext cx="7040880" cy="786384"/>
          </a:xfrm>
          <a:prstGeom prst="roundRect">
            <a:avLst>
              <a:gd name="adj" fmla="val 13953"/>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27" name="Shape 19"/>
          <p:cNvSpPr/>
          <p:nvPr/>
        </p:nvSpPr>
        <p:spPr>
          <a:xfrm>
            <a:off x="731520" y="4343400"/>
            <a:ext cx="548640" cy="548640"/>
          </a:xfrm>
          <a:prstGeom prst="ellipse">
            <a:avLst/>
          </a:prstGeom>
          <a:solidFill>
            <a:srgbClr val="14776B"/>
          </a:solidFill>
          <a:ln w="12700">
            <a:solidFill>
              <a:srgbClr val="14776B"/>
            </a:solidFill>
            <a:prstDash val="solid"/>
          </a:ln>
        </p:spPr>
      </p:sp>
      <p:pic>
        <p:nvPicPr>
          <p:cNvPr id="28" name="Image 6" descr="preencoded.png"/>
          <p:cNvPicPr>
            <a:picLocks noChangeAspect="1"/>
          </p:cNvPicPr>
          <p:nvPr/>
        </p:nvPicPr>
        <p:blipFill>
          <a:blip r:embed="rId5"/>
          <a:stretch>
            <a:fillRect/>
          </a:stretch>
        </p:blipFill>
        <p:spPr>
          <a:xfrm>
            <a:off x="879653" y="4491533"/>
            <a:ext cx="252374" cy="252374"/>
          </a:xfrm>
          <a:prstGeom prst="rect">
            <a:avLst/>
          </a:prstGeom>
        </p:spPr>
      </p:pic>
      <p:sp>
        <p:nvSpPr>
          <p:cNvPr id="29" name="Text 20"/>
          <p:cNvSpPr txBox="1"/>
          <p:nvPr/>
        </p:nvSpPr>
        <p:spPr>
          <a:xfrm>
            <a:off x="1463040" y="4224528"/>
            <a:ext cx="2103120" cy="786384"/>
          </a:xfrm>
          <a:prstGeom prst="rect">
            <a:avLst/>
          </a:prstGeom>
          <a:noFill/>
        </p:spPr>
        <p:txBody>
          <a:bodyPr wrap="square" lIns="0" tIns="0" rIns="0" bIns="0" rtlCol="0" anchor="ctr"/>
          <a:lstStyle/>
          <a:p>
            <a:pPr marL="0" indent="0">
              <a:buNone/>
            </a:pPr>
            <a:r>
              <a:rPr lang="en-US" sz="1450" b="1" dirty="0">
                <a:solidFill>
                  <a:srgbClr val="0B2E2B"/>
                </a:solidFill>
                <a:latin typeface="Calibri" panose="020F0502020204030204" pitchFamily="34" charset="0"/>
                <a:ea typeface="Calibri" panose="020F0502020204030204" pitchFamily="34" charset="-122"/>
                <a:cs typeface="Calibri" panose="020F0502020204030204" pitchFamily="34" charset="-120"/>
              </a:rPr>
              <a:t>Manipulation</a:t>
            </a:r>
            <a:endParaRPr lang="en-US" sz="1450" dirty="0"/>
          </a:p>
        </p:txBody>
      </p:sp>
      <p:sp>
        <p:nvSpPr>
          <p:cNvPr id="30" name="Text 21"/>
          <p:cNvSpPr txBox="1"/>
          <p:nvPr/>
        </p:nvSpPr>
        <p:spPr>
          <a:xfrm>
            <a:off x="3611880" y="4224528"/>
            <a:ext cx="3337560" cy="786384"/>
          </a:xfrm>
          <a:prstGeom prst="rect">
            <a:avLst/>
          </a:prstGeom>
          <a:noFill/>
        </p:spPr>
        <p:txBody>
          <a:bodyPr wrap="square" lIns="0" tIns="0" rIns="0" bIns="0" rtlCol="0" anchor="ctr"/>
          <a:lstStyle/>
          <a:p>
            <a:pPr marL="0" indent="0">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Arm trajectory and gripper operation tested</a:t>
            </a:r>
            <a:endParaRPr lang="en-US" sz="1250" dirty="0"/>
          </a:p>
        </p:txBody>
      </p:sp>
      <p:sp>
        <p:nvSpPr>
          <p:cNvPr id="31" name="Shape 22"/>
          <p:cNvSpPr/>
          <p:nvPr/>
        </p:nvSpPr>
        <p:spPr>
          <a:xfrm>
            <a:off x="7040880" y="4407408"/>
            <a:ext cx="420624" cy="420624"/>
          </a:xfrm>
          <a:prstGeom prst="ellipse">
            <a:avLst/>
          </a:prstGeom>
          <a:solidFill>
            <a:srgbClr val="2E9E6B"/>
          </a:solidFill>
          <a:ln w="12700">
            <a:solidFill>
              <a:srgbClr val="2E9E6B"/>
            </a:solidFill>
            <a:prstDash val="solid"/>
          </a:ln>
        </p:spPr>
      </p:sp>
      <p:pic>
        <p:nvPicPr>
          <p:cNvPr id="32" name="Image 7" descr="preencoded.png"/>
          <p:cNvPicPr>
            <a:picLocks noChangeAspect="1"/>
          </p:cNvPicPr>
          <p:nvPr/>
        </p:nvPicPr>
        <p:blipFill>
          <a:blip r:embed="rId2"/>
          <a:stretch>
            <a:fillRect/>
          </a:stretch>
        </p:blipFill>
        <p:spPr>
          <a:xfrm>
            <a:off x="7154448" y="4520976"/>
            <a:ext cx="193487" cy="193487"/>
          </a:xfrm>
          <a:prstGeom prst="rect">
            <a:avLst/>
          </a:prstGeom>
        </p:spPr>
      </p:pic>
      <p:sp>
        <p:nvSpPr>
          <p:cNvPr id="33" name="Shape 23"/>
          <p:cNvSpPr/>
          <p:nvPr/>
        </p:nvSpPr>
        <p:spPr>
          <a:xfrm>
            <a:off x="548640" y="5129784"/>
            <a:ext cx="7040880" cy="786384"/>
          </a:xfrm>
          <a:prstGeom prst="roundRect">
            <a:avLst>
              <a:gd name="adj" fmla="val 13953"/>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34" name="Shape 24"/>
          <p:cNvSpPr/>
          <p:nvPr/>
        </p:nvSpPr>
        <p:spPr>
          <a:xfrm>
            <a:off x="731520" y="5248656"/>
            <a:ext cx="548640" cy="548640"/>
          </a:xfrm>
          <a:prstGeom prst="ellipse">
            <a:avLst/>
          </a:prstGeom>
          <a:solidFill>
            <a:srgbClr val="14776B"/>
          </a:solidFill>
          <a:ln w="12700">
            <a:solidFill>
              <a:srgbClr val="14776B"/>
            </a:solidFill>
            <a:prstDash val="solid"/>
          </a:ln>
        </p:spPr>
      </p:sp>
      <p:pic>
        <p:nvPicPr>
          <p:cNvPr id="35" name="Image 8" descr="preencoded.png"/>
          <p:cNvPicPr>
            <a:picLocks noChangeAspect="1"/>
          </p:cNvPicPr>
          <p:nvPr/>
        </p:nvPicPr>
        <p:blipFill>
          <a:blip r:embed="rId6"/>
          <a:stretch>
            <a:fillRect/>
          </a:stretch>
        </p:blipFill>
        <p:spPr>
          <a:xfrm>
            <a:off x="879653" y="5396789"/>
            <a:ext cx="252374" cy="252374"/>
          </a:xfrm>
          <a:prstGeom prst="rect">
            <a:avLst/>
          </a:prstGeom>
        </p:spPr>
      </p:pic>
      <p:sp>
        <p:nvSpPr>
          <p:cNvPr id="36" name="Text 25"/>
          <p:cNvSpPr txBox="1"/>
          <p:nvPr/>
        </p:nvSpPr>
        <p:spPr>
          <a:xfrm>
            <a:off x="1463040" y="5129784"/>
            <a:ext cx="2103120" cy="786384"/>
          </a:xfrm>
          <a:prstGeom prst="rect">
            <a:avLst/>
          </a:prstGeom>
          <a:noFill/>
        </p:spPr>
        <p:txBody>
          <a:bodyPr wrap="square" lIns="0" tIns="0" rIns="0" bIns="0" rtlCol="0" anchor="ctr"/>
          <a:lstStyle/>
          <a:p>
            <a:pPr marL="0" indent="0">
              <a:buNone/>
            </a:pPr>
            <a:r>
              <a:rPr lang="en-US" sz="1450" b="1" dirty="0">
                <a:solidFill>
                  <a:srgbClr val="0B2E2B"/>
                </a:solidFill>
                <a:latin typeface="Calibri" panose="020F0502020204030204" pitchFamily="34" charset="0"/>
                <a:ea typeface="Calibri" panose="020F0502020204030204" pitchFamily="34" charset="-122"/>
                <a:cs typeface="Calibri" panose="020F0502020204030204" pitchFamily="34" charset="-120"/>
              </a:rPr>
              <a:t>Collection Workflow</a:t>
            </a:r>
            <a:endParaRPr lang="en-US" sz="1450" dirty="0"/>
          </a:p>
        </p:txBody>
      </p:sp>
      <p:sp>
        <p:nvSpPr>
          <p:cNvPr id="37" name="Text 26"/>
          <p:cNvSpPr txBox="1"/>
          <p:nvPr/>
        </p:nvSpPr>
        <p:spPr>
          <a:xfrm>
            <a:off x="3611880" y="5129784"/>
            <a:ext cx="3337560" cy="786384"/>
          </a:xfrm>
          <a:prstGeom prst="rect">
            <a:avLst/>
          </a:prstGeom>
          <a:noFill/>
        </p:spPr>
        <p:txBody>
          <a:bodyPr wrap="square" lIns="0" tIns="0" rIns="0" bIns="0" rtlCol="0" anchor="ctr"/>
          <a:lstStyle/>
          <a:p>
            <a:pPr marL="0" indent="0">
              <a:buNone/>
            </a:pPr>
            <a:r>
              <a:rPr lang="en-US" sz="1250" dirty="0">
                <a:solidFill>
                  <a:srgbClr val="1E2B2A"/>
                </a:solidFill>
                <a:latin typeface="Calibri" panose="020F0502020204030204" pitchFamily="34" charset="0"/>
                <a:ea typeface="Calibri" panose="020F0502020204030204" pitchFamily="34" charset="-122"/>
                <a:cs typeface="Calibri" panose="020F0502020204030204" pitchFamily="34" charset="-120"/>
              </a:rPr>
              <a:t>Complete detection-to-disposal sequence evaluated</a:t>
            </a:r>
            <a:endParaRPr lang="en-US" sz="1250" dirty="0"/>
          </a:p>
        </p:txBody>
      </p:sp>
      <p:sp>
        <p:nvSpPr>
          <p:cNvPr id="38" name="Shape 27"/>
          <p:cNvSpPr/>
          <p:nvPr/>
        </p:nvSpPr>
        <p:spPr>
          <a:xfrm>
            <a:off x="7040880" y="5312664"/>
            <a:ext cx="420624" cy="420624"/>
          </a:xfrm>
          <a:prstGeom prst="ellipse">
            <a:avLst/>
          </a:prstGeom>
          <a:solidFill>
            <a:srgbClr val="2E9E6B"/>
          </a:solidFill>
          <a:ln w="12700">
            <a:solidFill>
              <a:srgbClr val="2E9E6B"/>
            </a:solidFill>
            <a:prstDash val="solid"/>
          </a:ln>
        </p:spPr>
      </p:sp>
      <p:pic>
        <p:nvPicPr>
          <p:cNvPr id="39" name="Image 9" descr="preencoded.png"/>
          <p:cNvPicPr>
            <a:picLocks noChangeAspect="1"/>
          </p:cNvPicPr>
          <p:nvPr/>
        </p:nvPicPr>
        <p:blipFill>
          <a:blip r:embed="rId2"/>
          <a:stretch>
            <a:fillRect/>
          </a:stretch>
        </p:blipFill>
        <p:spPr>
          <a:xfrm>
            <a:off x="7154448" y="5426232"/>
            <a:ext cx="193487" cy="193487"/>
          </a:xfrm>
          <a:prstGeom prst="rect">
            <a:avLst/>
          </a:prstGeom>
        </p:spPr>
      </p:pic>
      <p:sp>
        <p:nvSpPr>
          <p:cNvPr id="40" name="Text 28"/>
          <p:cNvSpPr txBox="1"/>
          <p:nvPr/>
        </p:nvSpPr>
        <p:spPr>
          <a:xfrm>
            <a:off x="548640" y="6080760"/>
            <a:ext cx="7040880" cy="274320"/>
          </a:xfrm>
          <a:prstGeom prst="rect">
            <a:avLst/>
          </a:prstGeom>
          <a:noFill/>
        </p:spPr>
        <p:txBody>
          <a:bodyPr wrap="square" lIns="0" tIns="0" rIns="0" bIns="0" rtlCol="0" anchor="ctr"/>
          <a:lstStyle/>
          <a:p>
            <a:pPr marL="0" indent="0">
              <a:buNone/>
            </a:pPr>
            <a:r>
              <a:rPr lang="en-US" sz="1150" i="1" dirty="0">
                <a:solidFill>
                  <a:srgbClr val="5A6E6A"/>
                </a:solidFill>
                <a:latin typeface="Calibri" panose="020F0502020204030204" pitchFamily="34" charset="0"/>
                <a:ea typeface="Calibri" panose="020F0502020204030204" pitchFamily="34" charset="-122"/>
                <a:cs typeface="Calibri" panose="020F0502020204030204" pitchFamily="34" charset="-120"/>
              </a:rPr>
              <a:t>Evaluation is qualitative and simulation-based.</a:t>
            </a:r>
            <a:endParaRPr lang="en-US" sz="1150" dirty="0"/>
          </a:p>
        </p:txBody>
      </p:sp>
      <p:sp>
        <p:nvSpPr>
          <p:cNvPr id="41" name="Shape 29"/>
          <p:cNvSpPr/>
          <p:nvPr/>
        </p:nvSpPr>
        <p:spPr>
          <a:xfrm>
            <a:off x="7909560" y="1508760"/>
            <a:ext cx="3730752" cy="4443984"/>
          </a:xfrm>
          <a:prstGeom prst="roundRect">
            <a:avLst>
              <a:gd name="adj" fmla="val 2941"/>
            </a:avLst>
          </a:prstGeom>
          <a:solidFill>
            <a:srgbClr val="0B2E2B"/>
          </a:solidFill>
          <a:ln w="12700">
            <a:solidFill>
              <a:srgbClr val="0B2E2B"/>
            </a:solidFill>
            <a:prstDash val="solid"/>
          </a:ln>
        </p:spPr>
      </p:sp>
      <p:sp>
        <p:nvSpPr>
          <p:cNvPr id="42" name="Text 30"/>
          <p:cNvSpPr txBox="1"/>
          <p:nvPr/>
        </p:nvSpPr>
        <p:spPr>
          <a:xfrm>
            <a:off x="8229600" y="1737360"/>
            <a:ext cx="3108960" cy="411480"/>
          </a:xfrm>
          <a:prstGeom prst="rect">
            <a:avLst/>
          </a:prstGeom>
          <a:noFill/>
        </p:spPr>
        <p:txBody>
          <a:bodyPr wrap="square" lIns="0" tIns="0" rIns="0" bIns="0" rtlCol="0" anchor="ctr"/>
          <a:lstStyle/>
          <a:p>
            <a:pPr marL="0" indent="0">
              <a:buNone/>
            </a:pPr>
            <a:r>
              <a:rPr lang="en-US" sz="2100" b="1" dirty="0">
                <a:solidFill>
                  <a:srgbClr val="FFFFFF"/>
                </a:solidFill>
                <a:latin typeface="Cambria" panose="02040503050406030204" pitchFamily="34" charset="0"/>
                <a:ea typeface="Cambria" panose="02040503050406030204" pitchFamily="34" charset="-122"/>
                <a:cs typeface="Cambria" panose="02040503050406030204" pitchFamily="34" charset="-120"/>
              </a:rPr>
              <a:t>Discussion</a:t>
            </a:r>
            <a:endParaRPr lang="en-US" sz="2100" dirty="0"/>
          </a:p>
        </p:txBody>
      </p:sp>
      <p:sp>
        <p:nvSpPr>
          <p:cNvPr id="43" name="Text 31"/>
          <p:cNvSpPr txBox="1"/>
          <p:nvPr/>
        </p:nvSpPr>
        <p:spPr>
          <a:xfrm>
            <a:off x="8229600" y="2331720"/>
            <a:ext cx="3154680" cy="3474720"/>
          </a:xfrm>
          <a:prstGeom prst="rect">
            <a:avLst/>
          </a:prstGeom>
          <a:noFill/>
        </p:spPr>
        <p:txBody>
          <a:bodyPr wrap="square" lIns="0" tIns="0" rIns="0" bIns="0" rtlCol="0" anchor="t"/>
          <a:lstStyle/>
          <a:p>
            <a:pPr marL="342900" indent="-342900">
              <a:spcAft>
                <a:spcPts val="1400"/>
              </a:spcAft>
              <a:buSzPct val="100000"/>
              <a:buChar char="•"/>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Perception, navigation and manipulation work together to complete the full collection workflow.</a:t>
            </a:r>
            <a:endParaRPr lang="en-US" sz="1600" dirty="0"/>
          </a:p>
          <a:p>
            <a:pPr marL="342900" indent="-342900">
              <a:spcAft>
                <a:spcPts val="1400"/>
              </a:spcAft>
              <a:buSzPct val="100000"/>
              <a:buChar char="•"/>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Performance depends on accurate detection, camera positioning and arm trajectory control.</a:t>
            </a:r>
            <a:endParaRPr lang="en-US" sz="1600" dirty="0"/>
          </a:p>
          <a:p>
            <a:pPr marL="342900" indent="-342900">
              <a:spcAft>
                <a:spcPts val="1400"/>
              </a:spcAft>
              <a:buSzPct val="100000"/>
              <a:buChar char="•"/>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Simulation gives a controlled setting to validate the architecture before physical implementation.</a:t>
            </a:r>
            <a:endParaRPr lang="en-US" sz="1600" dirty="0"/>
          </a:p>
        </p:txBody>
      </p:sp>
      <p:sp>
        <p:nvSpPr>
          <p:cNvPr id="44"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LIMITATIONS AND FUTURE WORK</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Challenges and Next Steps</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Shape 3"/>
          <p:cNvSpPr/>
          <p:nvPr/>
        </p:nvSpPr>
        <p:spPr>
          <a:xfrm>
            <a:off x="548640" y="1554480"/>
            <a:ext cx="5349240" cy="4480560"/>
          </a:xfrm>
          <a:prstGeom prst="roundRect">
            <a:avLst>
              <a:gd name="adj" fmla="val 2449"/>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sp>
        <p:nvSpPr>
          <p:cNvPr id="6" name="Shape 4"/>
          <p:cNvSpPr/>
          <p:nvPr/>
        </p:nvSpPr>
        <p:spPr>
          <a:xfrm>
            <a:off x="868680" y="1810512"/>
            <a:ext cx="548640" cy="548640"/>
          </a:xfrm>
          <a:prstGeom prst="ellipse">
            <a:avLst/>
          </a:prstGeom>
          <a:solidFill>
            <a:srgbClr val="F2A93B"/>
          </a:solidFill>
          <a:ln w="12700">
            <a:solidFill>
              <a:srgbClr val="F2A93B"/>
            </a:solidFill>
            <a:prstDash val="solid"/>
          </a:ln>
        </p:spPr>
      </p:sp>
      <p:pic>
        <p:nvPicPr>
          <p:cNvPr id="7" name="Image 0" descr="preencoded.png"/>
          <p:cNvPicPr>
            <a:picLocks noChangeAspect="1"/>
          </p:cNvPicPr>
          <p:nvPr/>
        </p:nvPicPr>
        <p:blipFill>
          <a:blip r:embed="rId1"/>
          <a:stretch>
            <a:fillRect/>
          </a:stretch>
        </p:blipFill>
        <p:spPr>
          <a:xfrm>
            <a:off x="1016813" y="1958645"/>
            <a:ext cx="252374" cy="252374"/>
          </a:xfrm>
          <a:prstGeom prst="rect">
            <a:avLst/>
          </a:prstGeom>
        </p:spPr>
      </p:pic>
      <p:sp>
        <p:nvSpPr>
          <p:cNvPr id="8" name="Text 5"/>
          <p:cNvSpPr txBox="1"/>
          <p:nvPr/>
        </p:nvSpPr>
        <p:spPr>
          <a:xfrm>
            <a:off x="1600200" y="1810512"/>
            <a:ext cx="4114800" cy="548640"/>
          </a:xfrm>
          <a:prstGeom prst="rect">
            <a:avLst/>
          </a:prstGeom>
          <a:noFill/>
        </p:spPr>
        <p:txBody>
          <a:bodyPr wrap="square" lIns="0" tIns="0" rIns="0" bIns="0" rtlCol="0" anchor="ctr"/>
          <a:lstStyle/>
          <a:p>
            <a:pPr marL="0" indent="0">
              <a:buNone/>
            </a:pPr>
            <a:r>
              <a:rPr lang="en-US" sz="2000" b="1" dirty="0">
                <a:solidFill>
                  <a:srgbClr val="0B2E2B"/>
                </a:solidFill>
                <a:latin typeface="Cambria" panose="02040503050406030204" pitchFamily="34" charset="0"/>
                <a:ea typeface="Cambria" panose="02040503050406030204" pitchFamily="34" charset="-122"/>
                <a:cs typeface="Cambria" panose="02040503050406030204" pitchFamily="34" charset="-120"/>
              </a:rPr>
              <a:t>Challenges observed</a:t>
            </a:r>
            <a:endParaRPr lang="en-US" sz="2000" dirty="0"/>
          </a:p>
        </p:txBody>
      </p:sp>
      <p:sp>
        <p:nvSpPr>
          <p:cNvPr id="9" name="Text 6"/>
          <p:cNvSpPr txBox="1"/>
          <p:nvPr/>
        </p:nvSpPr>
        <p:spPr>
          <a:xfrm>
            <a:off x="868680" y="2606040"/>
            <a:ext cx="4754880" cy="3291840"/>
          </a:xfrm>
          <a:prstGeom prst="rect">
            <a:avLst/>
          </a:prstGeom>
          <a:noFill/>
        </p:spPr>
        <p:txBody>
          <a:bodyPr wrap="square" lIns="0" tIns="0" rIns="0" bIns="0" rtlCol="0" anchor="t"/>
          <a:lstStyle/>
          <a:p>
            <a:pPr marL="342900" indent="-342900">
              <a:spcAft>
                <a:spcPts val="1200"/>
              </a:spcAft>
              <a:buSzPct val="100000"/>
              <a:buChar char="•"/>
            </a:pPr>
            <a:r>
              <a:rPr lang="en-US" sz="1650" dirty="0">
                <a:solidFill>
                  <a:srgbClr val="1E2B2A"/>
                </a:solidFill>
                <a:latin typeface="Calibri" panose="020F0502020204030204" pitchFamily="34" charset="0"/>
                <a:ea typeface="Calibri" panose="020F0502020204030204" pitchFamily="34" charset="-122"/>
                <a:cs typeface="Calibri" panose="020F0502020204030204" pitchFamily="34" charset="-120"/>
              </a:rPr>
              <a:t>Camera viewpoint affected object visibility</a:t>
            </a:r>
            <a:endParaRPr lang="en-US" sz="1650" dirty="0"/>
          </a:p>
          <a:p>
            <a:pPr marL="342900" indent="-342900">
              <a:spcAft>
                <a:spcPts val="1200"/>
              </a:spcAft>
              <a:buSzPct val="100000"/>
              <a:buChar char="•"/>
            </a:pPr>
            <a:r>
              <a:rPr lang="en-US" sz="1650" dirty="0">
                <a:solidFill>
                  <a:srgbClr val="1E2B2A"/>
                </a:solidFill>
                <a:latin typeface="Calibri" panose="020F0502020204030204" pitchFamily="34" charset="0"/>
                <a:ea typeface="Calibri" panose="020F0502020204030204" pitchFamily="34" charset="-122"/>
                <a:cs typeface="Calibri" panose="020F0502020204030204" pitchFamily="34" charset="-120"/>
              </a:rPr>
              <a:t>Arm needed accurate trajectory tuning for reliable grasping</a:t>
            </a:r>
            <a:endParaRPr lang="en-US" sz="1650" dirty="0"/>
          </a:p>
          <a:p>
            <a:pPr marL="342900" indent="-342900">
              <a:spcAft>
                <a:spcPts val="1200"/>
              </a:spcAft>
              <a:buSzPct val="100000"/>
              <a:buChar char="•"/>
            </a:pPr>
            <a:r>
              <a:rPr lang="en-US" sz="1650" dirty="0">
                <a:solidFill>
                  <a:srgbClr val="1E2B2A"/>
                </a:solidFill>
                <a:latin typeface="Calibri" panose="020F0502020204030204" pitchFamily="34" charset="0"/>
                <a:ea typeface="Calibri" panose="020F0502020204030204" pitchFamily="34" charset="-122"/>
                <a:cs typeface="Calibri" panose="020F0502020204030204" pitchFamily="34" charset="-120"/>
              </a:rPr>
              <a:t>Detection may drop under different lighting or complex backgrounds</a:t>
            </a:r>
            <a:endParaRPr lang="en-US" sz="1650" dirty="0"/>
          </a:p>
          <a:p>
            <a:pPr marL="342900" indent="-342900">
              <a:spcAft>
                <a:spcPts val="1200"/>
              </a:spcAft>
              <a:buSzPct val="100000"/>
              <a:buChar char="•"/>
            </a:pPr>
            <a:r>
              <a:rPr lang="en-US" sz="1650" dirty="0">
                <a:solidFill>
                  <a:srgbClr val="1E2B2A"/>
                </a:solidFill>
                <a:latin typeface="Calibri" panose="020F0502020204030204" pitchFamily="34" charset="0"/>
                <a:ea typeface="Calibri" panose="020F0502020204030204" pitchFamily="34" charset="-122"/>
                <a:cs typeface="Calibri" panose="020F0502020204030204" pitchFamily="34" charset="-120"/>
              </a:rPr>
              <a:t>Navigation and manipulation modules must stay synchronized</a:t>
            </a:r>
            <a:endParaRPr lang="en-US" sz="1650" dirty="0"/>
          </a:p>
          <a:p>
            <a:pPr marL="342900" indent="-342900">
              <a:spcAft>
                <a:spcPts val="1200"/>
              </a:spcAft>
              <a:buSzPct val="100000"/>
              <a:buChar char="•"/>
            </a:pPr>
            <a:r>
              <a:rPr lang="en-US" sz="1650" dirty="0">
                <a:solidFill>
                  <a:srgbClr val="1E2B2A"/>
                </a:solidFill>
                <a:latin typeface="Calibri" panose="020F0502020204030204" pitchFamily="34" charset="0"/>
                <a:ea typeface="Calibri" panose="020F0502020204030204" pitchFamily="34" charset="-122"/>
                <a:cs typeface="Calibri" panose="020F0502020204030204" pitchFamily="34" charset="-120"/>
              </a:rPr>
              <a:t>Evaluated in simulation only</a:t>
            </a:r>
            <a:endParaRPr lang="en-US" sz="1650" dirty="0"/>
          </a:p>
        </p:txBody>
      </p:sp>
      <p:sp>
        <p:nvSpPr>
          <p:cNvPr id="10" name="Shape 7"/>
          <p:cNvSpPr/>
          <p:nvPr/>
        </p:nvSpPr>
        <p:spPr>
          <a:xfrm>
            <a:off x="6291072" y="1554480"/>
            <a:ext cx="5349240" cy="4480560"/>
          </a:xfrm>
          <a:prstGeom prst="roundRect">
            <a:avLst>
              <a:gd name="adj" fmla="val 2449"/>
            </a:avLst>
          </a:prstGeom>
          <a:solidFill>
            <a:srgbClr val="0B2E2B"/>
          </a:solidFill>
          <a:ln w="12700">
            <a:solidFill>
              <a:srgbClr val="0B2E2B"/>
            </a:solidFill>
            <a:prstDash val="solid"/>
          </a:ln>
        </p:spPr>
      </p:sp>
      <p:sp>
        <p:nvSpPr>
          <p:cNvPr id="11" name="Shape 8"/>
          <p:cNvSpPr/>
          <p:nvPr/>
        </p:nvSpPr>
        <p:spPr>
          <a:xfrm>
            <a:off x="6611112" y="1810512"/>
            <a:ext cx="548640" cy="548640"/>
          </a:xfrm>
          <a:prstGeom prst="ellipse">
            <a:avLst/>
          </a:prstGeom>
          <a:solidFill>
            <a:srgbClr val="F2A93B"/>
          </a:solidFill>
          <a:ln w="12700">
            <a:solidFill>
              <a:srgbClr val="F2A93B"/>
            </a:solidFill>
            <a:prstDash val="solid"/>
          </a:ln>
        </p:spPr>
      </p:sp>
      <p:pic>
        <p:nvPicPr>
          <p:cNvPr id="12" name="Image 1" descr="preencoded.png"/>
          <p:cNvPicPr>
            <a:picLocks noChangeAspect="1"/>
          </p:cNvPicPr>
          <p:nvPr/>
        </p:nvPicPr>
        <p:blipFill>
          <a:blip r:embed="rId2"/>
          <a:stretch>
            <a:fillRect/>
          </a:stretch>
        </p:blipFill>
        <p:spPr>
          <a:xfrm>
            <a:off x="6759245" y="1958645"/>
            <a:ext cx="252374" cy="252374"/>
          </a:xfrm>
          <a:prstGeom prst="rect">
            <a:avLst/>
          </a:prstGeom>
        </p:spPr>
      </p:pic>
      <p:sp>
        <p:nvSpPr>
          <p:cNvPr id="13" name="Text 9"/>
          <p:cNvSpPr txBox="1"/>
          <p:nvPr/>
        </p:nvSpPr>
        <p:spPr>
          <a:xfrm>
            <a:off x="7342632" y="1810512"/>
            <a:ext cx="4114800" cy="548640"/>
          </a:xfrm>
          <a:prstGeom prst="rect">
            <a:avLst/>
          </a:prstGeom>
          <a:noFill/>
        </p:spPr>
        <p:txBody>
          <a:bodyPr wrap="square" lIns="0" tIns="0" rIns="0" bIns="0" rtlCol="0" anchor="ctr"/>
          <a:lstStyle/>
          <a:p>
            <a:pPr marL="0" indent="0">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Future improvements</a:t>
            </a:r>
            <a:endParaRPr lang="en-US" sz="2000" dirty="0"/>
          </a:p>
        </p:txBody>
      </p:sp>
      <p:sp>
        <p:nvSpPr>
          <p:cNvPr id="14" name="Text 10"/>
          <p:cNvSpPr txBox="1"/>
          <p:nvPr/>
        </p:nvSpPr>
        <p:spPr>
          <a:xfrm>
            <a:off x="6611112" y="2606040"/>
            <a:ext cx="4754880" cy="3291840"/>
          </a:xfrm>
          <a:prstGeom prst="rect">
            <a:avLst/>
          </a:prstGeom>
          <a:noFill/>
        </p:spPr>
        <p:txBody>
          <a:bodyPr wrap="square" lIns="0" tIns="0" rIns="0" bIns="0" rtlCol="0" anchor="t"/>
          <a:lstStyle/>
          <a:p>
            <a:pPr marL="342900" indent="-342900">
              <a:spcAft>
                <a:spcPts val="1600"/>
              </a:spcAft>
              <a:buSzPct val="100000"/>
              <a:buChar char="•"/>
            </a:pPr>
            <a:r>
              <a:rPr lang="en-US" sz="1650" dirty="0">
                <a:solidFill>
                  <a:srgbClr val="FFFFFF"/>
                </a:solidFill>
                <a:latin typeface="Calibri" panose="020F0502020204030204" pitchFamily="34" charset="0"/>
                <a:ea typeface="Calibri" panose="020F0502020204030204" pitchFamily="34" charset="-122"/>
                <a:cs typeface="Calibri" panose="020F0502020204030204" pitchFamily="34" charset="-120"/>
              </a:rPr>
              <a:t>Deep learning-based object detection to replace color-based detection</a:t>
            </a:r>
            <a:endParaRPr lang="en-US" sz="1650" dirty="0"/>
          </a:p>
          <a:p>
            <a:pPr marL="342900" indent="-342900">
              <a:spcAft>
                <a:spcPts val="1600"/>
              </a:spcAft>
              <a:buSzPct val="100000"/>
              <a:buChar char="•"/>
            </a:pPr>
            <a:r>
              <a:rPr lang="en-US" sz="1650" dirty="0">
                <a:solidFill>
                  <a:srgbClr val="FFFFFF"/>
                </a:solidFill>
                <a:latin typeface="Calibri" panose="020F0502020204030204" pitchFamily="34" charset="0"/>
                <a:ea typeface="Calibri" panose="020F0502020204030204" pitchFamily="34" charset="-122"/>
                <a:cs typeface="Calibri" panose="020F0502020204030204" pitchFamily="34" charset="-120"/>
              </a:rPr>
              <a:t>SLAM-based navigation</a:t>
            </a:r>
            <a:endParaRPr lang="en-US" sz="1650" dirty="0"/>
          </a:p>
          <a:p>
            <a:pPr marL="342900" indent="-342900">
              <a:spcAft>
                <a:spcPts val="1600"/>
              </a:spcAft>
              <a:buSzPct val="100000"/>
              <a:buChar char="•"/>
            </a:pPr>
            <a:r>
              <a:rPr lang="en-US" sz="1650" dirty="0">
                <a:solidFill>
                  <a:srgbClr val="FFFFFF"/>
                </a:solidFill>
                <a:latin typeface="Calibri" panose="020F0502020204030204" pitchFamily="34" charset="0"/>
                <a:ea typeface="Calibri" panose="020F0502020204030204" pitchFamily="34" charset="-122"/>
                <a:cs typeface="Calibri" panose="020F0502020204030204" pitchFamily="34" charset="-120"/>
              </a:rPr>
              <a:t>Improved grasp planning</a:t>
            </a:r>
            <a:endParaRPr lang="en-US" sz="1650" dirty="0"/>
          </a:p>
          <a:p>
            <a:pPr marL="342900" indent="-342900">
              <a:spcAft>
                <a:spcPts val="1600"/>
              </a:spcAft>
              <a:buSzPct val="100000"/>
              <a:buChar char="•"/>
            </a:pPr>
            <a:r>
              <a:rPr lang="en-US" sz="1650" dirty="0">
                <a:solidFill>
                  <a:srgbClr val="FFFFFF"/>
                </a:solidFill>
                <a:latin typeface="Calibri" panose="020F0502020204030204" pitchFamily="34" charset="0"/>
                <a:ea typeface="Calibri" panose="020F0502020204030204" pitchFamily="34" charset="-122"/>
                <a:cs typeface="Calibri" panose="020F0502020204030204" pitchFamily="34" charset="-120"/>
              </a:rPr>
              <a:t>Validation on a physical robot platform</a:t>
            </a:r>
            <a:endParaRPr lang="en-US" sz="1650" dirty="0"/>
          </a:p>
        </p:txBody>
      </p:sp>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2E2B"/>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6400800" cy="822960"/>
          </a:xfrm>
          <a:prstGeom prst="rect">
            <a:avLst/>
          </a:prstGeom>
          <a:noFill/>
        </p:spPr>
        <p:txBody>
          <a:bodyPr wrap="square" lIns="0" tIns="0" rIns="0" bIns="0" rtlCol="0" anchor="ctr"/>
          <a:lstStyle/>
          <a:p>
            <a:pPr marL="0" indent="0">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Conclusion</a:t>
            </a:r>
            <a:endParaRPr lang="en-US" sz="4000" dirty="0"/>
          </a:p>
        </p:txBody>
      </p:sp>
      <p:sp>
        <p:nvSpPr>
          <p:cNvPr id="3" name="Shape 1"/>
          <p:cNvSpPr/>
          <p:nvPr/>
        </p:nvSpPr>
        <p:spPr>
          <a:xfrm>
            <a:off x="640080" y="1691640"/>
            <a:ext cx="731520" cy="731520"/>
          </a:xfrm>
          <a:prstGeom prst="ellipse">
            <a:avLst/>
          </a:prstGeom>
          <a:solidFill>
            <a:srgbClr val="F2A93B"/>
          </a:solidFill>
          <a:ln w="12700">
            <a:solidFill>
              <a:srgbClr val="F2A93B"/>
            </a:solidFill>
            <a:prstDash val="solid"/>
          </a:ln>
        </p:spPr>
      </p:sp>
      <p:pic>
        <p:nvPicPr>
          <p:cNvPr id="4" name="Image 0" descr="preencoded.png"/>
          <p:cNvPicPr>
            <a:picLocks noChangeAspect="1"/>
          </p:cNvPicPr>
          <p:nvPr/>
        </p:nvPicPr>
        <p:blipFill>
          <a:blip r:embed="rId1"/>
          <a:stretch>
            <a:fillRect/>
          </a:stretch>
        </p:blipFill>
        <p:spPr>
          <a:xfrm>
            <a:off x="837590" y="1889150"/>
            <a:ext cx="336499" cy="336499"/>
          </a:xfrm>
          <a:prstGeom prst="rect">
            <a:avLst/>
          </a:prstGeom>
        </p:spPr>
      </p:pic>
      <p:sp>
        <p:nvSpPr>
          <p:cNvPr id="5" name="Text 2"/>
          <p:cNvSpPr txBox="1"/>
          <p:nvPr/>
        </p:nvSpPr>
        <p:spPr>
          <a:xfrm>
            <a:off x="1645920" y="1645920"/>
            <a:ext cx="5120640" cy="411480"/>
          </a:xfrm>
          <a:prstGeom prst="rect">
            <a:avLst/>
          </a:prstGeom>
          <a:noFill/>
        </p:spPr>
        <p:txBody>
          <a:bodyPr wrap="square" lIns="0" tIns="0" rIns="0" bIns="0" rtlCol="0" anchor="ctr"/>
          <a:lstStyle/>
          <a:p>
            <a:pPr marL="0" indent="0">
              <a:buNone/>
            </a:pPr>
            <a:r>
              <a:rPr lang="en-US" sz="1900" b="1" dirty="0">
                <a:solidFill>
                  <a:srgbClr val="FFFFFF"/>
                </a:solidFill>
                <a:latin typeface="Cambria" panose="02040503050406030204" pitchFamily="34" charset="0"/>
                <a:ea typeface="Cambria" panose="02040503050406030204" pitchFamily="34" charset="-122"/>
                <a:cs typeface="Cambria" panose="02040503050406030204" pitchFamily="34" charset="-120"/>
              </a:rPr>
              <a:t>Integrated end-to-end workflow</a:t>
            </a:r>
            <a:endParaRPr lang="en-US" sz="1900" dirty="0"/>
          </a:p>
        </p:txBody>
      </p:sp>
      <p:sp>
        <p:nvSpPr>
          <p:cNvPr id="6" name="Text 3"/>
          <p:cNvSpPr txBox="1"/>
          <p:nvPr/>
        </p:nvSpPr>
        <p:spPr>
          <a:xfrm>
            <a:off x="1645920" y="2075688"/>
            <a:ext cx="5120640" cy="777240"/>
          </a:xfrm>
          <a:prstGeom prst="rect">
            <a:avLst/>
          </a:prstGeom>
          <a:noFill/>
        </p:spPr>
        <p:txBody>
          <a:bodyPr wrap="square" lIns="0" tIns="0" rIns="0" bIns="0" rtlCol="0" anchor="t"/>
          <a:lstStyle/>
          <a:p>
            <a:pPr marL="0" indent="0">
              <a:buNone/>
            </a:pPr>
            <a:r>
              <a:rPr lang="en-US" sz="1400" dirty="0">
                <a:solidFill>
                  <a:srgbClr val="CDE8DF"/>
                </a:solidFill>
                <a:latin typeface="Calibri" panose="020F0502020204030204" pitchFamily="34" charset="0"/>
                <a:ea typeface="Calibri" panose="020F0502020204030204" pitchFamily="34" charset="-122"/>
                <a:cs typeface="Calibri" panose="020F0502020204030204" pitchFamily="34" charset="-120"/>
              </a:rPr>
              <a:t>Detection, approach, grasping and disposal demonstrated in Gazebo Classic with ROS 2.</a:t>
            </a:r>
            <a:endParaRPr lang="en-US" sz="1400" dirty="0"/>
          </a:p>
        </p:txBody>
      </p:sp>
      <p:sp>
        <p:nvSpPr>
          <p:cNvPr id="7" name="Shape 4"/>
          <p:cNvSpPr/>
          <p:nvPr/>
        </p:nvSpPr>
        <p:spPr>
          <a:xfrm>
            <a:off x="640080" y="3154680"/>
            <a:ext cx="731520" cy="731520"/>
          </a:xfrm>
          <a:prstGeom prst="ellipse">
            <a:avLst/>
          </a:prstGeom>
          <a:solidFill>
            <a:srgbClr val="F2A93B"/>
          </a:solidFill>
          <a:ln w="12700">
            <a:solidFill>
              <a:srgbClr val="F2A93B"/>
            </a:solidFill>
            <a:prstDash val="solid"/>
          </a:ln>
        </p:spPr>
      </p:sp>
      <p:pic>
        <p:nvPicPr>
          <p:cNvPr id="8" name="Image 1" descr="preencoded.png"/>
          <p:cNvPicPr>
            <a:picLocks noChangeAspect="1"/>
          </p:cNvPicPr>
          <p:nvPr/>
        </p:nvPicPr>
        <p:blipFill>
          <a:blip r:embed="rId2"/>
          <a:stretch>
            <a:fillRect/>
          </a:stretch>
        </p:blipFill>
        <p:spPr>
          <a:xfrm>
            <a:off x="837590" y="3352190"/>
            <a:ext cx="336499" cy="336499"/>
          </a:xfrm>
          <a:prstGeom prst="rect">
            <a:avLst/>
          </a:prstGeom>
        </p:spPr>
      </p:pic>
      <p:sp>
        <p:nvSpPr>
          <p:cNvPr id="9" name="Text 5"/>
          <p:cNvSpPr txBox="1"/>
          <p:nvPr/>
        </p:nvSpPr>
        <p:spPr>
          <a:xfrm>
            <a:off x="1645920" y="3108960"/>
            <a:ext cx="5120640" cy="411480"/>
          </a:xfrm>
          <a:prstGeom prst="rect">
            <a:avLst/>
          </a:prstGeom>
          <a:noFill/>
        </p:spPr>
        <p:txBody>
          <a:bodyPr wrap="square" lIns="0" tIns="0" rIns="0" bIns="0" rtlCol="0" anchor="ctr"/>
          <a:lstStyle/>
          <a:p>
            <a:pPr marL="0" indent="0">
              <a:buNone/>
            </a:pPr>
            <a:r>
              <a:rPr lang="en-US" sz="1900" b="1" dirty="0">
                <a:solidFill>
                  <a:srgbClr val="FFFFFF"/>
                </a:solidFill>
                <a:latin typeface="Cambria" panose="02040503050406030204" pitchFamily="34" charset="0"/>
                <a:ea typeface="Cambria" panose="02040503050406030204" pitchFamily="34" charset="-122"/>
                <a:cs typeface="Cambria" panose="02040503050406030204" pitchFamily="34" charset="-120"/>
              </a:rPr>
              <a:t>Modular ROS 2 architecture</a:t>
            </a:r>
            <a:endParaRPr lang="en-US" sz="1900" dirty="0"/>
          </a:p>
        </p:txBody>
      </p:sp>
      <p:sp>
        <p:nvSpPr>
          <p:cNvPr id="10" name="Text 6"/>
          <p:cNvSpPr txBox="1"/>
          <p:nvPr/>
        </p:nvSpPr>
        <p:spPr>
          <a:xfrm>
            <a:off x="1645920" y="3538728"/>
            <a:ext cx="5120640" cy="777240"/>
          </a:xfrm>
          <a:prstGeom prst="rect">
            <a:avLst/>
          </a:prstGeom>
          <a:noFill/>
        </p:spPr>
        <p:txBody>
          <a:bodyPr wrap="square" lIns="0" tIns="0" rIns="0" bIns="0" rtlCol="0" anchor="t"/>
          <a:lstStyle/>
          <a:p>
            <a:pPr marL="0" indent="0">
              <a:buNone/>
            </a:pPr>
            <a:r>
              <a:rPr lang="en-US" sz="1400" dirty="0">
                <a:solidFill>
                  <a:srgbClr val="CDE8DF"/>
                </a:solidFill>
                <a:latin typeface="Calibri" panose="020F0502020204030204" pitchFamily="34" charset="0"/>
                <a:ea typeface="Calibri" panose="020F0502020204030204" pitchFamily="34" charset="-122"/>
                <a:cs typeface="Calibri" panose="020F0502020204030204" pitchFamily="34" charset="-120"/>
              </a:rPr>
              <a:t>Perception, navigation and manipulation communicate through dedicated nodes and topics.</a:t>
            </a:r>
            <a:endParaRPr lang="en-US" sz="1400" dirty="0"/>
          </a:p>
        </p:txBody>
      </p:sp>
      <p:sp>
        <p:nvSpPr>
          <p:cNvPr id="11" name="Shape 7"/>
          <p:cNvSpPr/>
          <p:nvPr/>
        </p:nvSpPr>
        <p:spPr>
          <a:xfrm>
            <a:off x="640080" y="4617720"/>
            <a:ext cx="731520" cy="731520"/>
          </a:xfrm>
          <a:prstGeom prst="ellipse">
            <a:avLst/>
          </a:prstGeom>
          <a:solidFill>
            <a:srgbClr val="F2A93B"/>
          </a:solidFill>
          <a:ln w="12700">
            <a:solidFill>
              <a:srgbClr val="F2A93B"/>
            </a:solidFill>
            <a:prstDash val="solid"/>
          </a:ln>
        </p:spPr>
      </p:sp>
      <p:pic>
        <p:nvPicPr>
          <p:cNvPr id="12" name="Image 2" descr="preencoded.png"/>
          <p:cNvPicPr>
            <a:picLocks noChangeAspect="1"/>
          </p:cNvPicPr>
          <p:nvPr/>
        </p:nvPicPr>
        <p:blipFill>
          <a:blip r:embed="rId3"/>
          <a:stretch>
            <a:fillRect/>
          </a:stretch>
        </p:blipFill>
        <p:spPr>
          <a:xfrm>
            <a:off x="837590" y="4815230"/>
            <a:ext cx="336499" cy="336499"/>
          </a:xfrm>
          <a:prstGeom prst="rect">
            <a:avLst/>
          </a:prstGeom>
        </p:spPr>
      </p:pic>
      <p:sp>
        <p:nvSpPr>
          <p:cNvPr id="13" name="Text 8"/>
          <p:cNvSpPr txBox="1"/>
          <p:nvPr/>
        </p:nvSpPr>
        <p:spPr>
          <a:xfrm>
            <a:off x="1645920" y="4572000"/>
            <a:ext cx="5120640" cy="411480"/>
          </a:xfrm>
          <a:prstGeom prst="rect">
            <a:avLst/>
          </a:prstGeom>
          <a:noFill/>
        </p:spPr>
        <p:txBody>
          <a:bodyPr wrap="square" lIns="0" tIns="0" rIns="0" bIns="0" rtlCol="0" anchor="ctr"/>
          <a:lstStyle/>
          <a:p>
            <a:pPr marL="0" indent="0">
              <a:buNone/>
            </a:pPr>
            <a:r>
              <a:rPr lang="en-US" sz="1900" b="1" dirty="0">
                <a:solidFill>
                  <a:srgbClr val="FFFFFF"/>
                </a:solidFill>
                <a:latin typeface="Cambria" panose="02040503050406030204" pitchFamily="34" charset="0"/>
                <a:ea typeface="Cambria" panose="02040503050406030204" pitchFamily="34" charset="-122"/>
                <a:cs typeface="Cambria" panose="02040503050406030204" pitchFamily="34" charset="-120"/>
              </a:rPr>
              <a:t>Foundation for real deployment</a:t>
            </a:r>
            <a:endParaRPr lang="en-US" sz="1900" dirty="0"/>
          </a:p>
        </p:txBody>
      </p:sp>
      <p:sp>
        <p:nvSpPr>
          <p:cNvPr id="14" name="Text 9"/>
          <p:cNvSpPr txBox="1"/>
          <p:nvPr/>
        </p:nvSpPr>
        <p:spPr>
          <a:xfrm>
            <a:off x="1645920" y="5001768"/>
            <a:ext cx="5120640" cy="777240"/>
          </a:xfrm>
          <a:prstGeom prst="rect">
            <a:avLst/>
          </a:prstGeom>
          <a:noFill/>
        </p:spPr>
        <p:txBody>
          <a:bodyPr wrap="square" lIns="0" tIns="0" rIns="0" bIns="0" rtlCol="0" anchor="t"/>
          <a:lstStyle/>
          <a:p>
            <a:pPr marL="0" indent="0">
              <a:buNone/>
            </a:pPr>
            <a:r>
              <a:rPr lang="en-US" sz="1400" dirty="0">
                <a:solidFill>
                  <a:srgbClr val="CDE8DF"/>
                </a:solidFill>
                <a:latin typeface="Calibri" panose="020F0502020204030204" pitchFamily="34" charset="0"/>
                <a:ea typeface="Calibri" panose="020F0502020204030204" pitchFamily="34" charset="-122"/>
                <a:cs typeface="Calibri" panose="020F0502020204030204" pitchFamily="34" charset="-120"/>
              </a:rPr>
              <a:t>Improving perception accuracy and actuator coordination is the path to hardware.</a:t>
            </a:r>
            <a:endParaRPr lang="en-US" sz="1400" dirty="0"/>
          </a:p>
        </p:txBody>
      </p:sp>
      <p:sp>
        <p:nvSpPr>
          <p:cNvPr id="15" name="Shape 10"/>
          <p:cNvSpPr/>
          <p:nvPr/>
        </p:nvSpPr>
        <p:spPr>
          <a:xfrm>
            <a:off x="7315200" y="1371600"/>
            <a:ext cx="4297680" cy="292608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3000"/>
              </a:srgbClr>
            </a:outerShdw>
          </a:effectLst>
        </p:spPr>
      </p:sp>
      <p:pic>
        <p:nvPicPr>
          <p:cNvPr id="16" name="Image 3" descr="robot.png"/>
          <p:cNvPicPr>
            <a:picLocks noChangeAspect="1"/>
          </p:cNvPicPr>
          <p:nvPr/>
        </p:nvPicPr>
        <p:blipFill>
          <a:blip r:embed="rId4"/>
          <a:stretch>
            <a:fillRect/>
          </a:stretch>
        </p:blipFill>
        <p:spPr>
          <a:xfrm>
            <a:off x="7424928" y="1733851"/>
            <a:ext cx="4078224" cy="2201578"/>
          </a:xfrm>
          <a:prstGeom prst="rect">
            <a:avLst/>
          </a:prstGeom>
        </p:spPr>
      </p:pic>
      <p:sp>
        <p:nvSpPr>
          <p:cNvPr id="17" name="Text 11"/>
          <p:cNvSpPr txBox="1"/>
          <p:nvPr/>
        </p:nvSpPr>
        <p:spPr>
          <a:xfrm>
            <a:off x="7315200" y="4617720"/>
            <a:ext cx="4297680" cy="457200"/>
          </a:xfrm>
          <a:prstGeom prst="rect">
            <a:avLst/>
          </a:prstGeom>
          <a:noFill/>
        </p:spPr>
        <p:txBody>
          <a:bodyPr wrap="square" lIns="0" tIns="0" rIns="0" bIns="0" rtlCol="0" anchor="ctr"/>
          <a:lstStyle/>
          <a:p>
            <a:pPr marL="0" indent="0" algn="ctr">
              <a:buNone/>
            </a:pPr>
            <a:r>
              <a:rPr lang="en-US" sz="1800" i="1" dirty="0">
                <a:solidFill>
                  <a:srgbClr val="F2A93B"/>
                </a:solidFill>
                <a:latin typeface="Cambria" panose="02040503050406030204" pitchFamily="34" charset="0"/>
                <a:ea typeface="Cambria" panose="02040503050406030204" pitchFamily="34" charset="-122"/>
                <a:cs typeface="Cambria" panose="02040503050406030204" pitchFamily="34" charset="-120"/>
              </a:rPr>
              <a:t>Simulation today, physical robot next.</a:t>
            </a:r>
            <a:endParaRPr lang="en-US" sz="1800" dirty="0"/>
          </a:p>
        </p:txBody>
      </p:sp>
      <p:sp>
        <p:nvSpPr>
          <p:cNvPr id="18" name="Text 12"/>
          <p:cNvSpPr txBox="1"/>
          <p:nvPr/>
        </p:nvSpPr>
        <p:spPr>
          <a:xfrm>
            <a:off x="7315200" y="5120640"/>
            <a:ext cx="4297680" cy="731520"/>
          </a:xfrm>
          <a:prstGeom prst="rect">
            <a:avLst/>
          </a:prstGeom>
          <a:noFill/>
        </p:spPr>
        <p:txBody>
          <a:bodyPr wrap="square" lIns="0" tIns="0" rIns="0" bIns="0" rtlCol="0" anchor="t"/>
          <a:lstStyle/>
          <a:p>
            <a:pPr marL="0" indent="0" algn="ctr">
              <a:buNone/>
            </a:pPr>
            <a:r>
              <a:rPr lang="en-US" sz="1300" dirty="0">
                <a:solidFill>
                  <a:srgbClr val="CDE8DF"/>
                </a:solidFill>
                <a:latin typeface="Calibri" panose="020F0502020204030204" pitchFamily="34" charset="0"/>
                <a:ea typeface="Calibri" panose="020F0502020204030204" pitchFamily="34" charset="-122"/>
                <a:cs typeface="Calibri" panose="020F0502020204030204" pitchFamily="34" charset="-120"/>
              </a:rPr>
              <a:t>Future work: deep learning detection · SLAM · grasp planning · hardware validation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8F6"/>
        </a:solidFill>
        <a:effectLst/>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p:spPr>
        <p:txBody>
          <a:bodyPr wrap="square" lIns="0" tIns="0" rIns="0" bIns="0" rtlCol="0" anchor="ctr"/>
          <a:lstStyle/>
          <a:p>
            <a:pPr marL="0" indent="0">
              <a:buNone/>
            </a:pPr>
            <a:r>
              <a:rPr lang="en-US" sz="1200" b="1" kern="0" spc="300" dirty="0">
                <a:solidFill>
                  <a:srgbClr val="14776B"/>
                </a:solidFill>
                <a:latin typeface="Calibri" panose="020F0502020204030204" pitchFamily="34" charset="0"/>
                <a:ea typeface="Calibri" panose="020F0502020204030204" pitchFamily="34" charset="-122"/>
                <a:cs typeface="Calibri" panose="020F0502020204030204" pitchFamily="34" charset="-120"/>
              </a:rPr>
              <a:t>REFERENCES</a:t>
            </a:r>
            <a:endParaRPr lang="en-US" sz="1200" dirty="0"/>
          </a:p>
        </p:txBody>
      </p:sp>
      <p:sp>
        <p:nvSpPr>
          <p:cNvPr id="3" name="Text 1"/>
          <p:cNvSpPr txBox="1"/>
          <p:nvPr/>
        </p:nvSpPr>
        <p:spPr>
          <a:xfrm>
            <a:off x="548640" y="621792"/>
            <a:ext cx="11064240" cy="685800"/>
          </a:xfrm>
          <a:prstGeom prst="rect">
            <a:avLst/>
          </a:prstGeom>
          <a:noFill/>
        </p:spPr>
        <p:txBody>
          <a:bodyPr wrap="square" lIns="0" tIns="0" rIns="0" bIns="0" rtlCol="0" anchor="t"/>
          <a:lstStyle/>
          <a:p>
            <a:pPr marL="0" indent="0">
              <a:buNone/>
            </a:pPr>
            <a:r>
              <a:rPr lang="en-US" sz="3200" b="1" dirty="0">
                <a:solidFill>
                  <a:srgbClr val="0B2E2B"/>
                </a:solidFill>
                <a:latin typeface="Cambria" panose="02040503050406030204" pitchFamily="34" charset="0"/>
                <a:ea typeface="Cambria" panose="02040503050406030204" pitchFamily="34" charset="-122"/>
                <a:cs typeface="Cambria" panose="02040503050406030204" pitchFamily="34" charset="-120"/>
              </a:rPr>
              <a:t>Key References</a:t>
            </a:r>
            <a:endParaRPr lang="en-US" sz="3200" dirty="0"/>
          </a:p>
        </p:txBody>
      </p:sp>
      <p:sp>
        <p:nvSpPr>
          <p:cNvPr id="4" name="Text 2"/>
          <p:cNvSpPr txBox="1"/>
          <p:nvPr/>
        </p:nvSpPr>
        <p:spPr>
          <a:xfrm>
            <a:off x="548640" y="6473952"/>
            <a:ext cx="7315200" cy="228600"/>
          </a:xfrm>
          <a:prstGeom prst="rect">
            <a:avLst/>
          </a:prstGeom>
          <a:noFill/>
        </p:spPr>
        <p:txBody>
          <a:bodyPr wrap="square" lIns="0" tIns="0" rIns="0" bIns="0" rtlCol="0" anchor="ctr"/>
          <a:lstStyle/>
          <a:p>
            <a:pPr marL="0" indent="0">
              <a:buNone/>
            </a:pPr>
            <a:r>
              <a:rPr lang="en-US" sz="900" dirty="0">
                <a:solidFill>
                  <a:srgbClr val="5A6E6A"/>
                </a:solidFill>
                <a:latin typeface="Calibri" panose="020F0502020204030204" pitchFamily="34" charset="0"/>
                <a:ea typeface="Calibri" panose="020F0502020204030204" pitchFamily="34" charset="-122"/>
                <a:cs typeface="Calibri" panose="020F0502020204030204" pitchFamily="34" charset="-120"/>
              </a:rPr>
              <a:t>ROS 2-Based Autonomous Trash Collecting Robot</a:t>
            </a:r>
            <a:endParaRPr lang="en-US" sz="900" dirty="0"/>
          </a:p>
        </p:txBody>
      </p:sp>
      <p:sp>
        <p:nvSpPr>
          <p:cNvPr id="5" name="Text 3"/>
          <p:cNvSpPr txBox="1"/>
          <p:nvPr/>
        </p:nvSpPr>
        <p:spPr>
          <a:xfrm>
            <a:off x="548640" y="1463040"/>
            <a:ext cx="5440680" cy="4846320"/>
          </a:xfrm>
          <a:prstGeom prst="rect">
            <a:avLst/>
          </a:prstGeom>
          <a:noFill/>
        </p:spPr>
        <p:txBody>
          <a:bodyPr wrap="square" lIns="0" tIns="0" rIns="0" bIns="0" rtlCol="0" anchor="t"/>
          <a:lstStyle/>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[1]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M. M. Islam et al., “Smart waste management robot: Integrating IoT, AI, SLAM, and CNN-based advanced image processing for real-time trash collection and categorization,” Proc. ICCIT, Cox’s Bazar, 2024.</a:t>
            </a:r>
            <a:endParaRPr lang="en-US" sz="1200" dirty="0"/>
          </a:p>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[2]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M. S. Hossen et al., “WasteSortBot: An innovative solution for multi-categorical waste separator bin using vision-based control with ROS and cloud computing,” IEEE Access, vol. 13, pp. 183056–183074, 2025.</a:t>
            </a:r>
            <a:endParaRPr lang="en-US" sz="1200" dirty="0"/>
          </a:p>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[3]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A. Zaman et al., “SHIFT-T: A low-cost autonomous mobile robot for trash collection and sorting for effective waste management,” Proc. IEEE PEEIACON, 2024.</a:t>
            </a:r>
            <a:endParaRPr lang="en-US" sz="1200" dirty="0"/>
          </a:p>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[4]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W. Ma et al., “DSYOLO-trash: An attention mechanism-integrated and object tracking algorithm for solid waste detection,” Waste Management, vol. 178, pp. 46–56, 2024.</a:t>
            </a:r>
            <a:endParaRPr lang="en-US" sz="1200" dirty="0"/>
          </a:p>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[5]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Y. Ren et al., “An MRS-YOLO model for high-precision waste detection and classification,” Sensors, vol. 24, no. 13, p. 4339, 2024.</a:t>
            </a:r>
            <a:endParaRPr lang="en-US" sz="1200" dirty="0"/>
          </a:p>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[6]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G. Sun and F. Zhang, “DRSE-YOLO: Efficient and lightweight architecture for accurate waste detection,” IET Image Processing, vol. 19, e70022, 2025.</a:t>
            </a:r>
            <a:endParaRPr lang="en-US" sz="1200" dirty="0"/>
          </a:p>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[7]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N. Khamis et al., “Development and evaluation of a YOLOv8n-based trash detection system for smart waste management,” Proc. IEEE ICSIMA, 2025, pp. 322–327.</a:t>
            </a:r>
            <a:endParaRPr lang="en-US" sz="1200" dirty="0"/>
          </a:p>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[8]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A. R. Chaidir et al., “Integrasi robot lengan beroda holonomic dan pengindraan visual menggunakan YOLOv5 untuk pemilah sampah,” IJEIS, vol. 15, no. 1, pp. 13–24, 2025.</a:t>
            </a:r>
            <a:endParaRPr lang="en-US" sz="1200" dirty="0"/>
          </a:p>
        </p:txBody>
      </p:sp>
      <p:sp>
        <p:nvSpPr>
          <p:cNvPr id="6" name="Text 4"/>
          <p:cNvSpPr txBox="1"/>
          <p:nvPr/>
        </p:nvSpPr>
        <p:spPr>
          <a:xfrm>
            <a:off x="6217920" y="1463040"/>
            <a:ext cx="5440680" cy="4846320"/>
          </a:xfrm>
          <a:prstGeom prst="rect">
            <a:avLst/>
          </a:prstGeom>
          <a:noFill/>
        </p:spPr>
        <p:txBody>
          <a:bodyPr wrap="square" lIns="0" tIns="0" rIns="0" bIns="0" rtlCol="0" anchor="t"/>
          <a:lstStyle/>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[9]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S. S. Dube et al., “Autonomous litter collecting robot with integrated detection and sorting capabilities,” IJLTEMAS, vol. 14, no. 8, pp. 79–85, 2025.</a:t>
            </a:r>
            <a:endParaRPr lang="en-US" sz="1200" dirty="0"/>
          </a:p>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[10]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H. Zhou et al., “HGCS-Det: A deep learning-based solution for localizing and recognizing household garbage in complex scenarios,” Sensors, vol. 25, no. 12, p. 3726, 2025.</a:t>
            </a:r>
            <a:endParaRPr lang="en-US" sz="1200" dirty="0"/>
          </a:p>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[11]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F. Hu et al., “Scene-guided YOLO framework with contextual feature fusion for solid waste detection in diverse real-world environments,” Discover Artificial Intelligence, vol. 6, p. 1123, 2026.</a:t>
            </a:r>
            <a:endParaRPr lang="en-US" sz="1200" dirty="0"/>
          </a:p>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[12]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K. Subhashini et al., “Autonomous floating debris collection system for water surface cleaning,” Proc. IC3IoT, 2024.</a:t>
            </a:r>
            <a:endParaRPr lang="en-US" sz="1200" dirty="0"/>
          </a:p>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[13]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A. H. Rad et al., “Design of a container mechanism for trash collection on quadruped robots,” Proc. IEEE/ASME MESA, Genoa, 2024.</a:t>
            </a:r>
            <a:endParaRPr lang="en-US" sz="1200" dirty="0"/>
          </a:p>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[14]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S. Maruoka et al., “Study of remote system for autonomous mobile garbage collection robot: remote door operation by robotic arm,” Robotics and Mechatronics Conf., 2025.</a:t>
            </a:r>
            <a:endParaRPr lang="en-US" sz="1200" dirty="0"/>
          </a:p>
          <a:p>
            <a:pPr marL="0" indent="0">
              <a:spcAft>
                <a:spcPts val="700"/>
              </a:spcAft>
              <a:buNone/>
            </a:pPr>
            <a:r>
              <a:rPr lang="en-US" sz="1200" b="1" dirty="0">
                <a:solidFill>
                  <a:srgbClr val="14776B"/>
                </a:solidFill>
                <a:latin typeface="Calibri" panose="020F0502020204030204" pitchFamily="34" charset="0"/>
                <a:ea typeface="Calibri" panose="020F0502020204030204" pitchFamily="34" charset="-122"/>
                <a:cs typeface="Calibri" panose="020F0502020204030204" pitchFamily="34" charset="-120"/>
              </a:rPr>
              <a:t>[15] </a:t>
            </a:r>
            <a:r>
              <a:rPr lang="en-US" sz="1200" dirty="0">
                <a:solidFill>
                  <a:srgbClr val="1E2B2A"/>
                </a:solidFill>
                <a:latin typeface="Calibri" panose="020F0502020204030204" pitchFamily="34" charset="0"/>
                <a:ea typeface="Calibri" panose="020F0502020204030204" pitchFamily="34" charset="-122"/>
                <a:cs typeface="Calibri" panose="020F0502020204030204" pitchFamily="34" charset="-120"/>
              </a:rPr>
              <a:t>Y. Xia et al., “Design and implementation of an intelligent mobile waste classification and collection robot system,” SAE Int., Tech. Rep. 2026-99-0702, 2026.</a:t>
            </a:r>
            <a:endParaRPr lang="en-US" sz="1200" dirty="0"/>
          </a:p>
        </p:txBody>
      </p:sp>
      <p:sp>
        <p:nvSpPr>
          <p:cNvPr id="25" name="Slide Number Placeholder 0"/>
          <p:cNvSpPr>
            <a:spLocks noGrp="1"/>
          </p:cNvSpPr>
          <p:nvPr>
            <p:ph type="sldNum" sz="quarter" idx="4294967295"/>
          </p:nvPr>
        </p:nvSpPr>
        <p:spPr>
          <a:xfrm>
            <a:off x="11183112" y="6473952"/>
            <a:ext cx="457200" cy="228600"/>
          </a:xfrm>
          <a:prstGeom prst="rect">
            <a:avLst/>
          </a:prstGeom>
        </p:spPr>
        <p:txBody>
          <a:bodyPr/>
          <a:lstStyle>
            <a:lvl1pPr>
              <a:defRPr sz="900">
                <a:solidFill>
                  <a:srgbClr val="5A6E6A"/>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2E2B"/>
        </a:solidFill>
        <a:effectLst/>
      </p:bgPr>
    </p:bg>
    <p:spTree>
      <p:nvGrpSpPr>
        <p:cNvPr id="1" name=""/>
        <p:cNvGrpSpPr/>
        <p:nvPr/>
      </p:nvGrpSpPr>
      <p:grpSpPr>
        <a:xfrm>
          <a:off x="0" y="0"/>
          <a:ext cx="0" cy="0"/>
          <a:chOff x="0" y="0"/>
          <a:chExt cx="0" cy="0"/>
        </a:xfrm>
      </p:grpSpPr>
      <p:sp>
        <p:nvSpPr>
          <p:cNvPr id="2" name="Text 0"/>
          <p:cNvSpPr txBox="1"/>
          <p:nvPr/>
        </p:nvSpPr>
        <p:spPr>
          <a:xfrm>
            <a:off x="3337560" y="2251710"/>
            <a:ext cx="5943600" cy="1097280"/>
          </a:xfrm>
          <a:prstGeom prst="rect">
            <a:avLst/>
          </a:prstGeom>
          <a:noFill/>
        </p:spPr>
        <p:txBody>
          <a:bodyPr wrap="square" lIns="0" tIns="0" rIns="0" bIns="0" rtlCol="0" anchor="ctr"/>
          <a:lstStyle/>
          <a:p>
            <a:pPr marL="0" indent="0">
              <a:buNone/>
            </a:pPr>
            <a:r>
              <a:rPr lang="en-US" sz="56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5600" dirty="0"/>
          </a:p>
        </p:txBody>
      </p:sp>
      <p:sp>
        <p:nvSpPr>
          <p:cNvPr id="3" name="Text 1"/>
          <p:cNvSpPr txBox="1"/>
          <p:nvPr/>
        </p:nvSpPr>
        <p:spPr>
          <a:xfrm>
            <a:off x="3827145" y="3566160"/>
            <a:ext cx="5943600" cy="548640"/>
          </a:xfrm>
          <a:prstGeom prst="rect">
            <a:avLst/>
          </a:prstGeom>
          <a:noFill/>
        </p:spPr>
        <p:txBody>
          <a:bodyPr wrap="square" lIns="0" tIns="0" rIns="0" bIns="0" rtlCol="0" anchor="ctr"/>
          <a:lstStyle/>
          <a:p>
            <a:pPr marL="0" indent="0">
              <a:buNone/>
            </a:pPr>
            <a:r>
              <a:rPr lang="en-US" sz="2200" dirty="0">
                <a:solidFill>
                  <a:srgbClr val="F2A93B"/>
                </a:solidFill>
                <a:latin typeface="Calibri" panose="020F0502020204030204" pitchFamily="34" charset="0"/>
                <a:ea typeface="Calibri" panose="020F0502020204030204" pitchFamily="34" charset="-122"/>
                <a:cs typeface="Calibri" panose="020F0502020204030204" pitchFamily="34" charset="-120"/>
              </a:rPr>
              <a:t>Questions and discussion</a:t>
            </a:r>
            <a:endParaRPr lang="en-US" sz="2200" dirty="0"/>
          </a:p>
        </p:txBody>
      </p:sp>
      <p:sp>
        <p:nvSpPr>
          <p:cNvPr id="4" name="Text 2"/>
          <p:cNvSpPr txBox="1"/>
          <p:nvPr/>
        </p:nvSpPr>
        <p:spPr>
          <a:xfrm>
            <a:off x="640080" y="4114800"/>
            <a:ext cx="5760720" cy="640080"/>
          </a:xfrm>
          <a:prstGeom prst="rect">
            <a:avLst/>
          </a:prstGeom>
          <a:noFill/>
        </p:spPr>
        <p:txBody>
          <a:bodyPr wrap="square" lIns="0" tIns="0" rIns="0" bIns="0" rtlCol="0" anchor="t"/>
          <a:lstStyle/>
          <a:p>
            <a:pPr marL="0" indent="0">
              <a:buNone/>
            </a:pPr>
            <a:endParaRPr lang="en-US" sz="1500" dirty="0"/>
          </a:p>
        </p:txBody>
      </p:sp>
      <p:sp>
        <p:nvSpPr>
          <p:cNvPr id="5" name="Text 3"/>
          <p:cNvSpPr txBox="1"/>
          <p:nvPr/>
        </p:nvSpPr>
        <p:spPr>
          <a:xfrm>
            <a:off x="640080" y="4846320"/>
            <a:ext cx="5760720" cy="640080"/>
          </a:xfrm>
          <a:prstGeom prst="rect">
            <a:avLst/>
          </a:prstGeom>
          <a:noFill/>
        </p:spPr>
        <p:txBody>
          <a:bodyPr wrap="square" lIns="0" tIns="0" rIns="0" bIns="0" rtlCol="0" anchor="t"/>
          <a:lstStyle/>
          <a:p>
            <a:pPr marL="0" indent="0">
              <a:buNone/>
            </a:pPr>
            <a:endParaRPr lang="en-US" sz="1300" dirty="0"/>
          </a:p>
        </p:txBody>
      </p:sp>
    </p:spTree>
  </p:cSld>
  <p:clrMapOvr>
    <a:masterClrMapping/>
  </p:clrMapOvr>
</p:sld>
</file>

<file path=ppt/tags/tag1.xml><?xml version="1.0" encoding="utf-8"?>
<p:tagLst xmlns:p="http://schemas.openxmlformats.org/presentationml/2006/main">
  <p:tag name="KSO_WM_MEDIACOVER_FLAG" val="1"/>
  <p:tag name="KSO_WM_UNIT_MEDIACOVER_BTN_STATE" val="1"/>
  <p:tag name="KSO_WM_UNIT_MEDIACOVER_BTNRECT" val="0*0*0*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13495</Words>
  <Application>WPS Presentation</Application>
  <PresentationFormat>On-screen Show (16:9)</PresentationFormat>
  <Paragraphs>835</Paragraphs>
  <Slides>23</Slides>
  <Notes>22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23</vt:i4>
      </vt:variant>
    </vt:vector>
  </HeadingPairs>
  <TitlesOfParts>
    <vt:vector size="39" baseType="lpstr">
      <vt:lpstr>Arial</vt:lpstr>
      <vt:lpstr>SimSun</vt:lpstr>
      <vt:lpstr>Wingdings</vt:lpstr>
      <vt:lpstr>Calibri</vt:lpstr>
      <vt:lpstr>Cambria</vt:lpstr>
      <vt:lpstr>Cambria</vt:lpstr>
      <vt:lpstr>Cambria</vt:lpstr>
      <vt:lpstr>Calibri</vt:lpstr>
      <vt:lpstr>Calibri</vt:lpstr>
      <vt:lpstr>Calibri</vt:lpstr>
      <vt:lpstr>Microsoft YaHei</vt:lpstr>
      <vt:lpstr>Arial Unicode MS</vt:lpstr>
      <vt:lpstr>Courier New</vt:lpstr>
      <vt:lpstr>Courier New</vt:lpstr>
      <vt:lpstr>Courier New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 2-Based Autonomous Trash Collecting Robot</dc:title>
  <dc:creator>Akhi, Ayesha, Akter</dc:creator>
  <dc:subject>PptxGenJS Presentation</dc:subject>
  <cp:lastModifiedBy>HP</cp:lastModifiedBy>
  <cp:revision>4</cp:revision>
  <dcterms:created xsi:type="dcterms:W3CDTF">2026-09-19T00:03:00Z</dcterms:created>
  <dcterms:modified xsi:type="dcterms:W3CDTF">2026-09-19T20:05:05Z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A0DA3149A8634DAFB3E4B73EF54B1967_13</vt:lpwstr>
  </property>
</Properties>
</file>