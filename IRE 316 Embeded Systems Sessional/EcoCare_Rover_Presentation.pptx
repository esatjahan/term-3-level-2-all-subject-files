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92640" y="-822960"/>
            <a:ext cx="3840480" cy="3840480"/>
          </a:xfrm>
          <a:prstGeom prst="ellipse">
            <a:avLst/>
          </a:prstGeom>
          <a:solidFill>
            <a:srgbClr val="00A896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28090">
              <a:alpha val="3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IoT-ENABLED HEALTHCARE ROBOTICS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EcoCare Rover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9692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Low-Cost IoT-Enabled Indoor Healthcare Assistance Rover with Remote Monitoring and Zone-Based Delivery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44348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Mst. Esat Jahan Akhi  •  Jannatul Ferdusi Ayesha  •  Most. Sukria Akter  </a:t>
            </a:r>
            <a:endParaRPr 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To</a:t>
            </a:r>
            <a:endParaRPr 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Sadia Enam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956048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Internet of Things and Robotics Engineering (IRE), University of Frontier Technology, Bangladesh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5" name="Text 3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Rising Care Burden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46504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Routine transport of medicine, samples, water and supplies consumes staff time needed for direct patient care.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9" name="Text 7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Growing Role of AMRs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16936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mobile robots, nursing robots and assistive service robots are emerging solutions for hospital logistics and elderly care.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3" name="Text 11"/>
          <p:cNvSpPr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234440" y="373075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 Cost &amp;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87368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existing platforms rely on ROS frameworks, complex localization and costly sensors — limiting adoption in small clinics.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7" name="Text 15"/>
          <p:cNvSpPr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234440" y="4901184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Need for a Low-Cost IoT Solution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25780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affordable, embedded, cloud-connected rover can bring assistive delivery to resource-limited healthcare settings.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Introduction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Related Work &amp; Research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1EF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Prior Work Shows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Suharjono et al. — low-cost ESP32 nursing robot with ROS-based telemedicine, but high software complexity.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Wang et al. — reviewed AMRs in healthcare; highlighted cost and localization challenges.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Schmidt et al. — analyzed hospital-level robotic assistance, safety and integration barriers.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07393C"/>
          </a:solidFill>
        </p:spPr>
      </p:sp>
      <p:sp>
        <p:nvSpPr>
          <p:cNvPr id="8" name="Text 6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Gap EcoCare Rover Fills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92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manual smartphone control AND autonomous zone-based delivery in one platform.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Avoids ROS / heavy localization — lightweight ESP32-only embedded control.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Integrates obstacle detection, environmental monitoring and cloud supervision together.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specifically for low-cost deployment in small clinics and elderly-care settings.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Related 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is an ESP32-based, IoT-enabled autonomous indoor delivery rover built to support hospitals, elderly-care centers and smart indoor healthcare environments.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AFA"/>
          </a:solidFill>
        </p:spPr>
      </p:sp>
      <p:sp>
        <p:nvSpPr>
          <p:cNvPr id="6" name="Shape 4"/>
          <p:cNvSpPr/>
          <p:nvPr/>
        </p:nvSpPr>
        <p:spPr>
          <a:xfrm>
            <a:off x="1577340" y="26517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Text 5"/>
          <p:cNvSpPr/>
          <p:nvPr/>
        </p:nvSpPr>
        <p:spPr>
          <a:xfrm>
            <a:off x="1577340" y="2651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240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Low-Cost Embedded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2240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Sensing, control and IoT communication integrated on a single affordable ESP32 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AFA"/>
          </a:solidFill>
        </p:spPr>
      </p:sp>
      <p:sp>
        <p:nvSpPr>
          <p:cNvPr id="11" name="Shape 9"/>
          <p:cNvSpPr/>
          <p:nvPr/>
        </p:nvSpPr>
        <p:spPr>
          <a:xfrm>
            <a:off x="4411980" y="26517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4411980" y="2651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2240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Dual Operating Modes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4160520"/>
            <a:ext cx="2240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Blynk-based manual control and autonomous zone-based delivery in one system.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AFA"/>
          </a:solidFill>
        </p:spPr>
      </p:sp>
      <p:sp>
        <p:nvSpPr>
          <p:cNvPr id="16" name="Shape 14"/>
          <p:cNvSpPr/>
          <p:nvPr/>
        </p:nvSpPr>
        <p:spPr>
          <a:xfrm>
            <a:off x="7246620" y="26517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7246620" y="2651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2240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Obstacle &amp; Environment Aware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160520"/>
            <a:ext cx="2240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HC-SR04 obstacle detection and DHT22 environmental monitoring with buzzer alerts.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AFA"/>
          </a:solidFill>
        </p:spPr>
      </p:sp>
      <p:sp>
        <p:nvSpPr>
          <p:cNvPr id="21" name="Shape 19"/>
          <p:cNvSpPr/>
          <p:nvPr/>
        </p:nvSpPr>
        <p:spPr>
          <a:xfrm>
            <a:off x="10081260" y="265176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10081260" y="2651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9235440" y="3429000"/>
            <a:ext cx="2240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Synchronization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4160520"/>
            <a:ext cx="2240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and historical data visualization via the ThingSpeak IoT platform.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Proposed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THREE-LAYER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1 — Sensing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039112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(temperature &amp; humidity), HC-SR04 ultrasonic (obstacle detection), SG90 servo (sensor scanning).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F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54680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2 — Control &amp; Decision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639312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 microcontroller runs the decision engine: manual mode vs. autonomous zone-based delivery.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F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Text 14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3 — IoT Cloud &amp; UI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239512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Blynk app for control &amp; monitoring; ThingSpeak for cloud data logging and visualization.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349240" y="1417320"/>
            <a:ext cx="6263640" cy="4251960"/>
          </a:xfrm>
          <a:prstGeom prst="roundRect">
            <a:avLst>
              <a:gd name="adj" fmla="val 1720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49240" y="3223260"/>
            <a:ext cx="6263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Fig. 1 — System Architecture Diagram Here 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5742432"/>
            <a:ext cx="62636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1.  </a:t>
            </a:r>
            <a:r>
              <a:rPr lang="en-US" sz="10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of the proposed EcoCare Rover illustrating sensing, decision-making, IoT communication, and robotic actuation layers.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System Architecture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9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0" y="1504315"/>
            <a:ext cx="6103620" cy="4133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TABLE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Components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463040"/>
          <a:ext cx="7406640" cy="429768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ESP32 Development Board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Controller and Wi-Fi Communication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HC-SR04 Ultrasonic Sensor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Obstacle Detection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DHT22 Sensor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Temperature and Humidity Monitoring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SG90 Servo Motor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Ultrasonic Sensor Rotation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L298N Motor Driver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DC Motor Control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DC Gear Motors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Rover Locomotion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Buzzer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Obstacle Alert Notification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Li-ion Battery Pack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Power Supply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Robot Chassis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Mechanical Platform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8229600" y="2514600"/>
            <a:ext cx="3429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Rover Photo Here ]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8229600" y="4279392"/>
            <a:ext cx="3429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5.  </a:t>
            </a:r>
            <a:r>
              <a:rPr lang="en-US" sz="10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prototype hardware assembly.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Hardware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522095"/>
            <a:ext cx="2202180" cy="2624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TABLE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Estimated Prototype Cost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417320"/>
          <a:ext cx="6583680" cy="425196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Estimated Cost (BDT)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ESP32 Development Board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HC-SR04 Ultrasonic Sensor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DHT22 Sensor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SG90 Servo Motor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L298N Motor Driver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DC Gear Motors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Robot Chassis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Battery Pack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Miscellaneous Components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07393C"/>
          </a:solidFill>
        </p:spPr>
      </p:sp>
      <p:sp>
        <p:nvSpPr>
          <p:cNvPr id="6" name="Text 3"/>
          <p:cNvSpPr/>
          <p:nvPr/>
        </p:nvSpPr>
        <p:spPr>
          <a:xfrm>
            <a:off x="7452360" y="178308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ESTIMATED COST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52360" y="2148840"/>
            <a:ext cx="4160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৳ 5,650</a:t>
            </a:r>
            <a:endParaRPr lang="en-US" sz="4600" dirty="0"/>
          </a:p>
        </p:txBody>
      </p:sp>
      <p:sp>
        <p:nvSpPr>
          <p:cNvPr id="4" name="Text 5"/>
          <p:cNvSpPr/>
          <p:nvPr/>
        </p:nvSpPr>
        <p:spPr>
          <a:xfrm>
            <a:off x="7452360" y="288036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BDT (~ USD 46)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52360" y="3611880"/>
            <a:ext cx="41605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Prices reflect local Bangladeshi market rates and may vary with supplier, availability, and exchange rate fluctuations.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Cost Estimation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OPERATIONAL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Software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4251960"/>
          </a:xfrm>
          <a:prstGeom prst="roundRect">
            <a:avLst>
              <a:gd name="adj" fmla="val 1720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223260"/>
            <a:ext cx="6035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Fig. 2 — Software Workflow Diagram Here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742432"/>
            <a:ext cx="60350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2.  </a:t>
            </a:r>
            <a:r>
              <a:rPr lang="en-US" sz="10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workflow of EcoCare Rover showing initialization, dual-mode control, obstacle-aware navigation, and cloud synchronization.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1920240"/>
            <a:ext cx="480060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initialization — configure sensors, motor driver, Wi-Fi, Blynk and ThingSpeak.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processing of sensor data, user commands and rover status.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mode — movement commands from Blynk app control rover motion.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mode — selected delivery zone triggers a navigation sequence with obstacle monitoring.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and delivery data periodically uploaded to ThingSpeak cloud.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Software Workflow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9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20" y="1559560"/>
            <a:ext cx="4410710" cy="386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BLYNK &amp; THINGSPEAK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IoT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ESP32 acts as the IoT gateway: Blynk provides the human–machine interface for control and monitoring, while ThingSpeak logs and visualizes environmental and operational data over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3497580"/>
            <a:ext cx="5212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696712"/>
            <a:ext cx="5212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3.  </a:t>
            </a:r>
            <a:r>
              <a:rPr lang="en-US" sz="10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Blynk-based user interface for rover control, destination selection, and real-time system monitoring.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309360" y="3497580"/>
            <a:ext cx="5212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Fig. 4 — ThingSpeak Dashboard Screenshot Here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5696712"/>
            <a:ext cx="5212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4.  </a:t>
            </a:r>
            <a:r>
              <a:rPr lang="en-US" sz="10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ThingSpeak cloud dashboard showing real-time environmental monitoring and operational status visualization.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IoT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165" y="2115185"/>
            <a:ext cx="2238375" cy="3340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405" y="2131060"/>
            <a:ext cx="4404360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TABLE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Experimental Setup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17320"/>
          <a:ext cx="6035040" cy="4343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Specification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Programming IDE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Arduino IDE 2.x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Programming Language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C++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Platform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ThingSpeak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Mobile Platform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Blynk IoT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Communication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Wi-Fi (802.11 b/g/n)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Power Supply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7.4 V Li-ion Battery Pack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Obstacle Threshold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 cm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ThingSpeak Update Interval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 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Sensor Sampling Interval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 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Operating Modes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and Autonomous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Delivery Zones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Bed, Medicine, Water Station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417320"/>
            <a:ext cx="4709160" cy="3657600"/>
          </a:xfrm>
          <a:prstGeom prst="roundRect">
            <a:avLst>
              <a:gd name="adj" fmla="val 2000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6903720" y="2926080"/>
            <a:ext cx="4709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5148072"/>
            <a:ext cx="47091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5.  </a:t>
            </a:r>
            <a:r>
              <a:rPr lang="en-US" sz="10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EcoCare Rover prototype integrating the ESP32 controller, ultrasonic obstacle detection module, motor drive system, and healthcare delivery platform.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Experimental Setup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6395" y="1471930"/>
            <a:ext cx="2543810" cy="3392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TABLE 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C4A4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2316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1874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Delivery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 (30 trials)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210312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C4A4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42316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98.2%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80360" y="3337560"/>
            <a:ext cx="1874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(50 tests)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10312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C4A4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42316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17.6 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0" y="3337560"/>
            <a:ext cx="1874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210312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C4A4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42316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138 ms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60920" y="3337560"/>
            <a:ext cx="1874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Wi-Fi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0" y="210312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C4A4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42316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01200" y="3337560"/>
            <a:ext cx="1874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ThingSpeak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Success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108813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control via Blynk responded reliably across forward, backward, left, right and stop commands. Autonomous zone-based delivery succeeded across bed, medicine and water-station destinations, with the ultrasonic sensor halting the rover and triggering the buzzer on obstacle detection.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Results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LIVE OPERATION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Video 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508760"/>
            <a:ext cx="8869680" cy="4434840"/>
          </a:xfrm>
          <a:prstGeom prst="roundRect">
            <a:avLst>
              <a:gd name="adj" fmla="val 2062"/>
            </a:avLst>
          </a:prstGeom>
          <a:solidFill>
            <a:srgbClr val="EAF6F6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577840" y="290322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Shape 4"/>
          <p:cNvSpPr/>
          <p:nvPr/>
        </p:nvSpPr>
        <p:spPr>
          <a:xfrm rot="5400000">
            <a:off x="5879592" y="3150108"/>
            <a:ext cx="457200" cy="512064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45920" y="4183380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4594860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 or link the EcoCare Rover operation video (manual control + autonomous zone-based delivery) in this space.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6080760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39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shows: </a:t>
            </a:r>
            <a:r>
              <a:rPr lang="en-US" sz="115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Blynk manual navigation  •  Autonomous zone-based delivery  •  Obstacle detection &amp; buzzer alert  •  Live ThingSpeak data sync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Video Demonstration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900" dirty="0"/>
          </a:p>
        </p:txBody>
      </p:sp>
      <p:pic>
        <p:nvPicPr>
          <p:cNvPr id="12" name="Ecocarre Rover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56665" y="1337945"/>
            <a:ext cx="9614535" cy="4605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COMPARATIVE ANALYSIS (2024–2025)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417320"/>
          <a:ext cx="11292840" cy="416052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914400"/>
                <a:gridCol w="960120"/>
                <a:gridCol w="914400"/>
                <a:gridCol w="1051560"/>
                <a:gridCol w="914400"/>
                <a:gridCol w="914400"/>
                <a:gridCol w="1051560"/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Study (Year)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ESP32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IoT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Obstacle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Env.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Cost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Suharjono et al. (2025)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Shin et al. (2025)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Wang et al. (2024)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Silvera-Tawil (2024)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Shaw et al. (2025)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×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E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Proposed EcoCare Rover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93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60720"/>
            <a:ext cx="11292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is the only reviewed system to combine ESP32-based low-cost hardware with full IoT connectivity, dual manual/autonomous control, obstacle detection, environmental monitoring and cloud supervision.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Literature Review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6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demonstrates a practical, low-cost approach to indoor healthcare delivery — integrating zone-based autonomous delivery, Blynk-based manual control, environmental monitoring, obstacle detection, and ThingSpeak cloud supervision on a single ESP32 embedded platform. Experimental results confirm reliable navigation, real-time obstacle detection, and successful cloud synchronization.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8" name="Text 6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051560" y="3657600"/>
            <a:ext cx="9875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localization and SLAM for flexible navigation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/>
          <p:nvPr/>
        </p:nvSpPr>
        <p:spPr>
          <a:xfrm>
            <a:off x="548640" y="42062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51560" y="4160520"/>
            <a:ext cx="9875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Adaptive, real-time path planning beyond fixed routes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4" name="Text 12"/>
          <p:cNvSpPr/>
          <p:nvPr/>
        </p:nvSpPr>
        <p:spPr>
          <a:xfrm>
            <a:off x="548640" y="47091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9875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Vision-based perception for richer environment awareness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7" name="Text 15"/>
          <p:cNvSpPr/>
          <p:nvPr/>
        </p:nvSpPr>
        <p:spPr>
          <a:xfrm>
            <a:off x="548640" y="52120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9875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decision-making for complex delivery scenarios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Conclusion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 LITERATURE REVIEW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9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75" dirty="0"/>
          </a:p>
        </p:txBody>
      </p:sp>
      <p:sp>
        <p:nvSpPr>
          <p:cNvPr id="6" name="Text 4"/>
          <p:cNvSpPr/>
          <p:nvPr/>
        </p:nvSpPr>
        <p:spPr>
          <a:xfrm>
            <a:off x="1143000" y="1435608"/>
            <a:ext cx="10424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D. Silvera-Tawil, “Robotics in healthcare: A survey,” SN Computer Science, vol. 5, no. 1, p. 189, 2024.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548640" y="235915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75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424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H. Shin, S. Kim, E. Jung, Y. Han, N. Lee, S. Park, C. Jeon, and J. Woo, “A comprehensive review of autonomous mobile robots in healthcare: Implications for patient-transporting human-following robots,” Robotics, vol. 14, no. 12, p. 179, 2025.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75" dirty="0"/>
          </a:p>
        </p:txBody>
      </p:sp>
      <p:sp>
        <p:nvSpPr>
          <p:cNvPr id="12" name="Text 10"/>
          <p:cNvSpPr/>
          <p:nvPr/>
        </p:nvSpPr>
        <p:spPr>
          <a:xfrm>
            <a:off x="1143000" y="3227832"/>
            <a:ext cx="10424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R. J. Shaw and B. Chen, “Physical artificial intelligence in nursing: Robotics,” Nursing Outlook, vol. 73, no. 5, p. 102495, 2025.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51376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548640" y="41513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75" dirty="0"/>
          </a:p>
        </p:txBody>
      </p:sp>
      <p:sp>
        <p:nvSpPr>
          <p:cNvPr id="15" name="Text 13"/>
          <p:cNvSpPr/>
          <p:nvPr/>
        </p:nvSpPr>
        <p:spPr>
          <a:xfrm>
            <a:off x="1143000" y="4123944"/>
            <a:ext cx="10424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 Wang et al., “Advancing healthcare through mobile collaboration: A survey of human–robot interaction and autonomous mobile robots,” Healthcare, vol. 12, no. 23, p. 2434, 2024.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548640" y="50474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75" dirty="0"/>
          </a:p>
        </p:txBody>
      </p:sp>
      <p:sp>
        <p:nvSpPr>
          <p:cNvPr id="18" name="Text 16"/>
          <p:cNvSpPr/>
          <p:nvPr/>
        </p:nvSpPr>
        <p:spPr>
          <a:xfrm>
            <a:off x="1143000" y="5020056"/>
            <a:ext cx="10424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A. Suharjono, R. Apriantoro, B. Supriyo, E. D. Wardihani, B. Yunanto, W. Hidayat, K. Prasetio, R. Reynaldi, and A. F. Aji, “A low-cost nursing robot with telemedicine using esp32 and robot operating system-based,” International Journal on Informatics Visualization, vol. 9, no. 1, pp. 541–552, 2025.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Referenced studies correspond to the five papers (2024–2025) compared against the proposed EcoCare Rover in the Literature Review slide.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EcoCare Rover — References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9166</Words>
  <Application>WPS Presentation</Application>
  <PresentationFormat>On-screen Show (16:9)</PresentationFormat>
  <Paragraphs>572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Esat Jahan Akhi</cp:lastModifiedBy>
  <cp:revision>2</cp:revision>
  <dcterms:created xsi:type="dcterms:W3CDTF">2026-08-22T20:15:00Z</dcterms:created>
  <dcterms:modified xsi:type="dcterms:W3CDTF">2026-08-22T21:02:27Z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8388C5855E6D4A1AA1B0A187843A00DD_13</vt:lpwstr>
  </property>
</Properties>
</file>